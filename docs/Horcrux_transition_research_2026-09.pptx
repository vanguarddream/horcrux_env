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2933"/>
                </a:solidFill>
                <a:ea typeface="Malgun Gothic"/>
              </a:rPr>
              <a:t>위험 3쌍 방향 오차 (°)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hard (k=0)</c:v>
                </c:pt>
              </c:strCache>
            </c:strRef>
          </c:tx>
          <c:spPr>
            <a:solidFill>
              <a:srgbClr val="D64550"/>
            </a:solidFill>
          </c:spPr>
          <c:cat>
            <c:strRef>
              <c:f>Sheet1!$A$2:$A$4</c:f>
              <c:strCache>
                <c:ptCount val="3"/>
                <c:pt idx="0">
                  <c:v>bl→right</c:v>
                </c:pt>
                <c:pt idx="1">
                  <c:v>bl→diag_fr</c:v>
                </c:pt>
                <c:pt idx="2">
                  <c:v>br→diag_fl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152.5</c:v>
                </c:pt>
                <c:pt idx="1">
                  <c:v>61.4</c:v>
                </c:pt>
                <c:pt idx="2">
                  <c:v>155.7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위상 정렬</c:v>
                </c:pt>
              </c:strCache>
            </c:strRef>
          </c:tx>
          <c:spPr>
            <a:solidFill>
              <a:srgbClr val="2EC4B6"/>
            </a:solidFill>
          </c:spPr>
          <c:cat>
            <c:strRef>
              <c:f>Sheet1!$A$2:$A$4</c:f>
              <c:strCache>
                <c:ptCount val="3"/>
                <c:pt idx="0">
                  <c:v>bl→right</c:v>
                </c:pt>
                <c:pt idx="1">
                  <c:v>bl→diag_fr</c:v>
                </c:pt>
                <c:pt idx="2">
                  <c:v>br→diag_fl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1.0</c:v>
                </c:pt>
                <c:pt idx="1">
                  <c:v>0.5</c:v>
                </c:pt>
                <c:pt idx="2">
                  <c:v>3.1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2933"/>
                </a:solidFill>
                <a:ea typeface="Malgun Gothic"/>
              </a:rPr>
              <a:t>경로별 CTE 평균 (m) — 낮을수록 좋음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hard</c:v>
                </c:pt>
              </c:strCache>
            </c:strRef>
          </c:tx>
          <c:spPr>
            <a:solidFill>
              <a:srgbClr val="D64550"/>
            </a:solidFill>
          </c:spPr>
          <c:cat>
            <c:strRef>
              <c:f>Sheet1!$A$2:$A$4</c:f>
              <c:strCache>
                <c:ptCount val="3"/>
                <c:pt idx="0">
                  <c:v>square</c:v>
                </c:pt>
                <c:pt idx="1">
                  <c:v>star</c:v>
                </c:pt>
                <c:pt idx="2">
                  <c:v>gauntlet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0.193</c:v>
                </c:pt>
                <c:pt idx="1">
                  <c:v>0.742</c:v>
                </c:pt>
                <c:pt idx="2">
                  <c:v>0.485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fade</c:v>
                </c:pt>
              </c:strCache>
            </c:strRef>
          </c:tx>
          <c:spPr>
            <a:solidFill>
              <a:srgbClr val="E9A23B"/>
            </a:solidFill>
          </c:spPr>
          <c:cat>
            <c:strRef>
              <c:f>Sheet1!$A$2:$A$4</c:f>
              <c:strCache>
                <c:ptCount val="3"/>
                <c:pt idx="0">
                  <c:v>square</c:v>
                </c:pt>
                <c:pt idx="1">
                  <c:v>star</c:v>
                </c:pt>
                <c:pt idx="2">
                  <c:v>gauntlet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0.193</c:v>
                </c:pt>
                <c:pt idx="1">
                  <c:v>0.497</c:v>
                </c:pt>
                <c:pt idx="2">
                  <c:v>0.301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align</c:v>
                </c:pt>
              </c:strCache>
            </c:strRef>
          </c:tx>
          <c:spPr>
            <a:solidFill>
              <a:srgbClr val="2EC4B6"/>
            </a:solidFill>
          </c:spPr>
          <c:cat>
            <c:strRef>
              <c:f>Sheet1!$A$2:$A$4</c:f>
              <c:strCache>
                <c:ptCount val="3"/>
                <c:pt idx="0">
                  <c:v>square</c:v>
                </c:pt>
                <c:pt idx="1">
                  <c:v>star</c:v>
                </c:pt>
                <c:pt idx="2">
                  <c:v>gauntlet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0.193</c:v>
                </c:pt>
                <c:pt idx="1">
                  <c:v>0.433</c:v>
                </c:pt>
                <c:pt idx="2">
                  <c:v>0.472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8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2933"/>
                </a:solidFill>
                <a:ea typeface="Malgun Gothic"/>
              </a:rPr>
              <a:t>경로 CTE (m): 하이브리드 효과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align (위험쌍만)</c:v>
                </c:pt>
              </c:strCache>
            </c:strRef>
          </c:tx>
          <c:spPr>
            <a:solidFill>
              <a:srgbClr val="0F2A44"/>
            </a:solidFill>
          </c:spPr>
          <c:cat>
            <c:strRef>
              <c:f>Sheet1!$A$2:$A$4</c:f>
              <c:strCache>
                <c:ptCount val="3"/>
                <c:pt idx="0">
                  <c:v>square</c:v>
                </c:pt>
                <c:pt idx="1">
                  <c:v>star</c:v>
                </c:pt>
                <c:pt idx="2">
                  <c:v>gauntlet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0.193</c:v>
                </c:pt>
                <c:pt idx="1">
                  <c:v>0.433</c:v>
                </c:pt>
                <c:pt idx="2">
                  <c:v>0.472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align + xfade (위험쌍만)</c:v>
                </c:pt>
              </c:strCache>
            </c:strRef>
          </c:tx>
          <c:spPr>
            <a:solidFill>
              <a:srgbClr val="2EC4B6"/>
            </a:solidFill>
          </c:spPr>
          <c:cat>
            <c:strRef>
              <c:f>Sheet1!$A$2:$A$4</c:f>
              <c:strCache>
                <c:ptCount val="3"/>
                <c:pt idx="0">
                  <c:v>square</c:v>
                </c:pt>
                <c:pt idx="1">
                  <c:v>star</c:v>
                </c:pt>
                <c:pt idx="2">
                  <c:v>gauntlet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0.193</c:v>
                </c:pt>
                <c:pt idx="1">
                  <c:v>0.334</c:v>
                </c:pt>
                <c:pt idx="2">
                  <c:v>0.345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75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2933"/>
                </a:solidFill>
                <a:ea typeface="Malgun Gothic"/>
              </a:rPr>
              <a:t>명령별 학생 리턴 / 전문가 리턴 (1.0 = 전문가 동급)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v1 결정론 롤아웃만</c:v>
                </c:pt>
              </c:strCache>
            </c:strRef>
          </c:tx>
          <c:spPr>
            <a:solidFill>
              <a:srgbClr val="D64550"/>
            </a:solidFill>
          </c:spPr>
          <c:cat>
            <c:strRef>
              <c:f>Sheet1!$A$2:$A$11</c:f>
              <c:strCache>
                <c:ptCount val="10"/>
                <c:pt idx="0">
                  <c:v>forward</c:v>
                </c:pt>
                <c:pt idx="1">
                  <c:v>left</c:v>
                </c:pt>
                <c:pt idx="2">
                  <c:v>right</c:v>
                </c:pt>
                <c:pt idx="3">
                  <c:v>diag_fl</c:v>
                </c:pt>
                <c:pt idx="4">
                  <c:v>diag_fr</c:v>
                </c:pt>
                <c:pt idx="5">
                  <c:v>backward</c:v>
                </c:pt>
                <c:pt idx="6">
                  <c:v>diag_bl</c:v>
                </c:pt>
                <c:pt idx="7">
                  <c:v>diag_br</c:v>
                </c:pt>
                <c:pt idx="8">
                  <c:v>ccw</c:v>
                </c:pt>
                <c:pt idx="9">
                  <c:v>cw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0.42</c:v>
                </c:pt>
                <c:pt idx="1">
                  <c:v>-0.08</c:v>
                </c:pt>
                <c:pt idx="2">
                  <c:v>-0.19</c:v>
                </c:pt>
                <c:pt idx="3">
                  <c:v>0.54</c:v>
                </c:pt>
                <c:pt idx="4">
                  <c:v>-0.3</c:v>
                </c:pt>
                <c:pt idx="5">
                  <c:v>0.48</c:v>
                </c:pt>
                <c:pt idx="6">
                  <c:v>0.69</c:v>
                </c:pt>
                <c:pt idx="7">
                  <c:v>0.8</c:v>
                </c:pt>
                <c:pt idx="8">
                  <c:v>1.09</c:v>
                </c:pt>
                <c:pt idx="9">
                  <c:v>0.23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최종 (DART+DAgger×4)</c:v>
                </c:pt>
              </c:strCache>
            </c:strRef>
          </c:tx>
          <c:spPr>
            <a:solidFill>
              <a:srgbClr val="2EC4B6"/>
            </a:solidFill>
          </c:spPr>
          <c:cat>
            <c:strRef>
              <c:f>Sheet1!$A$2:$A$11</c:f>
              <c:strCache>
                <c:ptCount val="10"/>
                <c:pt idx="0">
                  <c:v>forward</c:v>
                </c:pt>
                <c:pt idx="1">
                  <c:v>left</c:v>
                </c:pt>
                <c:pt idx="2">
                  <c:v>right</c:v>
                </c:pt>
                <c:pt idx="3">
                  <c:v>diag_fl</c:v>
                </c:pt>
                <c:pt idx="4">
                  <c:v>diag_fr</c:v>
                </c:pt>
                <c:pt idx="5">
                  <c:v>backward</c:v>
                </c:pt>
                <c:pt idx="6">
                  <c:v>diag_bl</c:v>
                </c:pt>
                <c:pt idx="7">
                  <c:v>diag_br</c:v>
                </c:pt>
                <c:pt idx="8">
                  <c:v>ccw</c:v>
                </c:pt>
                <c:pt idx="9">
                  <c:v>cw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1.0</c:v>
                </c:pt>
                <c:pt idx="1">
                  <c:v>0.98</c:v>
                </c:pt>
                <c:pt idx="2">
                  <c:v>0.99</c:v>
                </c:pt>
                <c:pt idx="3">
                  <c:v>0.98</c:v>
                </c:pt>
                <c:pt idx="4">
                  <c:v>1.0</c:v>
                </c:pt>
                <c:pt idx="5">
                  <c:v>0.95</c:v>
                </c:pt>
                <c:pt idx="6">
                  <c:v>1.0</c:v>
                </c:pt>
                <c:pt idx="7">
                  <c:v>1.0</c:v>
                </c:pt>
                <c:pt idx="8">
                  <c:v>1.01</c:v>
                </c:pt>
                <c:pt idx="9">
                  <c:v>0.6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75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"/>
          <c:min val="-0.4"/>
        </c:scaling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1F2933"/>
                </a:solidFill>
                <a:ea typeface="Malgun Gothic"/>
              </a:rPr>
              <a:t>리턴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평가 리턴 (10 ep)</c:v>
                </c:pt>
              </c:strCache>
            </c:strRef>
          </c:tx>
          <c:spPr>
            <a:ln w="22225">
              <a:solidFill>
                <a:srgbClr val="2EC4B6"/>
              </a:solidFill>
            </a:ln>
          </c:spPr>
          <c:marker>
            <c:symbol val="none"/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0.25</c:v>
                </c:pt>
                <c:pt idx="1">
                  <c:v>0.75</c:v>
                </c:pt>
                <c:pt idx="2">
                  <c:v>1.25</c:v>
                </c:pt>
                <c:pt idx="3">
                  <c:v>1.75</c:v>
                </c:pt>
                <c:pt idx="4">
                  <c:v>2.25</c:v>
                </c:pt>
                <c:pt idx="5">
                  <c:v>2.75</c:v>
                </c:pt>
                <c:pt idx="6">
                  <c:v>3.25</c:v>
                </c:pt>
                <c:pt idx="7">
                  <c:v>3.75</c:v>
                </c:pt>
                <c:pt idx="8">
                  <c:v>4.25</c:v>
                </c:pt>
                <c:pt idx="9">
                  <c:v>4.75</c:v>
                </c:pt>
                <c:pt idx="10">
                  <c:v>5.25</c:v>
                </c:pt>
                <c:pt idx="11">
                  <c:v>5.75</c:v>
                </c:pt>
                <c:pt idx="12">
                  <c:v>6.25</c:v>
                </c:pt>
                <c:pt idx="13">
                  <c:v>6.75</c:v>
                </c:pt>
                <c:pt idx="14">
                  <c:v>7.25</c:v>
                </c:pt>
                <c:pt idx="15">
                  <c:v>7.75</c:v>
                </c:pt>
                <c:pt idx="16">
                  <c:v>8.25</c:v>
                </c:pt>
                <c:pt idx="17">
                  <c:v>8.75</c:v>
                </c:pt>
                <c:pt idx="18">
                  <c:v>9.25</c:v>
                </c:pt>
                <c:pt idx="19">
                  <c:v>9.75</c:v>
                </c:pt>
                <c:pt idx="20">
                  <c:v>10.25</c:v>
                </c:pt>
                <c:pt idx="21">
                  <c:v>10.75</c:v>
                </c:pt>
                <c:pt idx="22">
                  <c:v>11.25</c:v>
                </c:pt>
                <c:pt idx="23">
                  <c:v>11.75</c:v>
                </c:pt>
                <c:pt idx="24">
                  <c:v>12.25</c:v>
                </c:pt>
                <c:pt idx="25">
                  <c:v>12.75</c:v>
                </c:pt>
                <c:pt idx="26">
                  <c:v>13.25</c:v>
                </c:pt>
                <c:pt idx="27">
                  <c:v>13.75</c:v>
                </c:pt>
                <c:pt idx="28">
                  <c:v>14.25</c:v>
                </c:pt>
                <c:pt idx="29">
                  <c:v>14.75</c:v>
                </c:pt>
                <c:pt idx="30">
                  <c:v>15.25</c:v>
                </c:pt>
                <c:pt idx="31">
                  <c:v>15.75</c:v>
                </c:pt>
                <c:pt idx="32">
                  <c:v>16.25</c:v>
                </c:pt>
                <c:pt idx="33">
                  <c:v>16.75</c:v>
                </c:pt>
                <c:pt idx="34">
                  <c:v>17.25</c:v>
                </c:pt>
                <c:pt idx="35">
                  <c:v>17.75</c:v>
                </c:pt>
                <c:pt idx="36">
                  <c:v>18.25</c:v>
                </c:pt>
                <c:pt idx="37">
                  <c:v>18.75</c:v>
                </c:pt>
                <c:pt idx="38">
                  <c:v>19.25</c:v>
                </c:pt>
                <c:pt idx="39">
                  <c:v>19.75</c:v>
                </c:pt>
                <c:pt idx="40">
                  <c:v>20.25</c:v>
                </c:pt>
                <c:pt idx="41">
                  <c:v>20.75</c:v>
                </c:pt>
                <c:pt idx="42">
                  <c:v>21.25</c:v>
                </c:pt>
                <c:pt idx="43">
                  <c:v>21.75</c:v>
                </c:pt>
                <c:pt idx="44">
                  <c:v>22.25</c:v>
                </c:pt>
                <c:pt idx="45">
                  <c:v>22.75</c:v>
                </c:pt>
                <c:pt idx="46">
                  <c:v>23.25</c:v>
                </c:pt>
                <c:pt idx="47">
                  <c:v>23.75</c:v>
                </c:pt>
                <c:pt idx="48">
                  <c:v>24.25</c:v>
                </c:pt>
                <c:pt idx="49">
                  <c:v>24.75</c:v>
                </c:pt>
                <c:pt idx="50">
                  <c:v>25.25</c:v>
                </c:pt>
                <c:pt idx="51">
                  <c:v>25.75</c:v>
                </c:pt>
                <c:pt idx="52">
                  <c:v>26.25</c:v>
                </c:pt>
                <c:pt idx="53">
                  <c:v>26.75</c:v>
                </c:pt>
                <c:pt idx="54">
                  <c:v>27.25</c:v>
                </c:pt>
                <c:pt idx="55">
                  <c:v>27.75</c:v>
                </c:pt>
                <c:pt idx="56">
                  <c:v>28.25</c:v>
                </c:pt>
                <c:pt idx="57">
                  <c:v>28.75</c:v>
                </c:pt>
                <c:pt idx="58">
                  <c:v>29.25</c:v>
                </c:pt>
                <c:pt idx="59">
                  <c:v>29.75</c:v>
                </c:pt>
                <c:pt idx="60">
                  <c:v>30.25</c:v>
                </c:pt>
                <c:pt idx="61">
                  <c:v>30.75</c:v>
                </c:pt>
                <c:pt idx="62">
                  <c:v>31.25</c:v>
                </c:pt>
                <c:pt idx="63">
                  <c:v>31.75</c:v>
                </c:pt>
                <c:pt idx="64">
                  <c:v>32.25</c:v>
                </c:pt>
                <c:pt idx="65">
                  <c:v>32.75</c:v>
                </c:pt>
                <c:pt idx="66">
                  <c:v>33.25</c:v>
                </c:pt>
                <c:pt idx="67">
                  <c:v>33.75</c:v>
                </c:pt>
                <c:pt idx="68">
                  <c:v>34.25</c:v>
                </c:pt>
                <c:pt idx="69">
                  <c:v>34.75</c:v>
                </c:pt>
                <c:pt idx="70">
                  <c:v>35.25</c:v>
                </c:pt>
                <c:pt idx="71">
                  <c:v>35.75</c:v>
                </c:pt>
                <c:pt idx="72">
                  <c:v>36.25</c:v>
                </c:pt>
                <c:pt idx="73">
                  <c:v>36.75</c:v>
                </c:pt>
                <c:pt idx="74">
                  <c:v>37.25</c:v>
                </c:pt>
                <c:pt idx="75">
                  <c:v>37.75</c:v>
                </c:pt>
                <c:pt idx="76">
                  <c:v>38.25</c:v>
                </c:pt>
                <c:pt idx="77">
                  <c:v>38.75</c:v>
                </c:pt>
                <c:pt idx="78">
                  <c:v>39.25</c:v>
                </c:pt>
                <c:pt idx="79">
                  <c:v>40.0</c:v>
                </c:pt>
              </c:numCache>
            </c:numRef>
          </c:xVal>
          <c:yVal>
            <c:numRef>
              <c:f>Sheet1!$B$2:$B$81</c:f>
              <c:numCache>
                <c:formatCode>General</c:formatCode>
                <c:ptCount val="80"/>
                <c:pt idx="0">
                  <c:v>6058.27880859375</c:v>
                </c:pt>
                <c:pt idx="1">
                  <c:v>10073.849609375</c:v>
                </c:pt>
                <c:pt idx="2">
                  <c:v>11313.8955078125</c:v>
                </c:pt>
                <c:pt idx="3">
                  <c:v>-647.5819702148438</c:v>
                </c:pt>
                <c:pt idx="4">
                  <c:v>-3962.8828125</c:v>
                </c:pt>
                <c:pt idx="5">
                  <c:v>4444.7314453125</c:v>
                </c:pt>
                <c:pt idx="6">
                  <c:v>75.37801361083984</c:v>
                </c:pt>
                <c:pt idx="7">
                  <c:v>7993.6767578125</c:v>
                </c:pt>
                <c:pt idx="8">
                  <c:v>13707.375</c:v>
                </c:pt>
                <c:pt idx="9">
                  <c:v>17208.634765625</c:v>
                </c:pt>
                <c:pt idx="10">
                  <c:v>12787.55078125</c:v>
                </c:pt>
                <c:pt idx="11">
                  <c:v>13912.1474609375</c:v>
                </c:pt>
                <c:pt idx="12">
                  <c:v>8661.8193359375</c:v>
                </c:pt>
                <c:pt idx="13">
                  <c:v>10801.619140625</c:v>
                </c:pt>
                <c:pt idx="14">
                  <c:v>6010.9453125</c:v>
                </c:pt>
                <c:pt idx="15">
                  <c:v>9026.4501953125</c:v>
                </c:pt>
                <c:pt idx="16">
                  <c:v>15419.9794921875</c:v>
                </c:pt>
                <c:pt idx="17">
                  <c:v>7735.6669921875</c:v>
                </c:pt>
                <c:pt idx="18">
                  <c:v>17920.6953125</c:v>
                </c:pt>
                <c:pt idx="19">
                  <c:v>11238.8935546875</c:v>
                </c:pt>
                <c:pt idx="20">
                  <c:v>19169.685546875</c:v>
                </c:pt>
                <c:pt idx="21">
                  <c:v>17916.6640625</c:v>
                </c:pt>
                <c:pt idx="22">
                  <c:v>16139.75</c:v>
                </c:pt>
                <c:pt idx="23">
                  <c:v>1620.0848388671875</c:v>
                </c:pt>
                <c:pt idx="24">
                  <c:v>4685.87255859375</c:v>
                </c:pt>
                <c:pt idx="25">
                  <c:v>10712.5791015625</c:v>
                </c:pt>
                <c:pt idx="26">
                  <c:v>9830.177734375</c:v>
                </c:pt>
                <c:pt idx="27">
                  <c:v>18197.0078125</c:v>
                </c:pt>
                <c:pt idx="28">
                  <c:v>11649.6376953125</c:v>
                </c:pt>
                <c:pt idx="29">
                  <c:v>10210.9931640625</c:v>
                </c:pt>
                <c:pt idx="30">
                  <c:v>12321.623046875</c:v>
                </c:pt>
                <c:pt idx="31">
                  <c:v>15915.4150390625</c:v>
                </c:pt>
                <c:pt idx="32">
                  <c:v>16699.435546875</c:v>
                </c:pt>
                <c:pt idx="33">
                  <c:v>8862.1201171875</c:v>
                </c:pt>
                <c:pt idx="34">
                  <c:v>10622.130859375</c:v>
                </c:pt>
                <c:pt idx="35">
                  <c:v>21192.75390625</c:v>
                </c:pt>
                <c:pt idx="36">
                  <c:v>20578.267578125</c:v>
                </c:pt>
                <c:pt idx="37">
                  <c:v>8116.8544921875</c:v>
                </c:pt>
                <c:pt idx="38">
                  <c:v>17181.880859375</c:v>
                </c:pt>
                <c:pt idx="39">
                  <c:v>15879.890625</c:v>
                </c:pt>
                <c:pt idx="40">
                  <c:v>10363.017578125</c:v>
                </c:pt>
                <c:pt idx="41">
                  <c:v>9134.64453125</c:v>
                </c:pt>
                <c:pt idx="42">
                  <c:v>16752.5234375</c:v>
                </c:pt>
                <c:pt idx="43">
                  <c:v>14281.4296875</c:v>
                </c:pt>
                <c:pt idx="44">
                  <c:v>14613.6513671875</c:v>
                </c:pt>
                <c:pt idx="45">
                  <c:v>13580.8896484375</c:v>
                </c:pt>
                <c:pt idx="46">
                  <c:v>17752.23046875</c:v>
                </c:pt>
                <c:pt idx="47">
                  <c:v>18755.802734375</c:v>
                </c:pt>
                <c:pt idx="48">
                  <c:v>12020.365234375</c:v>
                </c:pt>
                <c:pt idx="49">
                  <c:v>12830.478515625</c:v>
                </c:pt>
                <c:pt idx="50">
                  <c:v>14236.01953125</c:v>
                </c:pt>
                <c:pt idx="51">
                  <c:v>10654.34765625</c:v>
                </c:pt>
                <c:pt idx="52">
                  <c:v>22181.40625</c:v>
                </c:pt>
                <c:pt idx="53">
                  <c:v>12709.650390625</c:v>
                </c:pt>
                <c:pt idx="54">
                  <c:v>7389.13427734375</c:v>
                </c:pt>
                <c:pt idx="55">
                  <c:v>13161.3857421875</c:v>
                </c:pt>
                <c:pt idx="56">
                  <c:v>13298.0380859375</c:v>
                </c:pt>
                <c:pt idx="57">
                  <c:v>20892.26953125</c:v>
                </c:pt>
                <c:pt idx="58">
                  <c:v>9083.4931640625</c:v>
                </c:pt>
                <c:pt idx="59">
                  <c:v>10152.8212890625</c:v>
                </c:pt>
                <c:pt idx="60">
                  <c:v>20066.740234375</c:v>
                </c:pt>
                <c:pt idx="61">
                  <c:v>18159.79296875</c:v>
                </c:pt>
                <c:pt idx="62">
                  <c:v>16361.8046875</c:v>
                </c:pt>
                <c:pt idx="63">
                  <c:v>10742.3486328125</c:v>
                </c:pt>
                <c:pt idx="64">
                  <c:v>12105.138671875</c:v>
                </c:pt>
                <c:pt idx="65">
                  <c:v>17802.529296875</c:v>
                </c:pt>
                <c:pt idx="66">
                  <c:v>14845.099609375</c:v>
                </c:pt>
                <c:pt idx="67">
                  <c:v>22046.96484375</c:v>
                </c:pt>
                <c:pt idx="68">
                  <c:v>16522.208984375</c:v>
                </c:pt>
                <c:pt idx="69">
                  <c:v>14847.6259765625</c:v>
                </c:pt>
                <c:pt idx="70">
                  <c:v>11419.1572265625</c:v>
                </c:pt>
                <c:pt idx="71">
                  <c:v>12378.19921875</c:v>
                </c:pt>
                <c:pt idx="72">
                  <c:v>18712.88671875</c:v>
                </c:pt>
                <c:pt idx="73">
                  <c:v>13561.462890625</c:v>
                </c:pt>
                <c:pt idx="74">
                  <c:v>11036.08203125</c:v>
                </c:pt>
                <c:pt idx="75">
                  <c:v>18506.3359375</c:v>
                </c:pt>
                <c:pt idx="76">
                  <c:v>13730.5</c:v>
                </c:pt>
                <c:pt idx="77">
                  <c:v>17009.04296875</c:v>
                </c:pt>
                <c:pt idx="78">
                  <c:v>10470.5693359375</c:v>
                </c:pt>
                <c:pt idx="79">
                  <c:v>19244.3984375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Sheet1!$B$83</c:f>
              <c:strCache>
                <c:ptCount val="1"/>
                <c:pt idx="0">
                  <c:v>롤아웃 에피소드 리턴 (이동평균)</c:v>
                </c:pt>
              </c:strCache>
            </c:strRef>
          </c:tx>
          <c:spPr>
            <a:ln w="22225">
              <a:solidFill>
                <a:srgbClr val="0F2A44"/>
              </a:solidFill>
            </a:ln>
          </c:spPr>
          <c:marker>
            <c:symbol val="none"/>
          </c:marker>
          <c:xVal>
            <c:numRef>
              <c:f>Sheet1!$A$84:$A$163</c:f>
              <c:numCache>
                <c:formatCode>General</c:formatCode>
                <c:ptCount val="80"/>
                <c:pt idx="0">
                  <c:v>0.086016</c:v>
                </c:pt>
                <c:pt idx="1">
                  <c:v>0.589824</c:v>
                </c:pt>
                <c:pt idx="2">
                  <c:v>1.093632</c:v>
                </c:pt>
                <c:pt idx="3">
                  <c:v>1.601536</c:v>
                </c:pt>
                <c:pt idx="4">
                  <c:v>2.105344</c:v>
                </c:pt>
                <c:pt idx="5">
                  <c:v>2.609152</c:v>
                </c:pt>
                <c:pt idx="6">
                  <c:v>3.117056</c:v>
                </c:pt>
                <c:pt idx="7">
                  <c:v>3.620864</c:v>
                </c:pt>
                <c:pt idx="8">
                  <c:v>4.124672</c:v>
                </c:pt>
                <c:pt idx="9">
                  <c:v>4.632576</c:v>
                </c:pt>
                <c:pt idx="10">
                  <c:v>5.136384</c:v>
                </c:pt>
                <c:pt idx="11">
                  <c:v>5.640192</c:v>
                </c:pt>
                <c:pt idx="12">
                  <c:v>6.148096</c:v>
                </c:pt>
                <c:pt idx="13">
                  <c:v>6.651904</c:v>
                </c:pt>
                <c:pt idx="14">
                  <c:v>7.155712</c:v>
                </c:pt>
                <c:pt idx="15">
                  <c:v>7.663616</c:v>
                </c:pt>
                <c:pt idx="16">
                  <c:v>8.167424</c:v>
                </c:pt>
                <c:pt idx="17">
                  <c:v>8.675328</c:v>
                </c:pt>
                <c:pt idx="18">
                  <c:v>9.179136</c:v>
                </c:pt>
                <c:pt idx="19">
                  <c:v>9.682944</c:v>
                </c:pt>
                <c:pt idx="20">
                  <c:v>10.190848</c:v>
                </c:pt>
                <c:pt idx="21">
                  <c:v>10.694656</c:v>
                </c:pt>
                <c:pt idx="22">
                  <c:v>11.198464</c:v>
                </c:pt>
                <c:pt idx="23">
                  <c:v>11.706368</c:v>
                </c:pt>
                <c:pt idx="24">
                  <c:v>12.210176</c:v>
                </c:pt>
                <c:pt idx="25">
                  <c:v>12.713984</c:v>
                </c:pt>
                <c:pt idx="26">
                  <c:v>13.221888</c:v>
                </c:pt>
                <c:pt idx="27">
                  <c:v>13.725696</c:v>
                </c:pt>
                <c:pt idx="28">
                  <c:v>14.229504</c:v>
                </c:pt>
                <c:pt idx="29">
                  <c:v>14.737408</c:v>
                </c:pt>
                <c:pt idx="30">
                  <c:v>15.241216</c:v>
                </c:pt>
                <c:pt idx="31">
                  <c:v>15.745024</c:v>
                </c:pt>
                <c:pt idx="32">
                  <c:v>16.252928</c:v>
                </c:pt>
                <c:pt idx="33">
                  <c:v>16.756736</c:v>
                </c:pt>
                <c:pt idx="34">
                  <c:v>17.26464</c:v>
                </c:pt>
                <c:pt idx="35">
                  <c:v>17.768448</c:v>
                </c:pt>
                <c:pt idx="36">
                  <c:v>18.272256</c:v>
                </c:pt>
                <c:pt idx="37">
                  <c:v>18.78016</c:v>
                </c:pt>
                <c:pt idx="38">
                  <c:v>19.283968</c:v>
                </c:pt>
                <c:pt idx="39">
                  <c:v>19.787776</c:v>
                </c:pt>
                <c:pt idx="40">
                  <c:v>20.29568</c:v>
                </c:pt>
                <c:pt idx="41">
                  <c:v>20.799488</c:v>
                </c:pt>
                <c:pt idx="42">
                  <c:v>21.303296</c:v>
                </c:pt>
                <c:pt idx="43">
                  <c:v>21.8112</c:v>
                </c:pt>
                <c:pt idx="44">
                  <c:v>22.315008</c:v>
                </c:pt>
                <c:pt idx="45">
                  <c:v>22.818816</c:v>
                </c:pt>
                <c:pt idx="46">
                  <c:v>23.32672</c:v>
                </c:pt>
                <c:pt idx="47">
                  <c:v>23.830528</c:v>
                </c:pt>
                <c:pt idx="48">
                  <c:v>24.338432</c:v>
                </c:pt>
                <c:pt idx="49">
                  <c:v>24.84224</c:v>
                </c:pt>
                <c:pt idx="50">
                  <c:v>25.346048</c:v>
                </c:pt>
                <c:pt idx="51">
                  <c:v>25.853952</c:v>
                </c:pt>
                <c:pt idx="52">
                  <c:v>26.35776</c:v>
                </c:pt>
                <c:pt idx="53">
                  <c:v>26.861568</c:v>
                </c:pt>
                <c:pt idx="54">
                  <c:v>27.369472</c:v>
                </c:pt>
                <c:pt idx="55">
                  <c:v>27.87328</c:v>
                </c:pt>
                <c:pt idx="56">
                  <c:v>28.377088</c:v>
                </c:pt>
                <c:pt idx="57">
                  <c:v>28.884992</c:v>
                </c:pt>
                <c:pt idx="58">
                  <c:v>29.3888</c:v>
                </c:pt>
                <c:pt idx="59">
                  <c:v>29.892608</c:v>
                </c:pt>
                <c:pt idx="60">
                  <c:v>30.400512</c:v>
                </c:pt>
                <c:pt idx="61">
                  <c:v>30.90432</c:v>
                </c:pt>
                <c:pt idx="62">
                  <c:v>31.408128</c:v>
                </c:pt>
                <c:pt idx="63">
                  <c:v>31.916032</c:v>
                </c:pt>
                <c:pt idx="64">
                  <c:v>32.41984</c:v>
                </c:pt>
                <c:pt idx="65">
                  <c:v>32.927744</c:v>
                </c:pt>
                <c:pt idx="66">
                  <c:v>33.431552</c:v>
                </c:pt>
                <c:pt idx="67">
                  <c:v>33.93536</c:v>
                </c:pt>
                <c:pt idx="68">
                  <c:v>34.443264</c:v>
                </c:pt>
                <c:pt idx="69">
                  <c:v>34.947072</c:v>
                </c:pt>
                <c:pt idx="70">
                  <c:v>35.45088</c:v>
                </c:pt>
                <c:pt idx="71">
                  <c:v>35.958784</c:v>
                </c:pt>
                <c:pt idx="72">
                  <c:v>36.462592</c:v>
                </c:pt>
                <c:pt idx="73">
                  <c:v>36.9664</c:v>
                </c:pt>
                <c:pt idx="74">
                  <c:v>37.474304</c:v>
                </c:pt>
                <c:pt idx="75">
                  <c:v>37.978112</c:v>
                </c:pt>
                <c:pt idx="76">
                  <c:v>38.48192</c:v>
                </c:pt>
                <c:pt idx="77">
                  <c:v>38.989824</c:v>
                </c:pt>
                <c:pt idx="78">
                  <c:v>39.493632</c:v>
                </c:pt>
                <c:pt idx="79">
                  <c:v>40.001536</c:v>
                </c:pt>
              </c:numCache>
            </c:numRef>
          </c:xVal>
          <c:yVal>
            <c:numRef>
              <c:f>Sheet1!$B$84:$B$163</c:f>
              <c:numCache>
                <c:formatCode>General</c:formatCode>
                <c:ptCount val="80"/>
                <c:pt idx="0">
                  <c:v>-16036.969775390628</c:v>
                </c:pt>
                <c:pt idx="1">
                  <c:v>-5385.754736328126</c:v>
                </c:pt>
                <c:pt idx="2">
                  <c:v>1767.8215454101564</c:v>
                </c:pt>
                <c:pt idx="3">
                  <c:v>5724.872412109375</c:v>
                </c:pt>
                <c:pt idx="4">
                  <c:v>-26.65316629409783</c:v>
                </c:pt>
                <c:pt idx="5">
                  <c:v>1419.1934814453125</c:v>
                </c:pt>
                <c:pt idx="6">
                  <c:v>606.0710985183715</c:v>
                </c:pt>
                <c:pt idx="7">
                  <c:v>4826.544177246094</c:v>
                </c:pt>
                <c:pt idx="8">
                  <c:v>5230.04873046875</c:v>
                </c:pt>
                <c:pt idx="9">
                  <c:v>5164.660473632812</c:v>
                </c:pt>
                <c:pt idx="10">
                  <c:v>3578.5574462890627</c:v>
                </c:pt>
                <c:pt idx="11">
                  <c:v>4884.188439941407</c:v>
                </c:pt>
                <c:pt idx="12">
                  <c:v>7830.982861328126</c:v>
                </c:pt>
                <c:pt idx="13">
                  <c:v>7707.540209960937</c:v>
                </c:pt>
                <c:pt idx="14">
                  <c:v>9616.398193359373</c:v>
                </c:pt>
                <c:pt idx="15">
                  <c:v>9445.7626953125</c:v>
                </c:pt>
                <c:pt idx="16">
                  <c:v>6426.115112304688</c:v>
                </c:pt>
                <c:pt idx="17">
                  <c:v>8705.138623046876</c:v>
                </c:pt>
                <c:pt idx="18">
                  <c:v>8784.335131835936</c:v>
                </c:pt>
                <c:pt idx="19">
                  <c:v>9524.218212890626</c:v>
                </c:pt>
                <c:pt idx="20">
                  <c:v>10032.524511718751</c:v>
                </c:pt>
                <c:pt idx="21">
                  <c:v>8580.089282226563</c:v>
                </c:pt>
                <c:pt idx="22">
                  <c:v>10982.697753906252</c:v>
                </c:pt>
                <c:pt idx="23">
                  <c:v>10398.909008789064</c:v>
                </c:pt>
                <c:pt idx="24">
                  <c:v>8847.936303710938</c:v>
                </c:pt>
                <c:pt idx="25">
                  <c:v>9960.883569335938</c:v>
                </c:pt>
                <c:pt idx="26">
                  <c:v>10146.640380859375</c:v>
                </c:pt>
                <c:pt idx="27">
                  <c:v>9818.63935546875</c:v>
                </c:pt>
                <c:pt idx="28">
                  <c:v>8598.401416015624</c:v>
                </c:pt>
                <c:pt idx="29">
                  <c:v>9035.049169921875</c:v>
                </c:pt>
                <c:pt idx="30">
                  <c:v>11282.470263671874</c:v>
                </c:pt>
                <c:pt idx="31">
                  <c:v>11536.38466796875</c:v>
                </c:pt>
                <c:pt idx="32">
                  <c:v>12056.379980468751</c:v>
                </c:pt>
                <c:pt idx="33">
                  <c:v>10834.374755859375</c:v>
                </c:pt>
                <c:pt idx="34">
                  <c:v>9321.437915039061</c:v>
                </c:pt>
                <c:pt idx="35">
                  <c:v>8336.431420898438</c:v>
                </c:pt>
                <c:pt idx="36">
                  <c:v>12142.472656250002</c:v>
                </c:pt>
                <c:pt idx="37">
                  <c:v>9437.927270507815</c:v>
                </c:pt>
                <c:pt idx="38">
                  <c:v>10179.130566406251</c:v>
                </c:pt>
                <c:pt idx="39">
                  <c:v>11288.83935546875</c:v>
                </c:pt>
                <c:pt idx="40">
                  <c:v>10903.899316406252</c:v>
                </c:pt>
                <c:pt idx="41">
                  <c:v>10112.9279296875</c:v>
                </c:pt>
                <c:pt idx="42">
                  <c:v>9489.57294921875</c:v>
                </c:pt>
                <c:pt idx="43">
                  <c:v>10685.570996093751</c:v>
                </c:pt>
                <c:pt idx="44">
                  <c:v>10007.80458984375</c:v>
                </c:pt>
                <c:pt idx="45">
                  <c:v>10303.2416015625</c:v>
                </c:pt>
                <c:pt idx="46">
                  <c:v>10544.866259765624</c:v>
                </c:pt>
                <c:pt idx="47">
                  <c:v>13608.911279296875</c:v>
                </c:pt>
                <c:pt idx="48">
                  <c:v>10245.58115234375</c:v>
                </c:pt>
                <c:pt idx="49">
                  <c:v>9655.095703125</c:v>
                </c:pt>
                <c:pt idx="50">
                  <c:v>11364.845263671874</c:v>
                </c:pt>
                <c:pt idx="51">
                  <c:v>10476.74404296875</c:v>
                </c:pt>
                <c:pt idx="52">
                  <c:v>12184.463671875</c:v>
                </c:pt>
                <c:pt idx="53">
                  <c:v>12441.706787109375</c:v>
                </c:pt>
                <c:pt idx="54">
                  <c:v>11042.798779296872</c:v>
                </c:pt>
                <c:pt idx="55">
                  <c:v>8692.912866210938</c:v>
                </c:pt>
                <c:pt idx="56">
                  <c:v>12282.971093750002</c:v>
                </c:pt>
                <c:pt idx="57">
                  <c:v>11400.936181640629</c:v>
                </c:pt>
                <c:pt idx="58">
                  <c:v>13081.397021484378</c:v>
                </c:pt>
                <c:pt idx="59">
                  <c:v>12986.860302734376</c:v>
                </c:pt>
                <c:pt idx="60">
                  <c:v>11508.30595703125</c:v>
                </c:pt>
                <c:pt idx="61">
                  <c:v>10806.140576171874</c:v>
                </c:pt>
                <c:pt idx="62">
                  <c:v>10659.561914062499</c:v>
                </c:pt>
                <c:pt idx="63">
                  <c:v>13372.004785156249</c:v>
                </c:pt>
                <c:pt idx="64">
                  <c:v>12881.25654296875</c:v>
                </c:pt>
                <c:pt idx="65">
                  <c:v>12082.684326171875</c:v>
                </c:pt>
                <c:pt idx="66">
                  <c:v>12298.168603515627</c:v>
                </c:pt>
                <c:pt idx="67">
                  <c:v>11907.256494140625</c:v>
                </c:pt>
                <c:pt idx="68">
                  <c:v>13506.839062500001</c:v>
                </c:pt>
                <c:pt idx="69">
                  <c:v>15527.501220703123</c:v>
                </c:pt>
                <c:pt idx="70">
                  <c:v>13203.065087890625</c:v>
                </c:pt>
                <c:pt idx="71">
                  <c:v>12650.313427734374</c:v>
                </c:pt>
                <c:pt idx="72">
                  <c:v>13490.131347656252</c:v>
                </c:pt>
                <c:pt idx="73">
                  <c:v>14091.2033203125</c:v>
                </c:pt>
                <c:pt idx="74">
                  <c:v>13942.602685546875</c:v>
                </c:pt>
                <c:pt idx="75">
                  <c:v>13302.791992187502</c:v>
                </c:pt>
                <c:pt idx="76">
                  <c:v>12307.486328125</c:v>
                </c:pt>
                <c:pt idx="77">
                  <c:v>10551.093603515625</c:v>
                </c:pt>
                <c:pt idx="78">
                  <c:v>12790.877099609377</c:v>
                </c:pt>
                <c:pt idx="79">
                  <c:v>13124.225000000002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900"/>
                  <a:t>steps (M)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1F2933"/>
                </a:solidFill>
                <a:ea typeface="Malgun Gothic"/>
              </a:rPr>
              <a:t>critic 설명력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explained_variance</c:v>
                </c:pt>
              </c:strCache>
            </c:strRef>
          </c:tx>
          <c:spPr>
            <a:ln w="22225">
              <a:solidFill>
                <a:srgbClr val="3E7CB1"/>
              </a:solidFill>
            </a:ln>
          </c:spPr>
          <c:marker>
            <c:symbol val="none"/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0.045056</c:v>
                </c:pt>
                <c:pt idx="1">
                  <c:v>0.548864</c:v>
                </c:pt>
                <c:pt idx="2">
                  <c:v>1.052672</c:v>
                </c:pt>
                <c:pt idx="3">
                  <c:v>1.560576</c:v>
                </c:pt>
                <c:pt idx="4">
                  <c:v>2.064384</c:v>
                </c:pt>
                <c:pt idx="5">
                  <c:v>2.572288</c:v>
                </c:pt>
                <c:pt idx="6">
                  <c:v>3.076096</c:v>
                </c:pt>
                <c:pt idx="7">
                  <c:v>3.584</c:v>
                </c:pt>
                <c:pt idx="8">
                  <c:v>4.087808</c:v>
                </c:pt>
                <c:pt idx="9">
                  <c:v>4.595712</c:v>
                </c:pt>
                <c:pt idx="10">
                  <c:v>5.09952</c:v>
                </c:pt>
                <c:pt idx="11">
                  <c:v>5.607424</c:v>
                </c:pt>
                <c:pt idx="12">
                  <c:v>6.111232</c:v>
                </c:pt>
                <c:pt idx="13">
                  <c:v>6.619136</c:v>
                </c:pt>
                <c:pt idx="14">
                  <c:v>7.122944</c:v>
                </c:pt>
                <c:pt idx="15">
                  <c:v>7.630848</c:v>
                </c:pt>
                <c:pt idx="16">
                  <c:v>8.134656</c:v>
                </c:pt>
                <c:pt idx="17">
                  <c:v>8.64256</c:v>
                </c:pt>
                <c:pt idx="18">
                  <c:v>9.146368</c:v>
                </c:pt>
                <c:pt idx="19">
                  <c:v>9.654272</c:v>
                </c:pt>
                <c:pt idx="20">
                  <c:v>10.15808</c:v>
                </c:pt>
                <c:pt idx="21">
                  <c:v>10.665984</c:v>
                </c:pt>
                <c:pt idx="22">
                  <c:v>11.169792</c:v>
                </c:pt>
                <c:pt idx="23">
                  <c:v>11.677696</c:v>
                </c:pt>
                <c:pt idx="24">
                  <c:v>12.181504</c:v>
                </c:pt>
                <c:pt idx="25">
                  <c:v>12.689408</c:v>
                </c:pt>
                <c:pt idx="26">
                  <c:v>13.193216</c:v>
                </c:pt>
                <c:pt idx="27">
                  <c:v>13.697024</c:v>
                </c:pt>
                <c:pt idx="28">
                  <c:v>14.204928</c:v>
                </c:pt>
                <c:pt idx="29">
                  <c:v>14.708736</c:v>
                </c:pt>
                <c:pt idx="30">
                  <c:v>15.21664</c:v>
                </c:pt>
                <c:pt idx="31">
                  <c:v>15.720448</c:v>
                </c:pt>
                <c:pt idx="32">
                  <c:v>16.228352</c:v>
                </c:pt>
                <c:pt idx="33">
                  <c:v>16.73216</c:v>
                </c:pt>
                <c:pt idx="34">
                  <c:v>17.240064</c:v>
                </c:pt>
                <c:pt idx="35">
                  <c:v>17.743872</c:v>
                </c:pt>
                <c:pt idx="36">
                  <c:v>18.25</c:v>
                </c:pt>
                <c:pt idx="37">
                  <c:v>18.755584</c:v>
                </c:pt>
                <c:pt idx="38">
                  <c:v>19.263488</c:v>
                </c:pt>
                <c:pt idx="39">
                  <c:v>19.767296</c:v>
                </c:pt>
                <c:pt idx="40">
                  <c:v>20.2752</c:v>
                </c:pt>
                <c:pt idx="41">
                  <c:v>20.779008</c:v>
                </c:pt>
                <c:pt idx="42">
                  <c:v>21.286912</c:v>
                </c:pt>
                <c:pt idx="43">
                  <c:v>21.79072</c:v>
                </c:pt>
                <c:pt idx="44">
                  <c:v>22.298624</c:v>
                </c:pt>
                <c:pt idx="45">
                  <c:v>22.802432</c:v>
                </c:pt>
                <c:pt idx="46">
                  <c:v>23.310336</c:v>
                </c:pt>
                <c:pt idx="47">
                  <c:v>23.814144</c:v>
                </c:pt>
                <c:pt idx="48">
                  <c:v>24.322048</c:v>
                </c:pt>
                <c:pt idx="49">
                  <c:v>24.825856</c:v>
                </c:pt>
                <c:pt idx="50">
                  <c:v>25.33376</c:v>
                </c:pt>
                <c:pt idx="51">
                  <c:v>25.837568</c:v>
                </c:pt>
                <c:pt idx="52">
                  <c:v>26.345472</c:v>
                </c:pt>
                <c:pt idx="53">
                  <c:v>26.84928</c:v>
                </c:pt>
                <c:pt idx="54">
                  <c:v>27.353088</c:v>
                </c:pt>
                <c:pt idx="55">
                  <c:v>27.860992</c:v>
                </c:pt>
                <c:pt idx="56">
                  <c:v>28.3648</c:v>
                </c:pt>
                <c:pt idx="57">
                  <c:v>28.872704</c:v>
                </c:pt>
                <c:pt idx="58">
                  <c:v>29.376512</c:v>
                </c:pt>
                <c:pt idx="59">
                  <c:v>29.884416</c:v>
                </c:pt>
                <c:pt idx="60">
                  <c:v>30.388224</c:v>
                </c:pt>
                <c:pt idx="61">
                  <c:v>30.896128</c:v>
                </c:pt>
                <c:pt idx="62">
                  <c:v>31.399936</c:v>
                </c:pt>
                <c:pt idx="63">
                  <c:v>31.90784</c:v>
                </c:pt>
                <c:pt idx="64">
                  <c:v>32.411648</c:v>
                </c:pt>
                <c:pt idx="65">
                  <c:v>32.919552</c:v>
                </c:pt>
                <c:pt idx="66">
                  <c:v>33.42336</c:v>
                </c:pt>
                <c:pt idx="67">
                  <c:v>33.931264</c:v>
                </c:pt>
                <c:pt idx="68">
                  <c:v>34.435072</c:v>
                </c:pt>
                <c:pt idx="69">
                  <c:v>34.942976</c:v>
                </c:pt>
                <c:pt idx="70">
                  <c:v>35.446784</c:v>
                </c:pt>
                <c:pt idx="71">
                  <c:v>35.954688</c:v>
                </c:pt>
                <c:pt idx="72">
                  <c:v>36.458496</c:v>
                </c:pt>
                <c:pt idx="73">
                  <c:v>36.9664</c:v>
                </c:pt>
                <c:pt idx="74">
                  <c:v>37.470208</c:v>
                </c:pt>
                <c:pt idx="75">
                  <c:v>37.978112</c:v>
                </c:pt>
                <c:pt idx="76">
                  <c:v>38.48192</c:v>
                </c:pt>
                <c:pt idx="77">
                  <c:v>38.989824</c:v>
                </c:pt>
                <c:pt idx="78">
                  <c:v>39.493632</c:v>
                </c:pt>
                <c:pt idx="79">
                  <c:v>40.0</c:v>
                </c:pt>
              </c:numCache>
            </c:numRef>
          </c:xVal>
          <c:yVal>
            <c:numRef>
              <c:f>Sheet1!$B$2:$B$81</c:f>
              <c:numCache>
                <c:formatCode>General</c:formatCode>
                <c:ptCount val="80"/>
                <c:pt idx="0">
                  <c:v>0.1864459455013275</c:v>
                </c:pt>
                <c:pt idx="1">
                  <c:v>0.07159531116485596</c:v>
                </c:pt>
                <c:pt idx="2">
                  <c:v>0.12502573728561403</c:v>
                </c:pt>
                <c:pt idx="3">
                  <c:v>0.3061979174613953</c:v>
                </c:pt>
                <c:pt idx="4">
                  <c:v>0.09010423421859742</c:v>
                </c:pt>
                <c:pt idx="5">
                  <c:v>0.14594311118125913</c:v>
                </c:pt>
                <c:pt idx="6">
                  <c:v>0.24580112695693973</c:v>
                </c:pt>
                <c:pt idx="7">
                  <c:v>0.5160453975200654</c:v>
                </c:pt>
                <c:pt idx="8">
                  <c:v>0.6310656309127807</c:v>
                </c:pt>
                <c:pt idx="9">
                  <c:v>0.6143704771995545</c:v>
                </c:pt>
                <c:pt idx="10">
                  <c:v>0.6777568876743317</c:v>
                </c:pt>
                <c:pt idx="11">
                  <c:v>0.5955059885978699</c:v>
                </c:pt>
                <c:pt idx="12">
                  <c:v>0.7144455671310426</c:v>
                </c:pt>
                <c:pt idx="13">
                  <c:v>0.7639387369155884</c:v>
                </c:pt>
                <c:pt idx="14">
                  <c:v>0.7164583027362824</c:v>
                </c:pt>
                <c:pt idx="15">
                  <c:v>0.7451517820358278</c:v>
                </c:pt>
                <c:pt idx="16">
                  <c:v>0.7375762641429903</c:v>
                </c:pt>
                <c:pt idx="17">
                  <c:v>0.7715595841407776</c:v>
                </c:pt>
                <c:pt idx="18">
                  <c:v>0.8125547111034394</c:v>
                </c:pt>
                <c:pt idx="19">
                  <c:v>0.8012004673480988</c:v>
                </c:pt>
                <c:pt idx="20">
                  <c:v>0.845161956548691</c:v>
                </c:pt>
                <c:pt idx="21">
                  <c:v>0.8173476994037628</c:v>
                </c:pt>
                <c:pt idx="22">
                  <c:v>0.8355717062950134</c:v>
                </c:pt>
                <c:pt idx="23">
                  <c:v>0.832421624660492</c:v>
                </c:pt>
                <c:pt idx="24">
                  <c:v>0.8266653895378114</c:v>
                </c:pt>
                <c:pt idx="25">
                  <c:v>0.8683746576309205</c:v>
                </c:pt>
                <c:pt idx="26">
                  <c:v>0.8513522624969485</c:v>
                </c:pt>
                <c:pt idx="27">
                  <c:v>0.8727079033851626</c:v>
                </c:pt>
                <c:pt idx="28">
                  <c:v>0.8465105533599855</c:v>
                </c:pt>
                <c:pt idx="29">
                  <c:v>0.8797855019569398</c:v>
                </c:pt>
                <c:pt idx="30">
                  <c:v>0.8712989807128908</c:v>
                </c:pt>
                <c:pt idx="31">
                  <c:v>0.8677974522113802</c:v>
                </c:pt>
                <c:pt idx="32">
                  <c:v>0.8749751031398775</c:v>
                </c:pt>
                <c:pt idx="33">
                  <c:v>0.8766108989715578</c:v>
                </c:pt>
                <c:pt idx="34">
                  <c:v>0.8859571158885957</c:v>
                </c:pt>
                <c:pt idx="35">
                  <c:v>0.8840125262737276</c:v>
                </c:pt>
                <c:pt idx="36">
                  <c:v>0.877849167585373</c:v>
                </c:pt>
                <c:pt idx="37">
                  <c:v>0.8828219592571259</c:v>
                </c:pt>
                <c:pt idx="38">
                  <c:v>0.8740809679031372</c:v>
                </c:pt>
                <c:pt idx="39">
                  <c:v>0.9029526710510254</c:v>
                </c:pt>
                <c:pt idx="40">
                  <c:v>0.9014595091342926</c:v>
                </c:pt>
                <c:pt idx="41">
                  <c:v>0.9119541883468629</c:v>
                </c:pt>
                <c:pt idx="42">
                  <c:v>0.8958591043949127</c:v>
                </c:pt>
                <c:pt idx="43">
                  <c:v>0.902534079551697</c:v>
                </c:pt>
                <c:pt idx="44">
                  <c:v>0.9028710365295411</c:v>
                </c:pt>
                <c:pt idx="45">
                  <c:v>0.9034232378005981</c:v>
                </c:pt>
                <c:pt idx="46">
                  <c:v>0.9176624596118926</c:v>
                </c:pt>
                <c:pt idx="47">
                  <c:v>0.9012728154659273</c:v>
                </c:pt>
                <c:pt idx="48">
                  <c:v>0.9031534373760224</c:v>
                </c:pt>
                <c:pt idx="49">
                  <c:v>0.9038361430168154</c:v>
                </c:pt>
                <c:pt idx="50">
                  <c:v>0.9029108285903931</c:v>
                </c:pt>
                <c:pt idx="51">
                  <c:v>0.8963583052158356</c:v>
                </c:pt>
                <c:pt idx="52">
                  <c:v>0.9207557618618012</c:v>
                </c:pt>
                <c:pt idx="53">
                  <c:v>0.9068998992443086</c:v>
                </c:pt>
                <c:pt idx="54">
                  <c:v>0.9222622096538546</c:v>
                </c:pt>
                <c:pt idx="55">
                  <c:v>0.91093510389328</c:v>
                </c:pt>
                <c:pt idx="56">
                  <c:v>0.9025708854198456</c:v>
                </c:pt>
                <c:pt idx="57">
                  <c:v>0.8924675941467286</c:v>
                </c:pt>
                <c:pt idx="58">
                  <c:v>0.908445680141449</c:v>
                </c:pt>
                <c:pt idx="59">
                  <c:v>0.9250363349914552</c:v>
                </c:pt>
                <c:pt idx="60">
                  <c:v>0.9214396953582764</c:v>
                </c:pt>
                <c:pt idx="61">
                  <c:v>0.9175672054290772</c:v>
                </c:pt>
                <c:pt idx="62">
                  <c:v>0.9100054860115052</c:v>
                </c:pt>
                <c:pt idx="63">
                  <c:v>0.9117672801017762</c:v>
                </c:pt>
                <c:pt idx="64">
                  <c:v>0.9350458085536957</c:v>
                </c:pt>
                <c:pt idx="65">
                  <c:v>0.9319505810737609</c:v>
                </c:pt>
                <c:pt idx="66">
                  <c:v>0.8951562166213991</c:v>
                </c:pt>
                <c:pt idx="67">
                  <c:v>0.9061096668243408</c:v>
                </c:pt>
                <c:pt idx="68">
                  <c:v>0.9243628919124606</c:v>
                </c:pt>
                <c:pt idx="69">
                  <c:v>0.9385528147220612</c:v>
                </c:pt>
                <c:pt idx="70">
                  <c:v>0.9097151637077332</c:v>
                </c:pt>
                <c:pt idx="71">
                  <c:v>0.9315258085727692</c:v>
                </c:pt>
                <c:pt idx="72">
                  <c:v>0.9322129368782044</c:v>
                </c:pt>
                <c:pt idx="73">
                  <c:v>0.905450201034546</c:v>
                </c:pt>
                <c:pt idx="74">
                  <c:v>0.9068366885185243</c:v>
                </c:pt>
                <c:pt idx="75">
                  <c:v>0.9410557091236115</c:v>
                </c:pt>
                <c:pt idx="76">
                  <c:v>0.9143113136291504</c:v>
                </c:pt>
                <c:pt idx="77">
                  <c:v>0.9244578719139099</c:v>
                </c:pt>
                <c:pt idx="78">
                  <c:v>0.9208025991916655</c:v>
                </c:pt>
                <c:pt idx="79">
                  <c:v>0.9220794379711152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900"/>
                  <a:t>steps (M)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.0"/>
          <c:min val="-0.2"/>
        </c:scaling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1F2933"/>
                </a:solidFill>
                <a:ea typeface="Malgun Gothic"/>
              </a:rPr>
              <a:t>전환 실패율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전환 후 100스텝 내 실패율 (이동평균)</c:v>
                </c:pt>
              </c:strCache>
            </c:strRef>
          </c:tx>
          <c:spPr>
            <a:ln w="22225">
              <a:solidFill>
                <a:srgbClr val="D64550"/>
              </a:solidFill>
            </a:ln>
          </c:spPr>
          <c:marker>
            <c:symbol val="none"/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0.16384</c:v>
                </c:pt>
                <c:pt idx="1">
                  <c:v>0.671744</c:v>
                </c:pt>
                <c:pt idx="2">
                  <c:v>1.175552</c:v>
                </c:pt>
                <c:pt idx="3">
                  <c:v>1.67936</c:v>
                </c:pt>
                <c:pt idx="4">
                  <c:v>2.183168</c:v>
                </c:pt>
                <c:pt idx="5">
                  <c:v>2.68288</c:v>
                </c:pt>
                <c:pt idx="6">
                  <c:v>3.186688</c:v>
                </c:pt>
                <c:pt idx="7">
                  <c:v>3.690496</c:v>
                </c:pt>
                <c:pt idx="8">
                  <c:v>4.194304</c:v>
                </c:pt>
                <c:pt idx="9">
                  <c:v>4.694016</c:v>
                </c:pt>
                <c:pt idx="10">
                  <c:v>5.197824</c:v>
                </c:pt>
                <c:pt idx="11">
                  <c:v>5.701632</c:v>
                </c:pt>
                <c:pt idx="12">
                  <c:v>6.209536</c:v>
                </c:pt>
                <c:pt idx="13">
                  <c:v>6.709248</c:v>
                </c:pt>
                <c:pt idx="14">
                  <c:v>7.217152</c:v>
                </c:pt>
                <c:pt idx="15">
                  <c:v>7.72096</c:v>
                </c:pt>
                <c:pt idx="16">
                  <c:v>8.228864</c:v>
                </c:pt>
                <c:pt idx="17">
                  <c:v>8.728576</c:v>
                </c:pt>
                <c:pt idx="18">
                  <c:v>9.232384</c:v>
                </c:pt>
                <c:pt idx="19">
                  <c:v>9.736192</c:v>
                </c:pt>
                <c:pt idx="20">
                  <c:v>10.24</c:v>
                </c:pt>
                <c:pt idx="21">
                  <c:v>10.739712</c:v>
                </c:pt>
                <c:pt idx="22">
                  <c:v>11.24352</c:v>
                </c:pt>
                <c:pt idx="23">
                  <c:v>11.747328</c:v>
                </c:pt>
                <c:pt idx="24">
                  <c:v>12.25</c:v>
                </c:pt>
                <c:pt idx="25">
                  <c:v>12.75</c:v>
                </c:pt>
                <c:pt idx="26">
                  <c:v>13.25056</c:v>
                </c:pt>
                <c:pt idx="27">
                  <c:v>13.76256</c:v>
                </c:pt>
                <c:pt idx="28">
                  <c:v>14.27456</c:v>
                </c:pt>
                <c:pt idx="29">
                  <c:v>14.782464</c:v>
                </c:pt>
                <c:pt idx="30">
                  <c:v>15.286272</c:v>
                </c:pt>
                <c:pt idx="31">
                  <c:v>15.79008</c:v>
                </c:pt>
                <c:pt idx="32">
                  <c:v>16.293888</c:v>
                </c:pt>
                <c:pt idx="33">
                  <c:v>16.797696</c:v>
                </c:pt>
                <c:pt idx="34">
                  <c:v>17.297408</c:v>
                </c:pt>
                <c:pt idx="35">
                  <c:v>17.801216</c:v>
                </c:pt>
                <c:pt idx="36">
                  <c:v>18.305024</c:v>
                </c:pt>
                <c:pt idx="37">
                  <c:v>18.808832</c:v>
                </c:pt>
                <c:pt idx="38">
                  <c:v>19.308544</c:v>
                </c:pt>
                <c:pt idx="39">
                  <c:v>19.812352</c:v>
                </c:pt>
                <c:pt idx="40">
                  <c:v>20.31616</c:v>
                </c:pt>
                <c:pt idx="41">
                  <c:v>20.824064</c:v>
                </c:pt>
                <c:pt idx="42">
                  <c:v>21.331968</c:v>
                </c:pt>
                <c:pt idx="43">
                  <c:v>21.839872</c:v>
                </c:pt>
                <c:pt idx="44">
                  <c:v>22.347776</c:v>
                </c:pt>
                <c:pt idx="45">
                  <c:v>22.851584</c:v>
                </c:pt>
                <c:pt idx="46">
                  <c:v>23.351296</c:v>
                </c:pt>
                <c:pt idx="47">
                  <c:v>23.855104</c:v>
                </c:pt>
                <c:pt idx="48">
                  <c:v>24.358912</c:v>
                </c:pt>
                <c:pt idx="49">
                  <c:v>24.86272</c:v>
                </c:pt>
                <c:pt idx="50">
                  <c:v>25.362432</c:v>
                </c:pt>
                <c:pt idx="51">
                  <c:v>25.86624</c:v>
                </c:pt>
                <c:pt idx="52">
                  <c:v>26.370048</c:v>
                </c:pt>
                <c:pt idx="53">
                  <c:v>26.873856</c:v>
                </c:pt>
                <c:pt idx="54">
                  <c:v>27.38176</c:v>
                </c:pt>
                <c:pt idx="55">
                  <c:v>27.885568</c:v>
                </c:pt>
                <c:pt idx="56">
                  <c:v>28.397568</c:v>
                </c:pt>
                <c:pt idx="57">
                  <c:v>28.901376</c:v>
                </c:pt>
                <c:pt idx="58">
                  <c:v>29.40928</c:v>
                </c:pt>
                <c:pt idx="59">
                  <c:v>29.908992</c:v>
                </c:pt>
                <c:pt idx="60">
                  <c:v>30.416896</c:v>
                </c:pt>
                <c:pt idx="61">
                  <c:v>30.920704</c:v>
                </c:pt>
                <c:pt idx="62">
                  <c:v>31.428608</c:v>
                </c:pt>
                <c:pt idx="63">
                  <c:v>31.92832</c:v>
                </c:pt>
                <c:pt idx="64">
                  <c:v>32.432128</c:v>
                </c:pt>
                <c:pt idx="65">
                  <c:v>32.935936</c:v>
                </c:pt>
                <c:pt idx="66">
                  <c:v>33.439744</c:v>
                </c:pt>
                <c:pt idx="67">
                  <c:v>33.939456</c:v>
                </c:pt>
                <c:pt idx="68">
                  <c:v>34.443264</c:v>
                </c:pt>
                <c:pt idx="69">
                  <c:v>34.951168</c:v>
                </c:pt>
                <c:pt idx="70">
                  <c:v>35.463168</c:v>
                </c:pt>
                <c:pt idx="71">
                  <c:v>35.971072</c:v>
                </c:pt>
                <c:pt idx="72">
                  <c:v>36.478976</c:v>
                </c:pt>
                <c:pt idx="73">
                  <c:v>36.982784</c:v>
                </c:pt>
                <c:pt idx="74">
                  <c:v>37.490688</c:v>
                </c:pt>
                <c:pt idx="75">
                  <c:v>37.9904</c:v>
                </c:pt>
                <c:pt idx="76">
                  <c:v>38.494208</c:v>
                </c:pt>
                <c:pt idx="77">
                  <c:v>38.998016</c:v>
                </c:pt>
                <c:pt idx="78">
                  <c:v>39.5</c:v>
                </c:pt>
                <c:pt idx="79">
                  <c:v>40.001536</c:v>
                </c:pt>
              </c:numCache>
            </c:numRef>
          </c:xVal>
          <c:yVal>
            <c:numRef>
              <c:f>Sheet1!$B$2:$B$81</c:f>
              <c:numCache>
                <c:formatCode>General</c:formatCode>
                <c:ptCount val="80"/>
                <c:pt idx="0">
                  <c:v>0.15275606699287894</c:v>
                </c:pt>
                <c:pt idx="1">
                  <c:v>0.15758568104356524</c:v>
                </c:pt>
                <c:pt idx="2">
                  <c:v>0.0955023465678096</c:v>
                </c:pt>
                <c:pt idx="3">
                  <c:v>0.10793109927326443</c:v>
                </c:pt>
                <c:pt idx="4">
                  <c:v>0.13559628147631883</c:v>
                </c:pt>
                <c:pt idx="5">
                  <c:v>0.1209679236635566</c:v>
                </c:pt>
                <c:pt idx="6">
                  <c:v>0.10871122162789107</c:v>
                </c:pt>
                <c:pt idx="7">
                  <c:v>0.10427662916481496</c:v>
                </c:pt>
                <c:pt idx="8">
                  <c:v>0.12577221598476174</c:v>
                </c:pt>
                <c:pt idx="9">
                  <c:v>0.11264249831438067</c:v>
                </c:pt>
                <c:pt idx="10">
                  <c:v>0.08219412676990033</c:v>
                </c:pt>
                <c:pt idx="11">
                  <c:v>0.10071817301213742</c:v>
                </c:pt>
                <c:pt idx="12">
                  <c:v>0.10479166861623526</c:v>
                </c:pt>
                <c:pt idx="13">
                  <c:v>0.0909616781398654</c:v>
                </c:pt>
                <c:pt idx="14">
                  <c:v>0.10535950344055894</c:v>
                </c:pt>
                <c:pt idx="15">
                  <c:v>0.10043498389422893</c:v>
                </c:pt>
                <c:pt idx="16">
                  <c:v>0.07940837144851685</c:v>
                </c:pt>
                <c:pt idx="17">
                  <c:v>0.09843344353139404</c:v>
                </c:pt>
                <c:pt idx="18">
                  <c:v>0.09533695634454491</c:v>
                </c:pt>
                <c:pt idx="19">
                  <c:v>0.08195131439715625</c:v>
                </c:pt>
                <c:pt idx="20">
                  <c:v>0.09973575212061409</c:v>
                </c:pt>
                <c:pt idx="21">
                  <c:v>0.10222493000328542</c:v>
                </c:pt>
                <c:pt idx="22">
                  <c:v>0.1150541150942445</c:v>
                </c:pt>
                <c:pt idx="23">
                  <c:v>0.10378961432725194</c:v>
                </c:pt>
                <c:pt idx="24">
                  <c:v>0.0802913073450327</c:v>
                </c:pt>
                <c:pt idx="25">
                  <c:v>0.14360840804874897</c:v>
                </c:pt>
                <c:pt idx="26">
                  <c:v>0.12505168654024604</c:v>
                </c:pt>
                <c:pt idx="27">
                  <c:v>0.09502615630626679</c:v>
                </c:pt>
                <c:pt idx="28">
                  <c:v>0.10896284487098457</c:v>
                </c:pt>
                <c:pt idx="29">
                  <c:v>0.08891324121505023</c:v>
                </c:pt>
                <c:pt idx="30">
                  <c:v>0.08831134364008905</c:v>
                </c:pt>
                <c:pt idx="31">
                  <c:v>0.10228625759482385</c:v>
                </c:pt>
                <c:pt idx="32">
                  <c:v>0.10404547005891801</c:v>
                </c:pt>
                <c:pt idx="33">
                  <c:v>0.14462752882391217</c:v>
                </c:pt>
                <c:pt idx="34">
                  <c:v>0.09109154958277942</c:v>
                </c:pt>
                <c:pt idx="35">
                  <c:v>0.13082972839474677</c:v>
                </c:pt>
                <c:pt idx="36">
                  <c:v>0.10459200739860536</c:v>
                </c:pt>
                <c:pt idx="37">
                  <c:v>0.08955322578549385</c:v>
                </c:pt>
                <c:pt idx="38">
                  <c:v>0.13111770469695333</c:v>
                </c:pt>
                <c:pt idx="39">
                  <c:v>0.08128989301621915</c:v>
                </c:pt>
                <c:pt idx="40">
                  <c:v>0.10700695365667345</c:v>
                </c:pt>
                <c:pt idx="41">
                  <c:v>0.08257874213159086</c:v>
                </c:pt>
                <c:pt idx="42">
                  <c:v>0.1385373678058386</c:v>
                </c:pt>
                <c:pt idx="43">
                  <c:v>0.12070069033652546</c:v>
                </c:pt>
                <c:pt idx="44">
                  <c:v>0.1253643598407507</c:v>
                </c:pt>
                <c:pt idx="45">
                  <c:v>0.08782641161233187</c:v>
                </c:pt>
                <c:pt idx="46">
                  <c:v>0.120404944755137</c:v>
                </c:pt>
                <c:pt idx="47">
                  <c:v>0.0923836596310139</c:v>
                </c:pt>
                <c:pt idx="48">
                  <c:v>0.1348358614370227</c:v>
                </c:pt>
                <c:pt idx="49">
                  <c:v>0.10761950034648181</c:v>
                </c:pt>
                <c:pt idx="50">
                  <c:v>0.0863548967987299</c:v>
                </c:pt>
                <c:pt idx="51">
                  <c:v>0.09752435293048622</c:v>
                </c:pt>
                <c:pt idx="52">
                  <c:v>0.09259948637336492</c:v>
                </c:pt>
                <c:pt idx="53">
                  <c:v>0.08779692724347116</c:v>
                </c:pt>
                <c:pt idx="54">
                  <c:v>0.13201798442751167</c:v>
                </c:pt>
                <c:pt idx="55">
                  <c:v>0.12777778077870608</c:v>
                </c:pt>
                <c:pt idx="56">
                  <c:v>0.09224317595362665</c:v>
                </c:pt>
                <c:pt idx="57">
                  <c:v>0.09843524713069203</c:v>
                </c:pt>
                <c:pt idx="58">
                  <c:v>0.0922317981719971</c:v>
                </c:pt>
                <c:pt idx="59">
                  <c:v>0.07489628568291665</c:v>
                </c:pt>
                <c:pt idx="60">
                  <c:v>0.08532828427851202</c:v>
                </c:pt>
                <c:pt idx="61">
                  <c:v>0.11623737588524821</c:v>
                </c:pt>
                <c:pt idx="62">
                  <c:v>0.10309641975909474</c:v>
                </c:pt>
                <c:pt idx="63">
                  <c:v>0.11947628930211071</c:v>
                </c:pt>
                <c:pt idx="64">
                  <c:v>0.10403950437903405</c:v>
                </c:pt>
                <c:pt idx="65">
                  <c:v>0.06589466203004123</c:v>
                </c:pt>
                <c:pt idx="66">
                  <c:v>0.1108155757188797</c:v>
                </c:pt>
                <c:pt idx="67">
                  <c:v>0.11721070781350136</c:v>
                </c:pt>
                <c:pt idx="68">
                  <c:v>0.11399767100811005</c:v>
                </c:pt>
                <c:pt idx="69">
                  <c:v>0.06873577944934368</c:v>
                </c:pt>
                <c:pt idx="70">
                  <c:v>0.1270328311249614</c:v>
                </c:pt>
                <c:pt idx="71">
                  <c:v>0.10808892715722322</c:v>
                </c:pt>
                <c:pt idx="72">
                  <c:v>0.06028950344771147</c:v>
                </c:pt>
                <c:pt idx="73">
                  <c:v>0.11288059391081334</c:v>
                </c:pt>
                <c:pt idx="74">
                  <c:v>0.09331432599574331</c:v>
                </c:pt>
                <c:pt idx="75">
                  <c:v>0.10806277301162483</c:v>
                </c:pt>
                <c:pt idx="76">
                  <c:v>0.11224477104842664</c:v>
                </c:pt>
                <c:pt idx="77">
                  <c:v>0.11955683492124082</c:v>
                </c:pt>
                <c:pt idx="78">
                  <c:v>0.08025668896734717</c:v>
                </c:pt>
                <c:pt idx="79">
                  <c:v>0.10917291231453422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900"/>
                  <a:t>steps (M)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0.5"/>
          <c:min val="0.0"/>
        </c:scaling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2933"/>
                </a:solidFill>
                <a:ea typeface="Malgun Gothic"/>
              </a:rPr>
              <a:t>도착 명령별 전환 후 100스텝 내 실패율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첫 run 2M (앵커 종료 규칙)</c:v>
                </c:pt>
              </c:strCache>
            </c:strRef>
          </c:tx>
          <c:spPr>
            <a:solidFill>
              <a:srgbClr val="D64550"/>
            </a:solidFill>
          </c:spPr>
          <c:cat>
            <c:strRef>
              <c:f>Sheet1!$A$2:$A$11</c:f>
              <c:strCache>
                <c:ptCount val="10"/>
                <c:pt idx="0">
                  <c:v>forward</c:v>
                </c:pt>
                <c:pt idx="1">
                  <c:v>left</c:v>
                </c:pt>
                <c:pt idx="2">
                  <c:v>right</c:v>
                </c:pt>
                <c:pt idx="3">
                  <c:v>diag_fl</c:v>
                </c:pt>
                <c:pt idx="4">
                  <c:v>diag_fr</c:v>
                </c:pt>
                <c:pt idx="5">
                  <c:v>backward</c:v>
                </c:pt>
                <c:pt idx="6">
                  <c:v>diag_bl</c:v>
                </c:pt>
                <c:pt idx="7">
                  <c:v>diag_br</c:v>
                </c:pt>
                <c:pt idx="8">
                  <c:v>ccw</c:v>
                </c:pt>
                <c:pt idx="9">
                  <c:v>cw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0.225</c:v>
                </c:pt>
                <c:pt idx="1">
                  <c:v>0.017</c:v>
                </c:pt>
                <c:pt idx="2">
                  <c:v>0.0</c:v>
                </c:pt>
                <c:pt idx="3">
                  <c:v>0.05</c:v>
                </c:pt>
                <c:pt idx="4">
                  <c:v>0.092</c:v>
                </c:pt>
                <c:pt idx="5">
                  <c:v>0.192</c:v>
                </c:pt>
                <c:pt idx="6">
                  <c:v>0.2</c:v>
                </c:pt>
                <c:pt idx="7">
                  <c:v>0.158</c:v>
                </c:pt>
                <c:pt idx="8">
                  <c:v>0.675</c:v>
                </c:pt>
                <c:pt idx="9">
                  <c:v>0.567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Stage 1 말기 (근접 보상)</c:v>
                </c:pt>
              </c:strCache>
            </c:strRef>
          </c:tx>
          <c:spPr>
            <a:solidFill>
              <a:srgbClr val="2EC4B6"/>
            </a:solidFill>
          </c:spPr>
          <c:cat>
            <c:strRef>
              <c:f>Sheet1!$A$2:$A$11</c:f>
              <c:strCache>
                <c:ptCount val="10"/>
                <c:pt idx="0">
                  <c:v>forward</c:v>
                </c:pt>
                <c:pt idx="1">
                  <c:v>left</c:v>
                </c:pt>
                <c:pt idx="2">
                  <c:v>right</c:v>
                </c:pt>
                <c:pt idx="3">
                  <c:v>diag_fl</c:v>
                </c:pt>
                <c:pt idx="4">
                  <c:v>diag_fr</c:v>
                </c:pt>
                <c:pt idx="5">
                  <c:v>backward</c:v>
                </c:pt>
                <c:pt idx="6">
                  <c:v>diag_bl</c:v>
                </c:pt>
                <c:pt idx="7">
                  <c:v>diag_br</c:v>
                </c:pt>
                <c:pt idx="8">
                  <c:v>ccw</c:v>
                </c:pt>
                <c:pt idx="9">
                  <c:v>cw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0.058</c:v>
                </c:pt>
                <c:pt idx="1">
                  <c:v>0.05</c:v>
                </c:pt>
                <c:pt idx="2">
                  <c:v>0.05</c:v>
                </c:pt>
                <c:pt idx="3">
                  <c:v>0.017</c:v>
                </c:pt>
                <c:pt idx="4">
                  <c:v>0.333</c:v>
                </c:pt>
                <c:pt idx="5">
                  <c:v>0.025</c:v>
                </c:pt>
                <c:pt idx="6">
                  <c:v>0.325</c:v>
                </c:pt>
                <c:pt idx="7">
                  <c:v>0.092</c:v>
                </c:pt>
                <c:pt idx="8">
                  <c:v>0.1</c:v>
                </c:pt>
                <c:pt idx="9">
                  <c:v>0.025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7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</c:scaling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1F2933"/>
                </a:solidFill>
                <a:ea typeface="Malgun Gothic"/>
              </a:rPr>
              <a:t>Stage 2 리턴 (누적 스텝)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평가 리턴 (20 ep)</c:v>
                </c:pt>
              </c:strCache>
            </c:strRef>
          </c:tx>
          <c:spPr>
            <a:ln w="22225">
              <a:solidFill>
                <a:srgbClr val="2EC4B6"/>
              </a:solidFill>
            </a:ln>
          </c:spPr>
          <c:marker>
            <c:symbol val="none"/>
          </c:marker>
          <c:xVal>
            <c:numRef>
              <c:f>Sheet1!$A$2:$A$63</c:f>
              <c:numCache>
                <c:formatCode>General</c:formatCode>
                <c:ptCount val="62"/>
                <c:pt idx="0">
                  <c:v>40.251536</c:v>
                </c:pt>
                <c:pt idx="1">
                  <c:v>40.501536</c:v>
                </c:pt>
                <c:pt idx="2">
                  <c:v>40.751536</c:v>
                </c:pt>
                <c:pt idx="3">
                  <c:v>41.001536</c:v>
                </c:pt>
                <c:pt idx="4">
                  <c:v>41.251536</c:v>
                </c:pt>
                <c:pt idx="5">
                  <c:v>41.501536</c:v>
                </c:pt>
                <c:pt idx="6">
                  <c:v>41.751536</c:v>
                </c:pt>
                <c:pt idx="7">
                  <c:v>42.001536</c:v>
                </c:pt>
                <c:pt idx="8">
                  <c:v>42.251536</c:v>
                </c:pt>
                <c:pt idx="9">
                  <c:v>42.501536</c:v>
                </c:pt>
                <c:pt idx="10">
                  <c:v>42.751536</c:v>
                </c:pt>
                <c:pt idx="11">
                  <c:v>43.001536</c:v>
                </c:pt>
                <c:pt idx="12">
                  <c:v>43.251536</c:v>
                </c:pt>
                <c:pt idx="13">
                  <c:v>43.501536</c:v>
                </c:pt>
                <c:pt idx="14">
                  <c:v>43.751536</c:v>
                </c:pt>
                <c:pt idx="15">
                  <c:v>44.001536</c:v>
                </c:pt>
                <c:pt idx="16">
                  <c:v>44.251536</c:v>
                </c:pt>
                <c:pt idx="17">
                  <c:v>44.501536</c:v>
                </c:pt>
                <c:pt idx="18">
                  <c:v>44.751536</c:v>
                </c:pt>
                <c:pt idx="19">
                  <c:v>45.001536</c:v>
                </c:pt>
                <c:pt idx="20">
                  <c:v>45.251536</c:v>
                </c:pt>
                <c:pt idx="21">
                  <c:v>45.501536</c:v>
                </c:pt>
                <c:pt idx="22">
                  <c:v>45.751536</c:v>
                </c:pt>
                <c:pt idx="23">
                  <c:v>46.001536</c:v>
                </c:pt>
                <c:pt idx="24">
                  <c:v>46.251536</c:v>
                </c:pt>
                <c:pt idx="25">
                  <c:v>46.501536</c:v>
                </c:pt>
                <c:pt idx="26">
                  <c:v>46.751536</c:v>
                </c:pt>
                <c:pt idx="27">
                  <c:v>47.001536</c:v>
                </c:pt>
                <c:pt idx="28">
                  <c:v>47.251536</c:v>
                </c:pt>
                <c:pt idx="29">
                  <c:v>47.501536</c:v>
                </c:pt>
                <c:pt idx="30">
                  <c:v>47.751536</c:v>
                </c:pt>
                <c:pt idx="31">
                  <c:v>48.001536</c:v>
                </c:pt>
                <c:pt idx="32">
                  <c:v>48.251536</c:v>
                </c:pt>
                <c:pt idx="33">
                  <c:v>48.501536</c:v>
                </c:pt>
                <c:pt idx="34">
                  <c:v>48.751536</c:v>
                </c:pt>
                <c:pt idx="35">
                  <c:v>49.001536</c:v>
                </c:pt>
                <c:pt idx="36">
                  <c:v>49.251536</c:v>
                </c:pt>
                <c:pt idx="37">
                  <c:v>49.501536</c:v>
                </c:pt>
                <c:pt idx="38">
                  <c:v>49.751536</c:v>
                </c:pt>
                <c:pt idx="39">
                  <c:v>50.001536</c:v>
                </c:pt>
                <c:pt idx="40">
                  <c:v>50.251536</c:v>
                </c:pt>
                <c:pt idx="41">
                  <c:v>50.501536</c:v>
                </c:pt>
                <c:pt idx="42">
                  <c:v>50.751536</c:v>
                </c:pt>
                <c:pt idx="43">
                  <c:v>51.001536</c:v>
                </c:pt>
                <c:pt idx="44">
                  <c:v>51.251536</c:v>
                </c:pt>
                <c:pt idx="45">
                  <c:v>51.501536</c:v>
                </c:pt>
                <c:pt idx="46">
                  <c:v>51.751536</c:v>
                </c:pt>
                <c:pt idx="47">
                  <c:v>52.001536</c:v>
                </c:pt>
                <c:pt idx="48">
                  <c:v>52.251536</c:v>
                </c:pt>
                <c:pt idx="49">
                  <c:v>52.501536</c:v>
                </c:pt>
                <c:pt idx="50">
                  <c:v>52.751536</c:v>
                </c:pt>
                <c:pt idx="51">
                  <c:v>53.001536</c:v>
                </c:pt>
                <c:pt idx="52">
                  <c:v>53.251536</c:v>
                </c:pt>
                <c:pt idx="53">
                  <c:v>53.501536</c:v>
                </c:pt>
                <c:pt idx="54">
                  <c:v>53.751536</c:v>
                </c:pt>
                <c:pt idx="55">
                  <c:v>54.001536</c:v>
                </c:pt>
                <c:pt idx="56">
                  <c:v>54.251536</c:v>
                </c:pt>
                <c:pt idx="57">
                  <c:v>54.501536</c:v>
                </c:pt>
                <c:pt idx="58">
                  <c:v>54.751536</c:v>
                </c:pt>
                <c:pt idx="59">
                  <c:v>55.001536</c:v>
                </c:pt>
                <c:pt idx="60">
                  <c:v>55.251536</c:v>
                </c:pt>
                <c:pt idx="61">
                  <c:v>55.501536</c:v>
                </c:pt>
              </c:numCache>
            </c:numRef>
          </c:xVal>
          <c:yVal>
            <c:numRef>
              <c:f>Sheet1!$B$2:$B$63</c:f>
              <c:numCache>
                <c:formatCode>General</c:formatCode>
                <c:ptCount val="62"/>
                <c:pt idx="0">
                  <c:v>17454.078125</c:v>
                </c:pt>
                <c:pt idx="1">
                  <c:v>13874.6298828125</c:v>
                </c:pt>
                <c:pt idx="2">
                  <c:v>16778.462890625</c:v>
                </c:pt>
                <c:pt idx="3">
                  <c:v>7308.74267578125</c:v>
                </c:pt>
                <c:pt idx="4">
                  <c:v>9809.7001953125</c:v>
                </c:pt>
                <c:pt idx="5">
                  <c:v>16018.2607421875</c:v>
                </c:pt>
                <c:pt idx="6">
                  <c:v>16826.751953125</c:v>
                </c:pt>
                <c:pt idx="7">
                  <c:v>17517.814453125</c:v>
                </c:pt>
                <c:pt idx="8">
                  <c:v>15894.4208984375</c:v>
                </c:pt>
                <c:pt idx="9">
                  <c:v>12682.1767578125</c:v>
                </c:pt>
                <c:pt idx="10">
                  <c:v>19481.455078125</c:v>
                </c:pt>
                <c:pt idx="11">
                  <c:v>11229.794921875</c:v>
                </c:pt>
                <c:pt idx="12">
                  <c:v>9848.6904296875</c:v>
                </c:pt>
                <c:pt idx="13">
                  <c:v>15861.99609375</c:v>
                </c:pt>
                <c:pt idx="14">
                  <c:v>12709.1748046875</c:v>
                </c:pt>
                <c:pt idx="15">
                  <c:v>17725.5546875</c:v>
                </c:pt>
                <c:pt idx="16">
                  <c:v>11488.314453125</c:v>
                </c:pt>
                <c:pt idx="17">
                  <c:v>17008.7109375</c:v>
                </c:pt>
                <c:pt idx="18">
                  <c:v>16399.79296875</c:v>
                </c:pt>
                <c:pt idx="19">
                  <c:v>17694.1015625</c:v>
                </c:pt>
                <c:pt idx="20">
                  <c:v>7676.0810546875</c:v>
                </c:pt>
                <c:pt idx="21">
                  <c:v>11592.3330078125</c:v>
                </c:pt>
                <c:pt idx="22">
                  <c:v>13145.6416015625</c:v>
                </c:pt>
                <c:pt idx="23">
                  <c:v>18467.71484375</c:v>
                </c:pt>
                <c:pt idx="24">
                  <c:v>14842.30859375</c:v>
                </c:pt>
                <c:pt idx="25">
                  <c:v>18354.69140625</c:v>
                </c:pt>
                <c:pt idx="26">
                  <c:v>21320.875</c:v>
                </c:pt>
                <c:pt idx="27">
                  <c:v>8429.443359375</c:v>
                </c:pt>
                <c:pt idx="28">
                  <c:v>18584.80078125</c:v>
                </c:pt>
                <c:pt idx="29">
                  <c:v>16621.169921875</c:v>
                </c:pt>
                <c:pt idx="30">
                  <c:v>21450.21484375</c:v>
                </c:pt>
                <c:pt idx="31">
                  <c:v>14121.33203125</c:v>
                </c:pt>
                <c:pt idx="32">
                  <c:v>20238.02734375</c:v>
                </c:pt>
                <c:pt idx="33">
                  <c:v>17219.90625</c:v>
                </c:pt>
                <c:pt idx="34">
                  <c:v>9763.4140625</c:v>
                </c:pt>
                <c:pt idx="35">
                  <c:v>15142.1669921875</c:v>
                </c:pt>
                <c:pt idx="36">
                  <c:v>10388.037109375</c:v>
                </c:pt>
                <c:pt idx="37">
                  <c:v>15346.1455078125</c:v>
                </c:pt>
                <c:pt idx="38">
                  <c:v>16625.1796875</c:v>
                </c:pt>
                <c:pt idx="39">
                  <c:v>15856.3076171875</c:v>
                </c:pt>
                <c:pt idx="40">
                  <c:v>11664.68359375</c:v>
                </c:pt>
                <c:pt idx="41">
                  <c:v>15668.6123046875</c:v>
                </c:pt>
                <c:pt idx="42">
                  <c:v>14915.0517578125</c:v>
                </c:pt>
                <c:pt idx="43">
                  <c:v>14801.4951171875</c:v>
                </c:pt>
                <c:pt idx="44">
                  <c:v>21029.640625</c:v>
                </c:pt>
                <c:pt idx="45">
                  <c:v>19044.015625</c:v>
                </c:pt>
                <c:pt idx="46">
                  <c:v>19284.419921875</c:v>
                </c:pt>
                <c:pt idx="47">
                  <c:v>12811.0791015625</c:v>
                </c:pt>
                <c:pt idx="48">
                  <c:v>20398.673828125</c:v>
                </c:pt>
                <c:pt idx="49">
                  <c:v>14455.1513671875</c:v>
                </c:pt>
                <c:pt idx="50">
                  <c:v>19173.89453125</c:v>
                </c:pt>
                <c:pt idx="51">
                  <c:v>14395.3349609375</c:v>
                </c:pt>
                <c:pt idx="52">
                  <c:v>14935.5478515625</c:v>
                </c:pt>
                <c:pt idx="53">
                  <c:v>14966.99609375</c:v>
                </c:pt>
                <c:pt idx="54">
                  <c:v>21539.568359375</c:v>
                </c:pt>
                <c:pt idx="55">
                  <c:v>15636.2236328125</c:v>
                </c:pt>
                <c:pt idx="56">
                  <c:v>14971.6396484375</c:v>
                </c:pt>
                <c:pt idx="57">
                  <c:v>12232.9375</c:v>
                </c:pt>
                <c:pt idx="58">
                  <c:v>14387.8984375</c:v>
                </c:pt>
                <c:pt idx="59">
                  <c:v>12609.83203125</c:v>
                </c:pt>
                <c:pt idx="60">
                  <c:v>19165.95703125</c:v>
                </c:pt>
                <c:pt idx="61">
                  <c:v>9012.431640625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Sheet1!$B$65</c:f>
              <c:strCache>
                <c:ptCount val="1"/>
                <c:pt idx="0">
                  <c:v>롤아웃 에피소드 리턴 (이동평균)</c:v>
                </c:pt>
              </c:strCache>
            </c:strRef>
          </c:tx>
          <c:spPr>
            <a:ln w="22225">
              <a:solidFill>
                <a:srgbClr val="0F2A44"/>
              </a:solidFill>
            </a:ln>
          </c:spPr>
          <c:marker>
            <c:symbol val="none"/>
          </c:marker>
          <c:xVal>
            <c:numRef>
              <c:f>Sheet1!$A$66:$A$145</c:f>
              <c:numCache>
                <c:formatCode>General</c:formatCode>
                <c:ptCount val="80"/>
                <c:pt idx="0">
                  <c:v>40.083456</c:v>
                </c:pt>
                <c:pt idx="1">
                  <c:v>40.280064</c:v>
                </c:pt>
                <c:pt idx="2">
                  <c:v>40.476672</c:v>
                </c:pt>
                <c:pt idx="3">
                  <c:v>40.67328</c:v>
                </c:pt>
                <c:pt idx="4">
                  <c:v>40.873984</c:v>
                </c:pt>
                <c:pt idx="5">
                  <c:v>41.070592</c:v>
                </c:pt>
                <c:pt idx="6">
                  <c:v>41.2672</c:v>
                </c:pt>
                <c:pt idx="7">
                  <c:v>41.467904</c:v>
                </c:pt>
                <c:pt idx="8">
                  <c:v>41.664512</c:v>
                </c:pt>
                <c:pt idx="9">
                  <c:v>41.86112</c:v>
                </c:pt>
                <c:pt idx="10">
                  <c:v>42.061824</c:v>
                </c:pt>
                <c:pt idx="11">
                  <c:v>42.258432</c:v>
                </c:pt>
                <c:pt idx="12">
                  <c:v>42.45504</c:v>
                </c:pt>
                <c:pt idx="13">
                  <c:v>42.655744</c:v>
                </c:pt>
                <c:pt idx="14">
                  <c:v>42.852352</c:v>
                </c:pt>
                <c:pt idx="15">
                  <c:v>43.04896</c:v>
                </c:pt>
                <c:pt idx="16">
                  <c:v>43.249664</c:v>
                </c:pt>
                <c:pt idx="17">
                  <c:v>43.446272</c:v>
                </c:pt>
                <c:pt idx="18">
                  <c:v>43.64288</c:v>
                </c:pt>
                <c:pt idx="19">
                  <c:v>43.843584</c:v>
                </c:pt>
                <c:pt idx="20">
                  <c:v>44.040192</c:v>
                </c:pt>
                <c:pt idx="21">
                  <c:v>44.2368</c:v>
                </c:pt>
                <c:pt idx="22">
                  <c:v>44.437504</c:v>
                </c:pt>
                <c:pt idx="23">
                  <c:v>44.634112</c:v>
                </c:pt>
                <c:pt idx="24">
                  <c:v>44.83072</c:v>
                </c:pt>
                <c:pt idx="25">
                  <c:v>45.031424</c:v>
                </c:pt>
                <c:pt idx="26">
                  <c:v>45.228032</c:v>
                </c:pt>
                <c:pt idx="27">
                  <c:v>45.42464</c:v>
                </c:pt>
                <c:pt idx="28">
                  <c:v>45.625344</c:v>
                </c:pt>
                <c:pt idx="29">
                  <c:v>45.821952</c:v>
                </c:pt>
                <c:pt idx="30">
                  <c:v>46.01856</c:v>
                </c:pt>
                <c:pt idx="31">
                  <c:v>46.219264</c:v>
                </c:pt>
                <c:pt idx="32">
                  <c:v>46.415872</c:v>
                </c:pt>
                <c:pt idx="33">
                  <c:v>46.61248</c:v>
                </c:pt>
                <c:pt idx="34">
                  <c:v>46.813184</c:v>
                </c:pt>
                <c:pt idx="35">
                  <c:v>47.009792</c:v>
                </c:pt>
                <c:pt idx="36">
                  <c:v>47.2064</c:v>
                </c:pt>
                <c:pt idx="37">
                  <c:v>47.407104</c:v>
                </c:pt>
                <c:pt idx="38">
                  <c:v>47.603712</c:v>
                </c:pt>
                <c:pt idx="39">
                  <c:v>47.80032</c:v>
                </c:pt>
                <c:pt idx="40">
                  <c:v>48.001024</c:v>
                </c:pt>
                <c:pt idx="41">
                  <c:v>48.197632</c:v>
                </c:pt>
                <c:pt idx="42">
                  <c:v>48.39424</c:v>
                </c:pt>
                <c:pt idx="43">
                  <c:v>48.594944</c:v>
                </c:pt>
                <c:pt idx="44">
                  <c:v>48.791552</c:v>
                </c:pt>
                <c:pt idx="45">
                  <c:v>48.98816</c:v>
                </c:pt>
                <c:pt idx="46">
                  <c:v>49.188864</c:v>
                </c:pt>
                <c:pt idx="47">
                  <c:v>49.385472</c:v>
                </c:pt>
                <c:pt idx="48">
                  <c:v>49.58208</c:v>
                </c:pt>
                <c:pt idx="49">
                  <c:v>49.782784</c:v>
                </c:pt>
                <c:pt idx="50">
                  <c:v>49.979392</c:v>
                </c:pt>
                <c:pt idx="51">
                  <c:v>50.176</c:v>
                </c:pt>
                <c:pt idx="52">
                  <c:v>50.376704</c:v>
                </c:pt>
                <c:pt idx="53">
                  <c:v>50.573312</c:v>
                </c:pt>
                <c:pt idx="54">
                  <c:v>50.76992</c:v>
                </c:pt>
                <c:pt idx="55">
                  <c:v>50.970624</c:v>
                </c:pt>
                <c:pt idx="56">
                  <c:v>51.167232</c:v>
                </c:pt>
                <c:pt idx="57">
                  <c:v>51.36384</c:v>
                </c:pt>
                <c:pt idx="58">
                  <c:v>51.564544</c:v>
                </c:pt>
                <c:pt idx="59">
                  <c:v>51.761152</c:v>
                </c:pt>
                <c:pt idx="60">
                  <c:v>51.95776</c:v>
                </c:pt>
                <c:pt idx="61">
                  <c:v>52.158464</c:v>
                </c:pt>
                <c:pt idx="62">
                  <c:v>52.355072</c:v>
                </c:pt>
                <c:pt idx="63">
                  <c:v>52.55168</c:v>
                </c:pt>
                <c:pt idx="64">
                  <c:v>52.752384</c:v>
                </c:pt>
                <c:pt idx="65">
                  <c:v>52.948992</c:v>
                </c:pt>
                <c:pt idx="66">
                  <c:v>53.1456</c:v>
                </c:pt>
                <c:pt idx="67">
                  <c:v>53.346304</c:v>
                </c:pt>
                <c:pt idx="68">
                  <c:v>53.542912</c:v>
                </c:pt>
                <c:pt idx="69">
                  <c:v>53.73952</c:v>
                </c:pt>
                <c:pt idx="70">
                  <c:v>53.940224</c:v>
                </c:pt>
                <c:pt idx="71">
                  <c:v>54.136832</c:v>
                </c:pt>
                <c:pt idx="72">
                  <c:v>54.33344</c:v>
                </c:pt>
                <c:pt idx="73">
                  <c:v>54.534144</c:v>
                </c:pt>
                <c:pt idx="74">
                  <c:v>54.730752</c:v>
                </c:pt>
                <c:pt idx="75">
                  <c:v>54.92736</c:v>
                </c:pt>
                <c:pt idx="76">
                  <c:v>55.128064</c:v>
                </c:pt>
                <c:pt idx="77">
                  <c:v>55.324672</c:v>
                </c:pt>
                <c:pt idx="78">
                  <c:v>55.52128</c:v>
                </c:pt>
                <c:pt idx="79">
                  <c:v>55.721984</c:v>
                </c:pt>
              </c:numCache>
            </c:numRef>
          </c:xVal>
          <c:yVal>
            <c:numRef>
              <c:f>Sheet1!$B$66:$B$145</c:f>
              <c:numCache>
                <c:formatCode>General</c:formatCode>
                <c:ptCount val="80"/>
                <c:pt idx="0">
                  <c:v>14777.316796875</c:v>
                </c:pt>
                <c:pt idx="1">
                  <c:v>12412.541796875</c:v>
                </c:pt>
                <c:pt idx="2">
                  <c:v>15354.621435546878</c:v>
                </c:pt>
                <c:pt idx="3">
                  <c:v>12289.653125</c:v>
                </c:pt>
                <c:pt idx="4">
                  <c:v>12319.595361328127</c:v>
                </c:pt>
                <c:pt idx="5">
                  <c:v>10283.380908203126</c:v>
                </c:pt>
                <c:pt idx="6">
                  <c:v>11267.485449218751</c:v>
                </c:pt>
                <c:pt idx="7">
                  <c:v>11783.495703125001</c:v>
                </c:pt>
                <c:pt idx="8">
                  <c:v>12880.67890625</c:v>
                </c:pt>
                <c:pt idx="9">
                  <c:v>12387.175927734375</c:v>
                </c:pt>
                <c:pt idx="10">
                  <c:v>12675.88046875</c:v>
                </c:pt>
                <c:pt idx="11">
                  <c:v>11864.827539062502</c:v>
                </c:pt>
                <c:pt idx="12">
                  <c:v>12037.40625</c:v>
                </c:pt>
                <c:pt idx="13">
                  <c:v>9744.884082031249</c:v>
                </c:pt>
                <c:pt idx="14">
                  <c:v>11848.612011718751</c:v>
                </c:pt>
                <c:pt idx="15">
                  <c:v>13437.60625</c:v>
                </c:pt>
                <c:pt idx="16">
                  <c:v>11271.688671875001</c:v>
                </c:pt>
                <c:pt idx="17">
                  <c:v>11805.020263671875</c:v>
                </c:pt>
                <c:pt idx="18">
                  <c:v>11031.275732421875</c:v>
                </c:pt>
                <c:pt idx="19">
                  <c:v>11896.747607421874</c:v>
                </c:pt>
                <c:pt idx="20">
                  <c:v>13833.97744140625</c:v>
                </c:pt>
                <c:pt idx="21">
                  <c:v>12462.131103515627</c:v>
                </c:pt>
                <c:pt idx="22">
                  <c:v>15549.994580078128</c:v>
                </c:pt>
                <c:pt idx="23">
                  <c:v>13334.278955078127</c:v>
                </c:pt>
                <c:pt idx="24">
                  <c:v>13887.98779296875</c:v>
                </c:pt>
                <c:pt idx="25">
                  <c:v>11194.032958984375</c:v>
                </c:pt>
                <c:pt idx="26">
                  <c:v>14127.322070312503</c:v>
                </c:pt>
                <c:pt idx="27">
                  <c:v>13993.958056640628</c:v>
                </c:pt>
                <c:pt idx="28">
                  <c:v>12317.877392578126</c:v>
                </c:pt>
                <c:pt idx="29">
                  <c:v>13315.145898437502</c:v>
                </c:pt>
                <c:pt idx="30">
                  <c:v>12210.870898437499</c:v>
                </c:pt>
                <c:pt idx="31">
                  <c:v>14381.876904296876</c:v>
                </c:pt>
                <c:pt idx="32">
                  <c:v>12951.977246093751</c:v>
                </c:pt>
                <c:pt idx="33">
                  <c:v>12111.520361328128</c:v>
                </c:pt>
                <c:pt idx="34">
                  <c:v>11793.094873046875</c:v>
                </c:pt>
                <c:pt idx="35">
                  <c:v>12083.14814453125</c:v>
                </c:pt>
                <c:pt idx="36">
                  <c:v>12024.339306640624</c:v>
                </c:pt>
                <c:pt idx="37">
                  <c:v>14613.893994140626</c:v>
                </c:pt>
                <c:pt idx="38">
                  <c:v>10924.2642578125</c:v>
                </c:pt>
                <c:pt idx="39">
                  <c:v>12963.734619140627</c:v>
                </c:pt>
                <c:pt idx="40">
                  <c:v>14308.428271484374</c:v>
                </c:pt>
                <c:pt idx="41">
                  <c:v>11815.705224609377</c:v>
                </c:pt>
                <c:pt idx="42">
                  <c:v>12320.89140625</c:v>
                </c:pt>
                <c:pt idx="43">
                  <c:v>13651.564208984377</c:v>
                </c:pt>
                <c:pt idx="44">
                  <c:v>14190.50126953125</c:v>
                </c:pt>
                <c:pt idx="45">
                  <c:v>15398.837353515626</c:v>
                </c:pt>
                <c:pt idx="46">
                  <c:v>14361.366992187503</c:v>
                </c:pt>
                <c:pt idx="47">
                  <c:v>11289.321777343752</c:v>
                </c:pt>
                <c:pt idx="48">
                  <c:v>14114.706054687502</c:v>
                </c:pt>
                <c:pt idx="49">
                  <c:v>15300.516601562502</c:v>
                </c:pt>
                <c:pt idx="50">
                  <c:v>14428.301660156252</c:v>
                </c:pt>
                <c:pt idx="51">
                  <c:v>12304.05205078125</c:v>
                </c:pt>
                <c:pt idx="52">
                  <c:v>12576.970068359376</c:v>
                </c:pt>
                <c:pt idx="53">
                  <c:v>15088.191503906251</c:v>
                </c:pt>
                <c:pt idx="54">
                  <c:v>14613.8244140625</c:v>
                </c:pt>
                <c:pt idx="55">
                  <c:v>15966.913964843747</c:v>
                </c:pt>
                <c:pt idx="56">
                  <c:v>15406.937695312501</c:v>
                </c:pt>
                <c:pt idx="57">
                  <c:v>14255.09267578125</c:v>
                </c:pt>
                <c:pt idx="58">
                  <c:v>12788.04287109375</c:v>
                </c:pt>
                <c:pt idx="59">
                  <c:v>15006.082861328126</c:v>
                </c:pt>
                <c:pt idx="60">
                  <c:v>13975.94091796875</c:v>
                </c:pt>
                <c:pt idx="61">
                  <c:v>12261.482128906247</c:v>
                </c:pt>
                <c:pt idx="62">
                  <c:v>12898.630566406251</c:v>
                </c:pt>
                <c:pt idx="63">
                  <c:v>13161.563818359375</c:v>
                </c:pt>
                <c:pt idx="64">
                  <c:v>13508.71884765625</c:v>
                </c:pt>
                <c:pt idx="65">
                  <c:v>14383.723632812502</c:v>
                </c:pt>
                <c:pt idx="66">
                  <c:v>15191.591650390628</c:v>
                </c:pt>
                <c:pt idx="67">
                  <c:v>14846.424853515626</c:v>
                </c:pt>
                <c:pt idx="68">
                  <c:v>14757.648535156251</c:v>
                </c:pt>
                <c:pt idx="69">
                  <c:v>13189.6150390625</c:v>
                </c:pt>
                <c:pt idx="70">
                  <c:v>13677.91591796875</c:v>
                </c:pt>
                <c:pt idx="71">
                  <c:v>15910.62001953125</c:v>
                </c:pt>
                <c:pt idx="72">
                  <c:v>14038.191650390625</c:v>
                </c:pt>
                <c:pt idx="73">
                  <c:v>14788.855126953125</c:v>
                </c:pt>
                <c:pt idx="74">
                  <c:v>14618.814404296874</c:v>
                </c:pt>
                <c:pt idx="75">
                  <c:v>13993.528417968753</c:v>
                </c:pt>
                <c:pt idx="76">
                  <c:v>15958.601220703129</c:v>
                </c:pt>
                <c:pt idx="77">
                  <c:v>14481.13671875</c:v>
                </c:pt>
                <c:pt idx="78">
                  <c:v>13510.581298828125</c:v>
                </c:pt>
                <c:pt idx="79">
                  <c:v>15737.540234375001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900"/>
                  <a:t>steps (M)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1F2933"/>
                </a:solidFill>
                <a:ea typeface="Malgun Gothic"/>
              </a:rPr>
              <a:t>approx_kl (target 0.04)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approx_kl (이동평균)</c:v>
                </c:pt>
              </c:strCache>
            </c:strRef>
          </c:tx>
          <c:spPr>
            <a:ln w="22225">
              <a:solidFill>
                <a:srgbClr val="E9A23B"/>
              </a:solidFill>
            </a:ln>
          </c:spPr>
          <c:marker>
            <c:symbol val="none"/>
          </c:marker>
          <c:xVal>
            <c:numRef>
              <c:f>Sheet1!$A$2:$A$81</c:f>
              <c:numCache>
                <c:formatCode>General</c:formatCode>
                <c:ptCount val="80"/>
                <c:pt idx="0">
                  <c:v>40.046592</c:v>
                </c:pt>
                <c:pt idx="1">
                  <c:v>40.2432</c:v>
                </c:pt>
                <c:pt idx="2">
                  <c:v>40.439808</c:v>
                </c:pt>
                <c:pt idx="3">
                  <c:v>40.640512</c:v>
                </c:pt>
                <c:pt idx="4">
                  <c:v>40.83712</c:v>
                </c:pt>
                <c:pt idx="5">
                  <c:v>41.037824</c:v>
                </c:pt>
                <c:pt idx="6">
                  <c:v>41.234432</c:v>
                </c:pt>
                <c:pt idx="7">
                  <c:v>41.435136</c:v>
                </c:pt>
                <c:pt idx="8">
                  <c:v>41.631744</c:v>
                </c:pt>
                <c:pt idx="9">
                  <c:v>41.828352</c:v>
                </c:pt>
                <c:pt idx="10">
                  <c:v>42.029056</c:v>
                </c:pt>
                <c:pt idx="11">
                  <c:v>42.225664</c:v>
                </c:pt>
                <c:pt idx="12">
                  <c:v>42.426368</c:v>
                </c:pt>
                <c:pt idx="13">
                  <c:v>42.622976</c:v>
                </c:pt>
                <c:pt idx="14">
                  <c:v>42.82368</c:v>
                </c:pt>
                <c:pt idx="15">
                  <c:v>43.020288</c:v>
                </c:pt>
                <c:pt idx="16">
                  <c:v>43.220992</c:v>
                </c:pt>
                <c:pt idx="17">
                  <c:v>43.4176</c:v>
                </c:pt>
                <c:pt idx="18">
                  <c:v>43.614208</c:v>
                </c:pt>
                <c:pt idx="19">
                  <c:v>43.814912</c:v>
                </c:pt>
                <c:pt idx="20">
                  <c:v>44.01152</c:v>
                </c:pt>
                <c:pt idx="21">
                  <c:v>44.212224</c:v>
                </c:pt>
                <c:pt idx="22">
                  <c:v>44.408832</c:v>
                </c:pt>
                <c:pt idx="23">
                  <c:v>44.609536</c:v>
                </c:pt>
                <c:pt idx="24">
                  <c:v>44.806144</c:v>
                </c:pt>
                <c:pt idx="25">
                  <c:v>45.006848</c:v>
                </c:pt>
                <c:pt idx="26">
                  <c:v>45.203456</c:v>
                </c:pt>
                <c:pt idx="27">
                  <c:v>45.400064</c:v>
                </c:pt>
                <c:pt idx="28">
                  <c:v>45.600768</c:v>
                </c:pt>
                <c:pt idx="29">
                  <c:v>45.797376</c:v>
                </c:pt>
                <c:pt idx="30">
                  <c:v>45.99808</c:v>
                </c:pt>
                <c:pt idx="31">
                  <c:v>46.194688</c:v>
                </c:pt>
                <c:pt idx="32">
                  <c:v>46.395392</c:v>
                </c:pt>
                <c:pt idx="33">
                  <c:v>46.592</c:v>
                </c:pt>
                <c:pt idx="34">
                  <c:v>46.792704</c:v>
                </c:pt>
                <c:pt idx="35">
                  <c:v>46.989312</c:v>
                </c:pt>
                <c:pt idx="36">
                  <c:v>47.18592</c:v>
                </c:pt>
                <c:pt idx="37">
                  <c:v>47.386624</c:v>
                </c:pt>
                <c:pt idx="38">
                  <c:v>47.583232</c:v>
                </c:pt>
                <c:pt idx="39">
                  <c:v>47.783936</c:v>
                </c:pt>
                <c:pt idx="40">
                  <c:v>47.980544</c:v>
                </c:pt>
                <c:pt idx="41">
                  <c:v>48.181248</c:v>
                </c:pt>
                <c:pt idx="42">
                  <c:v>48.377856</c:v>
                </c:pt>
                <c:pt idx="43">
                  <c:v>48.57856</c:v>
                </c:pt>
                <c:pt idx="44">
                  <c:v>48.775168</c:v>
                </c:pt>
                <c:pt idx="45">
                  <c:v>48.971776</c:v>
                </c:pt>
                <c:pt idx="46">
                  <c:v>49.17248</c:v>
                </c:pt>
                <c:pt idx="47">
                  <c:v>49.369088</c:v>
                </c:pt>
                <c:pt idx="48">
                  <c:v>49.569792</c:v>
                </c:pt>
                <c:pt idx="49">
                  <c:v>49.7664</c:v>
                </c:pt>
                <c:pt idx="50">
                  <c:v>49.967104</c:v>
                </c:pt>
                <c:pt idx="51">
                  <c:v>50.163712</c:v>
                </c:pt>
                <c:pt idx="52">
                  <c:v>50.364416</c:v>
                </c:pt>
                <c:pt idx="53">
                  <c:v>50.561024</c:v>
                </c:pt>
                <c:pt idx="54">
                  <c:v>50.757632</c:v>
                </c:pt>
                <c:pt idx="55">
                  <c:v>50.958336</c:v>
                </c:pt>
                <c:pt idx="56">
                  <c:v>51.154944</c:v>
                </c:pt>
                <c:pt idx="57">
                  <c:v>51.355648</c:v>
                </c:pt>
                <c:pt idx="58">
                  <c:v>51.552256</c:v>
                </c:pt>
                <c:pt idx="59">
                  <c:v>51.751536</c:v>
                </c:pt>
                <c:pt idx="60">
                  <c:v>51.949568</c:v>
                </c:pt>
                <c:pt idx="61">
                  <c:v>52.150272</c:v>
                </c:pt>
                <c:pt idx="62">
                  <c:v>52.34688</c:v>
                </c:pt>
                <c:pt idx="63">
                  <c:v>52.543488</c:v>
                </c:pt>
                <c:pt idx="64">
                  <c:v>52.744192</c:v>
                </c:pt>
                <c:pt idx="65">
                  <c:v>52.9408</c:v>
                </c:pt>
                <c:pt idx="66">
                  <c:v>53.141504</c:v>
                </c:pt>
                <c:pt idx="67">
                  <c:v>53.338112</c:v>
                </c:pt>
                <c:pt idx="68">
                  <c:v>53.538816</c:v>
                </c:pt>
                <c:pt idx="69">
                  <c:v>53.735424</c:v>
                </c:pt>
                <c:pt idx="70">
                  <c:v>53.936128</c:v>
                </c:pt>
                <c:pt idx="71">
                  <c:v>54.132736</c:v>
                </c:pt>
                <c:pt idx="72">
                  <c:v>54.329344</c:v>
                </c:pt>
                <c:pt idx="73">
                  <c:v>54.530048</c:v>
                </c:pt>
                <c:pt idx="74">
                  <c:v>54.726656</c:v>
                </c:pt>
                <c:pt idx="75">
                  <c:v>54.92736</c:v>
                </c:pt>
                <c:pt idx="76">
                  <c:v>55.123968</c:v>
                </c:pt>
                <c:pt idx="77">
                  <c:v>55.324672</c:v>
                </c:pt>
                <c:pt idx="78">
                  <c:v>55.52128</c:v>
                </c:pt>
                <c:pt idx="79">
                  <c:v>55.721984</c:v>
                </c:pt>
              </c:numCache>
            </c:numRef>
          </c:xVal>
          <c:yVal>
            <c:numRef>
              <c:f>Sheet1!$B$2:$B$81</c:f>
              <c:numCache>
                <c:formatCode>General</c:formatCode>
                <c:ptCount val="80"/>
                <c:pt idx="0">
                  <c:v>0.0023147298372350636</c:v>
                </c:pt>
                <c:pt idx="1">
                  <c:v>0.0018745702982414514</c:v>
                </c:pt>
                <c:pt idx="2">
                  <c:v>0.0027855377469677483</c:v>
                </c:pt>
                <c:pt idx="3">
                  <c:v>0.0018260342651046813</c:v>
                </c:pt>
                <c:pt idx="4">
                  <c:v>0.001520273817004636</c:v>
                </c:pt>
                <c:pt idx="5">
                  <c:v>0.0012216334929689766</c:v>
                </c:pt>
                <c:pt idx="6">
                  <c:v>0.0025540024798829113</c:v>
                </c:pt>
                <c:pt idx="7">
                  <c:v>0.0028904867940582335</c:v>
                </c:pt>
                <c:pt idx="8">
                  <c:v>0.003058079944457859</c:v>
                </c:pt>
                <c:pt idx="9">
                  <c:v>0.0014150466304272415</c:v>
                </c:pt>
                <c:pt idx="10">
                  <c:v>0.0012979289633221927</c:v>
                </c:pt>
                <c:pt idx="11">
                  <c:v>0.0016367876261938366</c:v>
                </c:pt>
                <c:pt idx="12">
                  <c:v>0.0018852491746656598</c:v>
                </c:pt>
                <c:pt idx="13">
                  <c:v>0.0014588696241844446</c:v>
                </c:pt>
                <c:pt idx="14">
                  <c:v>0.0033106338349170985</c:v>
                </c:pt>
                <c:pt idx="15">
                  <c:v>0.0041029736050404615</c:v>
                </c:pt>
                <c:pt idx="16">
                  <c:v>0.0055575598496943705</c:v>
                </c:pt>
                <c:pt idx="17">
                  <c:v>0.0030532139528077094</c:v>
                </c:pt>
                <c:pt idx="18">
                  <c:v>0.0017664398183114829</c:v>
                </c:pt>
                <c:pt idx="19">
                  <c:v>0.002906179102137685</c:v>
                </c:pt>
                <c:pt idx="20">
                  <c:v>0.002685007220134139</c:v>
                </c:pt>
                <c:pt idx="21">
                  <c:v>0.0015263913315720857</c:v>
                </c:pt>
                <c:pt idx="22">
                  <c:v>0.0025073552154935897</c:v>
                </c:pt>
                <c:pt idx="23">
                  <c:v>0.002959079452557489</c:v>
                </c:pt>
                <c:pt idx="24">
                  <c:v>0.0035419862135313454</c:v>
                </c:pt>
                <c:pt idx="25">
                  <c:v>0.002375281832064502</c:v>
                </c:pt>
                <c:pt idx="26">
                  <c:v>0.0036141699180006984</c:v>
                </c:pt>
                <c:pt idx="27">
                  <c:v>0.0017442912328988318</c:v>
                </c:pt>
                <c:pt idx="28">
                  <c:v>0.0014599619316868484</c:v>
                </c:pt>
                <c:pt idx="29">
                  <c:v>0.0021145510021597152</c:v>
                </c:pt>
                <c:pt idx="30">
                  <c:v>0.0028115636901929974</c:v>
                </c:pt>
                <c:pt idx="31">
                  <c:v>0.002222601877292618</c:v>
                </c:pt>
                <c:pt idx="32">
                  <c:v>0.0016001842333935202</c:v>
                </c:pt>
                <c:pt idx="33">
                  <c:v>0.0019960886798799037</c:v>
                </c:pt>
                <c:pt idx="34">
                  <c:v>0.0023051246884278954</c:v>
                </c:pt>
                <c:pt idx="35">
                  <c:v>0.001996452204184607</c:v>
                </c:pt>
                <c:pt idx="36">
                  <c:v>0.0028678413771558555</c:v>
                </c:pt>
                <c:pt idx="37">
                  <c:v>0.003682660148479045</c:v>
                </c:pt>
                <c:pt idx="38">
                  <c:v>0.0013746458163950593</c:v>
                </c:pt>
                <c:pt idx="39">
                  <c:v>0.002913626190274954</c:v>
                </c:pt>
                <c:pt idx="40">
                  <c:v>0.0022363529016729443</c:v>
                </c:pt>
                <c:pt idx="41">
                  <c:v>0.001094957021996379</c:v>
                </c:pt>
                <c:pt idx="42">
                  <c:v>0.0014934733335394412</c:v>
                </c:pt>
                <c:pt idx="43">
                  <c:v>0.0013911408779677006</c:v>
                </c:pt>
                <c:pt idx="44">
                  <c:v>0.0015468642057385295</c:v>
                </c:pt>
                <c:pt idx="45">
                  <c:v>0.004048186610452831</c:v>
                </c:pt>
                <c:pt idx="46">
                  <c:v>0.0021260432782582933</c:v>
                </c:pt>
                <c:pt idx="47">
                  <c:v>0.002523789019323886</c:v>
                </c:pt>
                <c:pt idx="48">
                  <c:v>0.0013641523488331585</c:v>
                </c:pt>
                <c:pt idx="49">
                  <c:v>0.003464856254868209</c:v>
                </c:pt>
                <c:pt idx="50">
                  <c:v>0.001982651010621339</c:v>
                </c:pt>
                <c:pt idx="51">
                  <c:v>0.0017822236812207852</c:v>
                </c:pt>
                <c:pt idx="52">
                  <c:v>0.003076177084585652</c:v>
                </c:pt>
                <c:pt idx="53">
                  <c:v>0.005211660801433027</c:v>
                </c:pt>
                <c:pt idx="54">
                  <c:v>0.0022833853261545302</c:v>
                </c:pt>
                <c:pt idx="55">
                  <c:v>0.002720272226724774</c:v>
                </c:pt>
                <c:pt idx="56">
                  <c:v>0.003647675761021674</c:v>
                </c:pt>
                <c:pt idx="57">
                  <c:v>0.002030128997284919</c:v>
                </c:pt>
                <c:pt idx="58">
                  <c:v>0.0027526143239811063</c:v>
                </c:pt>
                <c:pt idx="59">
                  <c:v>0.003634292015340179</c:v>
                </c:pt>
                <c:pt idx="60">
                  <c:v>0.0032254529884085054</c:v>
                </c:pt>
                <c:pt idx="61">
                  <c:v>0.0033531466266140345</c:v>
                </c:pt>
                <c:pt idx="62">
                  <c:v>0.0017582698725163938</c:v>
                </c:pt>
                <c:pt idx="63">
                  <c:v>0.002928442426491529</c:v>
                </c:pt>
                <c:pt idx="64">
                  <c:v>0.0030729747028090063</c:v>
                </c:pt>
                <c:pt idx="65">
                  <c:v>0.002104823512490839</c:v>
                </c:pt>
                <c:pt idx="66">
                  <c:v>0.002693191671278328</c:v>
                </c:pt>
                <c:pt idx="67">
                  <c:v>0.0019087690248852597</c:v>
                </c:pt>
                <c:pt idx="68">
                  <c:v>0.0038768466562032703</c:v>
                </c:pt>
                <c:pt idx="69">
                  <c:v>0.001930431480286643</c:v>
                </c:pt>
                <c:pt idx="70">
                  <c:v>0.0026151958212722094</c:v>
                </c:pt>
                <c:pt idx="71">
                  <c:v>0.00249732033116743</c:v>
                </c:pt>
                <c:pt idx="72">
                  <c:v>0.0029560851398855448</c:v>
                </c:pt>
                <c:pt idx="73">
                  <c:v>0.0023757704300805932</c:v>
                </c:pt>
                <c:pt idx="74">
                  <c:v>0.0030427115620113906</c:v>
                </c:pt>
                <c:pt idx="75">
                  <c:v>0.0015551232529105621</c:v>
                </c:pt>
                <c:pt idx="76">
                  <c:v>0.002122648508520797</c:v>
                </c:pt>
                <c:pt idx="77">
                  <c:v>0.002970259287394583</c:v>
                </c:pt>
                <c:pt idx="78">
                  <c:v>0.0017840842541772875</c:v>
                </c:pt>
                <c:pt idx="79">
                  <c:v>0.0017453339358326047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900"/>
                  <a:t>steps (M)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in val="0.0"/>
        </c:scaling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2933"/>
                </a:solidFill>
                <a:ea typeface="Malgun Gothic"/>
              </a:rPr>
              <a:t>CTE 평균 (m)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전문가 스위칭+xfade</c:v>
                </c:pt>
              </c:strCache>
            </c:strRef>
          </c:tx>
          <c:spPr>
            <a:solidFill>
              <a:srgbClr val="0F2A44"/>
            </a:solidFill>
          </c:spPr>
          <c:cat>
            <c:strRef>
              <c:f>Sheet1!$A$2:$A$4</c:f>
              <c:strCache>
                <c:ptCount val="3"/>
                <c:pt idx="0">
                  <c:v>square</c:v>
                </c:pt>
                <c:pt idx="1">
                  <c:v>star</c:v>
                </c:pt>
                <c:pt idx="2">
                  <c:v>gauntlet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0.193</c:v>
                </c:pt>
                <c:pt idx="1">
                  <c:v>0.334</c:v>
                </c:pt>
                <c:pt idx="2">
                  <c:v>0.345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통합 정책</c:v>
                </c:pt>
              </c:strCache>
            </c:strRef>
          </c:tx>
          <c:spPr>
            <a:solidFill>
              <a:srgbClr val="2EC4B6"/>
            </a:solidFill>
          </c:spPr>
          <c:cat>
            <c:strRef>
              <c:f>Sheet1!$A$2:$A$4</c:f>
              <c:strCache>
                <c:ptCount val="3"/>
                <c:pt idx="0">
                  <c:v>square</c:v>
                </c:pt>
                <c:pt idx="1">
                  <c:v>star</c:v>
                </c:pt>
                <c:pt idx="2">
                  <c:v>gauntlet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0.18</c:v>
                </c:pt>
                <c:pt idx="1">
                  <c:v>0.343</c:v>
                </c:pt>
                <c:pt idx="2">
                  <c:v>0.253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8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2933"/>
                </a:solidFill>
                <a:ea typeface="Malgun Gothic"/>
              </a:rPr>
              <a:t>완주 시간 (s)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전문가 스위칭+xfade</c:v>
                </c:pt>
              </c:strCache>
            </c:strRef>
          </c:tx>
          <c:spPr>
            <a:solidFill>
              <a:srgbClr val="0F2A44"/>
            </a:solidFill>
          </c:spPr>
          <c:cat>
            <c:strRef>
              <c:f>Sheet1!$A$2:$A$4</c:f>
              <c:strCache>
                <c:ptCount val="3"/>
                <c:pt idx="0">
                  <c:v>square</c:v>
                </c:pt>
                <c:pt idx="1">
                  <c:v>star</c:v>
                </c:pt>
                <c:pt idx="2">
                  <c:v>gauntlet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20.0</c:v>
                </c:pt>
                <c:pt idx="1">
                  <c:v>42.5</c:v>
                </c:pt>
                <c:pt idx="2">
                  <c:v>128.8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통합 정책</c:v>
                </c:pt>
              </c:strCache>
            </c:strRef>
          </c:tx>
          <c:spPr>
            <a:solidFill>
              <a:srgbClr val="2EC4B6"/>
            </a:solidFill>
          </c:spPr>
          <c:cat>
            <c:strRef>
              <c:f>Sheet1!$A$2:$A$4</c:f>
              <c:strCache>
                <c:ptCount val="3"/>
                <c:pt idx="0">
                  <c:v>square</c:v>
                </c:pt>
                <c:pt idx="1">
                  <c:v>star</c:v>
                </c:pt>
                <c:pt idx="2">
                  <c:v>gauntlet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37.5</c:v>
                </c:pt>
                <c:pt idx="1">
                  <c:v>58.8</c:v>
                </c:pt>
                <c:pt idx="2">
                  <c:v>58.8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 덱은 2026-09-08~09 이틀간 진행한 실험(경로 추종 데모, 전환 메커니즘, 증류, 전환 학습)을 흐름대로 정리한다. 수치는 CLAUDE_CHANGES.md와 TRAINING_HISTORY.txt 기록값.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1.5M 부근 KL 0.033·clip 0.24·EV≈0의 과도기(보상 분포 변화에 critic 지연)가 있었으나 4M 이후 회복. 정책 std는 0.301로 고정(ent_coef 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microsoft.com/office/2007/relationships/media" Target="../media/media4.mp4"/><Relationship Id="rId6" Type="http://schemas.openxmlformats.org/officeDocument/2006/relationships/video" Target="../media/media4.mp4"/><Relationship Id="rId7" Type="http://schemas.openxmlformats.org/officeDocument/2006/relationships/image" Target="../media/image4.png"/><Relationship Id="rId8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Relationship Id="rId5" Type="http://schemas.microsoft.com/office/2007/relationships/media" Target="../media/media6.mp4"/><Relationship Id="rId6" Type="http://schemas.openxmlformats.org/officeDocument/2006/relationships/video" Target="../media/media6.mp4"/><Relationship Id="rId7" Type="http://schemas.openxmlformats.org/officeDocument/2006/relationships/image" Target="../media/image6.png"/><Relationship Id="rId8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Relationship Id="rId6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microsoft.com/office/2007/relationships/media" Target="../media/media8.mp4"/><Relationship Id="rId5" Type="http://schemas.openxmlformats.org/officeDocument/2006/relationships/video" Target="../media/media8.mp4"/><Relationship Id="rId6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10.png"/><Relationship Id="rId5" Type="http://schemas.microsoft.com/office/2007/relationships/media" Target="../media/media10.mp4"/><Relationship Id="rId6" Type="http://schemas.openxmlformats.org/officeDocument/2006/relationships/video" Target="../media/media10.mp4"/><Relationship Id="rId7" Type="http://schemas.openxmlformats.org/officeDocument/2006/relationships/image" Target="../media/image11.png"/><Relationship Id="rId8" Type="http://schemas.microsoft.com/office/2007/relationships/media" Target="../media/media11.mp4"/><Relationship Id="rId9" Type="http://schemas.openxmlformats.org/officeDocument/2006/relationships/video" Target="../media/media11.mp4"/><Relationship Id="rId10" Type="http://schemas.openxmlformats.org/officeDocument/2006/relationships/image" Target="../media/image12.png"/><Relationship Id="rId11" Type="http://schemas.openxmlformats.org/officeDocument/2006/relationships/chart" Target="../charts/chart11.xml"/><Relationship Id="rId12" Type="http://schemas.openxmlformats.org/officeDocument/2006/relationships/chart" Target="../charts/char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  <a:ea typeface="Malgun Gothic"/>
              </a:rPr>
              <a:t>연구 흐름 정리 · 2026-09-08 ~ 09-09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  <a:ea typeface="Malgun Gothic"/>
              </a:rPr>
              <a:t>Horcrux v2 뱀 로봇:
경로 추종에서 gait 전환 학습까지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12801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  <a:ea typeface="Malgun Gothic"/>
              </a:rPr>
              <a:t>전문가 10명 → 경로 추종 데모 → 전환 메커니즘 → 전문가 증류 → 전환 커리큘럼 RL → 통합 정책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8FA8C4"/>
                </a:solidFill>
                <a:latin typeface="Calibri"/>
                <a:ea typeface="Malgun Gothic"/>
              </a:rPr>
              <a:t>Gait Decomposition(GD) 패러다임 · MuJoCo 14-DOF · PPO(SB3) · DGIST BRM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0F2A44"/>
                </a:solidFill>
                <a:latin typeface="Calibri"/>
                <a:ea typeface="Malgun Gothic"/>
              </a:rPr>
              <a:t>연구 흐름 한눈에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  <a:ea typeface="Malgun Gothic"/>
              </a:rPr>
              <a:t>여덟 단계 — 각 단계의 질문과 얻은 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686050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581912"/>
            <a:ext cx="1981962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0F2A44"/>
                </a:solidFill>
                <a:latin typeface="Calibri"/>
                <a:ea typeface="Malgun Gothic"/>
              </a:rPr>
              <a:t>전문가 로스터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2411730" cy="8229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8방위 + CW/CCW 회전 정책 10개, 3-stage KL 튜닝 레시피로 각 ~85M 스텝 학습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6130" y="1463040"/>
            <a:ext cx="2686050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63290" y="1600200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8778" y="1581912"/>
            <a:ext cx="1981962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0F2A44"/>
                </a:solidFill>
                <a:latin typeface="Calibri"/>
                <a:ea typeface="Malgun Gothic"/>
              </a:rPr>
              <a:t>경로 추종 데모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3290" y="2029968"/>
            <a:ext cx="2411730" cy="8229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웨이포인트 커맨더가 전문가를 스위칭 — 사각형·별 경로 완주 (CTE 0.19 / 0.33 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9340" y="1463040"/>
            <a:ext cx="2686050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86500" y="1600200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1988" y="1581912"/>
            <a:ext cx="1981962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0F2A44"/>
                </a:solidFill>
                <a:latin typeface="Calibri"/>
                <a:ea typeface="Malgun Gothic"/>
              </a:rPr>
              <a:t>전환 문제 발견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2029968"/>
            <a:ext cx="2411730" cy="8229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"backward/right 정책 문제" → 진짜 원인은 gait 교체 순간의 위상 충돌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2550" y="1463040"/>
            <a:ext cx="2686050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09710" y="1600200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5198" y="1581912"/>
            <a:ext cx="1981962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0F2A44"/>
                </a:solidFill>
                <a:latin typeface="Calibri"/>
                <a:ea typeface="Malgun Gothic"/>
              </a:rPr>
              <a:t>전환 메커니즘 탐구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9710" y="2029968"/>
            <a:ext cx="2411730" cy="8229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페이드 → 위상 정렬 → 위험쌍 align+크로스페이드 하이브리드 (음성 결과 3건 포함)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337560"/>
            <a:ext cx="2686050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474720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456432"/>
            <a:ext cx="1981962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0F2A44"/>
                </a:solidFill>
                <a:latin typeface="Calibri"/>
                <a:ea typeface="Malgun Gothic"/>
              </a:rPr>
              <a:t>방위 화살표 렌더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04487"/>
            <a:ext cx="2411730" cy="8229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웨이포인트 목표 방위 vs 로봇 yaw 시각화 — 회전 미반영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6130" y="3337560"/>
            <a:ext cx="2686050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63290" y="3474720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8778" y="3456432"/>
            <a:ext cx="1981962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0F2A44"/>
                </a:solidFill>
                <a:latin typeface="Calibri"/>
                <a:ea typeface="Malgun Gothic"/>
              </a:rPr>
              <a:t>전문가 증류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3290" y="3904487"/>
            <a:ext cx="2411730" cy="8229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BC + DART 노이즈 + DAgger 4회 → 9/10 명령 전문가 대비 0.95~1.01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9340" y="3337560"/>
            <a:ext cx="2686050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86500" y="3474720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1988" y="3456432"/>
            <a:ext cx="1981962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0F2A44"/>
                </a:solidFill>
                <a:latin typeface="Calibri"/>
                <a:ea typeface="Malgun Gothic"/>
              </a:rPr>
              <a:t>전환 커리큘럼 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6500" y="3904487"/>
            <a:ext cx="2411730" cy="8229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무작위 90쌍·시점·위상 전환, 앵커 근접 보상 설계 — Stage 1 완료, Stage 2 진행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72550" y="3337560"/>
            <a:ext cx="2686050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09710" y="3474720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5198" y="3456432"/>
            <a:ext cx="1981962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0F2A44"/>
                </a:solidFill>
                <a:latin typeface="Calibri"/>
                <a:ea typeface="Malgun Gothic"/>
              </a:rPr>
              <a:t>통합 정책 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09710" y="3904487"/>
            <a:ext cx="2411730" cy="8229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정책 하나로 경로 추종: gauntlet CTE −27%, 전환 1/3, 시간 절반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34924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440680"/>
            <a:ext cx="10789920" cy="7772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2EC4B6"/>
                </a:solidFill>
                <a:latin typeface="Calibri"/>
                <a:ea typeface="Malgun Gothic"/>
              </a:rPr>
              <a:t>핵심 메시지  </a:t>
            </a:r>
            <a:r>
              <a:rPr sz="1300" b="0" i="0">
                <a:solidFill>
                  <a:srgbClr val="FFFFFF"/>
                </a:solidFill>
                <a:latin typeface="Calibri"/>
                <a:ea typeface="Malgun Gothic"/>
              </a:rPr>
              <a:t>GD 패러다임에서 "방향은 gait, 세기는 정책"이므로 전환의 본질은 gait 부호 패턴의 연속성이다. </a:t>
            </a:r>
            <a:r>
              <a:rPr sz="1300" b="0" i="0">
                <a:solidFill>
                  <a:srgbClr val="FFFFFF"/>
                </a:solidFill>
                <a:latin typeface="Calibri"/>
                <a:ea typeface="Malgun Gothic"/>
              </a:rPr>
              <a:t>외부 메커니즘(위상 정렬)으로 그 연속성을 확보한 뒤, 정책 자체가 전환을 흡수하도록 학습시키는 것이 본 연구의 흐름이다.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0F2A44"/>
                </a:solidFill>
                <a:latin typeface="Calibri"/>
                <a:ea typeface="Malgun Gothic"/>
              </a:rPr>
              <a:t>배경: GD 패러다임, 전문가 로스터, 튜닝 레시피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657600" cy="23317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3291840" cy="3200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0F2A44"/>
                </a:solidFill>
                <a:latin typeface="Calibri"/>
                <a:ea typeface="Malgun Gothic"/>
              </a:rPr>
              <a:t>Gait Decomposition (GD)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914400" cy="100584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9144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Malgun Gothic"/>
              </a:rPr>
              <a:t>정책 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12848"/>
            <a:ext cx="914400" cy="64008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FFFFFF"/>
                </a:solidFill>
                <a:latin typeface="Calibri"/>
                <a:ea typeface="Malgun Gothic"/>
              </a:rPr>
              <a:t>진폭 a ∈ [0, 2.7]¹⁴
(얼마나 세게)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48840"/>
            <a:ext cx="320040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000" b="1" i="0">
                <a:solidFill>
                  <a:srgbClr val="5C6B7A"/>
                </a:solidFill>
                <a:latin typeface="Calibri"/>
                <a:ea typeface="Malgun Gothic"/>
              </a:rPr>
              <a:t>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1874519"/>
            <a:ext cx="914400" cy="1005840"/>
          </a:xfrm>
          <a:prstGeom prst="roundRect">
            <a:avLst>
              <a:gd name="adj" fmla="val 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1920240"/>
            <a:ext cx="9144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Malgun Gothic"/>
              </a:rPr>
              <a:t>gait 부호 패턴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212848"/>
            <a:ext cx="914400" cy="64008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FFFFFF"/>
                </a:solidFill>
                <a:latin typeface="Calibri"/>
                <a:ea typeface="Malgun Gothic"/>
              </a:rPr>
              <a:t>motion vector ±1
(어느 방향, 매 스텝 위상 진행)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48840"/>
            <a:ext cx="320040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000" b="1" i="0">
                <a:solidFill>
                  <a:srgbClr val="5C6B7A"/>
                </a:solidFill>
                <a:latin typeface="Calibri"/>
                <a:ea typeface="Malgun Gothic"/>
              </a:rPr>
              <a:t>=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874519"/>
            <a:ext cx="914400" cy="1005840"/>
          </a:xfrm>
          <a:prstGeom prst="roundRect">
            <a:avLst>
              <a:gd name="adj" fmla="val 6000"/>
            </a:avLst>
          </a:prstGeom>
          <a:solidFill>
            <a:srgbClr val="1A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920240"/>
            <a:ext cx="9144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Malgun Gothic"/>
              </a:rPr>
              <a:t>관절 토크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212848"/>
            <a:ext cx="914400" cy="64008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FFFFFF"/>
                </a:solidFill>
                <a:latin typeface="Calibri"/>
                <a:ea typeface="Malgun Gothic"/>
              </a:rPr>
              <a:t>τ = a ⊙ mvec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71800"/>
            <a:ext cx="3291840" cy="7315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5C6B7A"/>
                </a:solidFill>
                <a:latin typeface="Calibri"/>
                <a:ea typeface="Malgun Gothic"/>
              </a:rPr>
              <a:t>정책은 진폭만, gait는 부호만 — 전환 시 관절 토크 부호가 바뀌는 순간이 곧 문제의 근원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434840" y="1371600"/>
          <a:ext cx="7223760" cy="233172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051560"/>
                <a:gridCol w="1051560"/>
                <a:gridCol w="1508760"/>
                <a:gridCol w="1051560"/>
                <a:gridCol w="1051560"/>
                <a:gridCol w="1508760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명령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joy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gait δ (역재생)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명령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joy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gait δ (역재생)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forward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(1, 0)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backward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(−1, 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 (역)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left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(0, 1)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45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diag_bl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(−.71, .71)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203 (역)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right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(0, −1)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225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diag_br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(−.71, −.71)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23 (역)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diag_fl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(.71, .71)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23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ccw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yaw +1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315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diag_fr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(.71, −.71)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203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cw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yaw −1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434840" y="3749039"/>
            <a:ext cx="722376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C6B7A"/>
                </a:solidFill>
                <a:latin typeface="Calibri"/>
                <a:ea typeface="Malgun Gothic"/>
              </a:rPr>
              <a:t>공통 진폭/시간 파라미터 (30, 30, 40, 40). gait 대수: y-거울 = δ+180°, 후진 계열 = 반대 전진 gait의 시간 역재생.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6052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51960"/>
            <a:ext cx="5120640" cy="3200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F2A44"/>
                </a:solidFill>
                <a:latin typeface="Calibri"/>
                <a:ea typeface="Malgun Gothic"/>
              </a:rPr>
              <a:t>검증된 3-stage KL 튜닝 레시피 (10개 계보에서 재현)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617720"/>
            <a:ext cx="5120640" cy="16459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Stage 1: lr 1e-4, n_epochs 2, target_kl 0.04 → 말기 approx_kl ≪ 0.01이면 "KL 유휴"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Stage 2: n_epochs 3 → KL이 0.04에 붙으면 "포화"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Stage 3: lr 5e-5 (연장 시 2.5e-5) — 정책을 흔들지 않는 옵티마이저 수준 조정만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모델과 VecNormalize 통계는 항상 쌍으로 보관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16052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251960"/>
            <a:ext cx="5120640" cy="3200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F2A44"/>
                </a:solidFill>
                <a:latin typeface="Calibri"/>
                <a:ea typeface="Malgun Gothic"/>
              </a:rPr>
              <a:t>회전 정책 v2 "안정 우선" 설계 (CW/CCW)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617720"/>
            <a:ext cx="5120640" cy="16459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속도보다 속도의 안정: 45·clip(부호·yaw_vel, ±0.5) + 과속 페널티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앵커: 시작점 0.2 m 이탈이 60스텝 지속되면 실패, 포화 앵커 비용 50·min(d, 2)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종료 페널티 −1000 + γ 0.99 (v1의 무한 비용은 critic 붕괴 → 포화 비용으로 교정)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is_terminated 이중 호출 결함 수정 (스텝당 1회 카운터)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  <a:ea typeface="Malgun Gothic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  <a:ea typeface="Malgun Gothic"/>
              </a:rPr>
              <a:t>Part 1. 경로 추종 데모와
전환 메커니즘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12801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  <a:ea typeface="Malgun Gothic"/>
              </a:rPr>
              <a:t>전문가 10명을 스위칭해 사각형·별을 그린다 — 그리고 전환의 물리를 이해한다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0F2A44"/>
                </a:solidFill>
                <a:latin typeface="Calibri"/>
                <a:ea typeface="Malgun Gothic"/>
              </a:rPr>
              <a:t>경로 추종 데모: 웨이포인트 커맨더 + 전문가 스위칭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  <a:ea typeface="Malgun Gothic"/>
              </a:rPr>
              <a:t>뱀 로봇에게 고전적으로 어려웠던 사각형·별 경로를 GD 전문가 10명으로 주행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8737"/>
            <a:ext cx="5852159" cy="3331845"/>
          </a:xfrm>
          <a:prstGeom prst="roundRect">
            <a:avLst>
              <a:gd name="adj" fmla="val 3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ath_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920" y="1374457"/>
            <a:ext cx="5760720" cy="3240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669726"/>
            <a:ext cx="5760720" cy="292608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5C6B7A"/>
                </a:solidFill>
                <a:latin typeface="Calibri"/>
                <a:ea typeface="Malgun Gothic"/>
              </a:rPr>
              <a:t>▶ 사각형 2 m (전문가 스위칭, 방위 화살표 렌더 포함)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371600"/>
            <a:ext cx="5120640" cy="201168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 i="0">
                <a:solidFill>
                  <a:srgbClr val="0F2A44"/>
                </a:solidFill>
                <a:latin typeface="Calibri"/>
                <a:ea typeface="Malgun Gothic"/>
              </a:rPr>
              <a:t>커맨더 (pure-pursuit식)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목표 방향을 몸통 좌표계에서 8-명령으로 양자화, 제어 주기 25스텝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34° 각도 히스테리시스(채터링 방지), capture 0.35 m, 근접 동결 0.85 m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 i="0">
                <a:solidFill>
                  <a:srgbClr val="0F2A44"/>
                </a:solidFill>
                <a:latin typeface="Calibri"/>
                <a:ea typeface="Malgun Gothic"/>
              </a:rPr>
              <a:t>시각화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fovy 80° 광각 + CoM 추적 카메라, 웨이포인트(도달 시 어둡게), 궤적 점열(현재 구간 진하게)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3520440"/>
            <a:ext cx="5120640" cy="1098194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3593592"/>
            <a:ext cx="484632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A9E92"/>
                </a:solidFill>
                <a:latin typeface="Calibri"/>
                <a:ea typeface="Malgun Gothic"/>
              </a:rPr>
              <a:t>의도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849624"/>
            <a:ext cx="4846320" cy="732434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10명 전문가 + 고전 추종기로 사전 계획 경로가 주행 가능한지 확인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결과를 영상(녹화)과 궤적 그림으로 남겨 실험 재현성 확보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4728362"/>
            <a:ext cx="5120640" cy="1580997"/>
          </a:xfrm>
          <a:prstGeom prst="roundRect">
            <a:avLst>
              <a:gd name="adj" fmla="val 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801514"/>
            <a:ext cx="484632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EC4B6"/>
                </a:solidFill>
                <a:latin typeface="Calibri"/>
                <a:ea typeface="Malgun Gothic"/>
              </a:rPr>
              <a:t>결과 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5057546"/>
            <a:ext cx="4846320" cy="1215237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사각형 CTE 평균 0.193 m / 전환 5회 / 20 s 완주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별(5각 한붓그리기) 0.334 m / 전환 10회 완주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카메라·마커 요구 4건 반영 (광각, CoM 추적, 웨이포인트, 궤적)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29200"/>
            <a:ext cx="5760720" cy="12801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0F2A44"/>
                </a:solidFill>
                <a:latin typeface="Calibri"/>
                <a:ea typeface="Malgun Gothic"/>
              </a:rPr>
              <a:t>산출물 규약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runs/path_follow_demo/&lt;시각&gt;_&lt;경로&gt;/ : path_demo.mp4, trajectory.png, result.txt(실험 요약 헤더 + CTE/완주/전환)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result.txt 헤더는 "어떤 실험이었는지" 5줄 요약 — 로그 누적 시 식별용 (요청 반영)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0F2A44"/>
                </a:solidFill>
                <a:latin typeface="Calibri"/>
                <a:ea typeface="Malgun Gothic"/>
              </a:rPr>
              <a:t>문제 발견: 정책이 아니라 전환이 원인이었다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  <a:ea typeface="Malgun Gothic"/>
              </a:rPr>
              <a:t>"backward·right 정책이 이상하다"는 사각형 경로 관찰에서 출발한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6949440" cy="237744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554480"/>
                <a:gridCol w="2743200"/>
                <a:gridCol w="265176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단계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관찰 / 조치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결과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전문가 단독 검증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backward, right 정책을 고정 명령으로 주행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방향 오차 ±1.5° — 정책은 정상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전환 진단 (56 순서쌍)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기존 set_gait: 위상 비율 보존 교체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12/56 쌍 붕괴, yaw 최대 160° 뒤집힘 (거울쌍 최악)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k=0 재시작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새 gait를 주기 시작 위상에서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7쌍 해결, 3쌍 잔존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잔존 위험쌍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diag_bl→right / diag_bl→diag_fr / diag_br→diag_fl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152° / 61° / 156° (역재생→순재생, 부호 정면 충돌)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3931920"/>
            <a:ext cx="6949440" cy="23774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6583680" cy="21945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F2A44"/>
                </a:solidFill>
                <a:latin typeface="Calibri"/>
                <a:ea typeface="Malgun Gothic"/>
              </a:rPr>
              <a:t>왜 거울쌍·역재생쌍이 위험한가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GD에서 방향은 gait 부호 패턴이 결정한다. 후진 계열은 전진 gait의 시간 역재생이라, 전환 순간 여러 관절의 토크 부호가 동시에 뒤집힌다.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정책(진폭)은 관측의 motion vector로 gait를 알지만, 몸통은 이전 패턴의 관성을 갖고 있어 부호 충돌이 곧 전복으로 이어진다.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즉 전환 문제 = "연속된 두 gait 사이의 위상·부호 정합" 문제로 재정의됨 → Part 1의 나머지는 이 정합을 만드는 방법 탐구.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371600"/>
            <a:ext cx="3977639" cy="2000707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444752"/>
            <a:ext cx="370332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A9E92"/>
                </a:solidFill>
                <a:latin typeface="Calibri"/>
                <a:ea typeface="Malgun Gothic"/>
              </a:rPr>
              <a:t>의도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700784"/>
            <a:ext cx="3703320" cy="1634947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사용자 관찰("backward/right 정책 문제")의 진위 확인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정책 vs 전환 메커니즘 중 어디가 원인인지 분리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482035"/>
            <a:ext cx="3977639" cy="2827324"/>
          </a:xfrm>
          <a:prstGeom prst="roundRect">
            <a:avLst>
              <a:gd name="adj" fmla="val 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3555187"/>
            <a:ext cx="370332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EC4B6"/>
                </a:solidFill>
                <a:latin typeface="Calibri"/>
                <a:ea typeface="Malgun Gothic"/>
              </a:rPr>
              <a:t>결과 요약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811219"/>
            <a:ext cx="3703320" cy="2461564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전문가는 무죄 — 원인은 gait 교체 순간의 위상 처리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k=0 재시작만으로 12쌍 중 9쌍 해결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역재생↔순재생 3쌍이 남아 별도 메커니즘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0F2A44"/>
                </a:solidFill>
                <a:latin typeface="Calibri"/>
                <a:ea typeface="Malgun Gothic"/>
              </a:rPr>
              <a:t>전환 메커니즘 ①: 행동 블렌딩 실패 → 에너지 페이드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  <a:ea typeface="Malgun Gothic"/>
              </a:rPr>
              <a:t>통신의 소프트 핸드오프처럼 두 정책의 행동을 섞자는 제안에서 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759" y="1280160"/>
            <a:ext cx="4886960" cy="2788920"/>
          </a:xfrm>
          <a:prstGeom prst="roundRect">
            <a:avLst>
              <a:gd name="adj" fmla="val 3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bl_to_right_fade_1p25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65479" y="1325880"/>
            <a:ext cx="4795520" cy="2697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5479" y="4078224"/>
            <a:ext cx="4795520" cy="292608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5C6B7A"/>
                </a:solidFill>
                <a:latin typeface="Calibri"/>
                <a:ea typeface="Malgun Gothic"/>
              </a:rPr>
              <a:t>▶ diag_bl → right, 에너지 페이드 (10/5/10 = 1.25 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0" y="1371600"/>
          <a:ext cx="5806440" cy="288036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600200"/>
                <a:gridCol w="1645920"/>
                <a:gridCol w="2560320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방식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동작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결과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행동 블렌딩 (제안)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두 정책 행동 가중 평균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forward→right 3°→83° 악화: 옛 정책이 새 gait 부호 위에서 행동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에너지 페이드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감쇠 → 정지(gait 교체) → 상승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위험 3쌍 정상화, 안전쌍은 부작용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타이밍 (20,15,20)=2.75 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긴 정지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15회 중 12회 성공 (위상 민감)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타이밍 (10,5,10)=1.25 s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짧은 정지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15/15 성공, 최악 3.8° — 채택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전면 적용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모든 전환에 페이드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사각형 CTE 0.19→0.83, 전환 56회 — 코너 오버슈트 연쇄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572000"/>
            <a:ext cx="11155680" cy="79552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645152"/>
            <a:ext cx="10881359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A9E92"/>
                </a:solidFill>
                <a:latin typeface="Calibri"/>
                <a:ea typeface="Malgun Gothic"/>
              </a:rPr>
              <a:t>의도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01184"/>
            <a:ext cx="10881359" cy="429768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두 정책 행동을 섞어 급변을 피할 수 있는지(소프트 핸드오프)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안 되면 "에너지를 낮추고 바꾸는" 대안의 타이밍 민감도 파악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77256"/>
            <a:ext cx="11155680" cy="832103"/>
          </a:xfrm>
          <a:prstGeom prst="roundRect">
            <a:avLst>
              <a:gd name="adj" fmla="val 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550408"/>
            <a:ext cx="10881359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EC4B6"/>
                </a:solidFill>
                <a:latin typeface="Calibri"/>
                <a:ea typeface="Malgun Gothic"/>
              </a:rPr>
              <a:t>결과 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10881359" cy="466343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행동 블렌딩은 gait 부호 문맥 충돌로 실패 — 섞을 대상은 행동이 아니라 gait 위상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페이드는 위험쌍엔 유효하나 시간 지연(≥1.25 s)과 감속 표류가 비용 — 안전쌍에 쓰면 손해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0F2A44"/>
                </a:solidFill>
                <a:latin typeface="Calibri"/>
                <a:ea typeface="Malgun Gothic"/>
              </a:rPr>
              <a:t>전환 메커니즘 ②: 위상 정렬 — 가장 닮은 위상에서 시작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  <a:ea typeface="Malgun Gothic"/>
              </a:rPr>
              <a:t>사용자 제안: 다음 motion vector와 유사도가 높은 벡터부터 시작하자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00162"/>
            <a:ext cx="3840479" cy="2200275"/>
          </a:xfrm>
          <a:prstGeom prst="roundRect">
            <a:avLst>
              <a:gd name="adj" fmla="val 3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bl_to_right_har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920" y="1345882"/>
            <a:ext cx="3749039" cy="21088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509581"/>
            <a:ext cx="3749039" cy="292608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5C6B7A"/>
                </a:solidFill>
                <a:latin typeface="Calibri"/>
                <a:ea typeface="Malgun Gothic"/>
              </a:rPr>
              <a:t>▶ hard (k=0): 오차 172.8°, 전복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77602"/>
            <a:ext cx="3840479" cy="2200275"/>
          </a:xfrm>
          <a:prstGeom prst="roundRect">
            <a:avLst>
              <a:gd name="adj" fmla="val 3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bl_to_right_align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02920" y="3723322"/>
            <a:ext cx="3749039" cy="21088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887021"/>
            <a:ext cx="3749039" cy="292608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5C6B7A"/>
                </a:solidFill>
                <a:latin typeface="Calibri"/>
                <a:ea typeface="Malgun Gothic"/>
              </a:rPr>
              <a:t>▶ 위상 정렬: 오차 0.9°, max yaw 10.5°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325880"/>
            <a:ext cx="3840480" cy="24231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389888"/>
            <a:ext cx="3566160" cy="23317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 i="0">
                <a:solidFill>
                  <a:srgbClr val="0F2A44"/>
                </a:solidFill>
                <a:latin typeface="Calibri"/>
                <a:ea typeface="Malgun Gothic"/>
              </a:rPr>
              <a:t>알고리즘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M: 새 gait의 MotionMatrix (14 × 위상 수), 현재 벡터 m ∈ {±1}¹⁴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각 열과 m의 내적 = (일치 관절 수) − (불일치 관절 수)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k* = argmax(Mᵀm) → 그 위상에서 새 gait 시작 (지연 0)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역재생 gait는 getMvec(k)가 열 −k를 반환 → k = −k* (전환 학습 준비 중 발견·수정)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480560" y="3840480"/>
          <a:ext cx="3840480" cy="246888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549640" y="1325880"/>
            <a:ext cx="3108960" cy="142189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399032"/>
            <a:ext cx="283464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A9E92"/>
                </a:solidFill>
                <a:latin typeface="Calibri"/>
                <a:ea typeface="Malgun Gothic"/>
              </a:rPr>
              <a:t>의도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655064"/>
            <a:ext cx="2834640" cy="1056131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gait 부호의 연속성을 직접 맞추면 지연 없이 전환이 가능한지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페이드의 시간 비용을 없앨 근본책 탐색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2857500"/>
            <a:ext cx="3108960" cy="3451860"/>
          </a:xfrm>
          <a:prstGeom prst="roundRect">
            <a:avLst>
              <a:gd name="adj" fmla="val 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2930652"/>
            <a:ext cx="283464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EC4B6"/>
                </a:solidFill>
                <a:latin typeface="Calibri"/>
                <a:ea typeface="Malgun Gothic"/>
              </a:rPr>
              <a:t>결과 요약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186684"/>
            <a:ext cx="2834640" cy="30861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위험 3쌍 152/61/156° → 1.0/0.5/3.1°, 시간 지연·감속 없음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단, 전면 적용은 사각형 0.193→0.448로 악화 — 전문가가 k=0에서만 학습돼 정렬 시작에 취약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→ 위험쌍에만 선택 적용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확장 아이디어(이전 W개 벡터 윈도우 매칭)는 실측 기각: W=10에서 안전쌍 붕괴(113°)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300" b="1" i="0">
                <a:solidFill>
                  <a:srgbClr val="0F2A44"/>
                </a:solidFill>
                <a:latin typeface="Calibri"/>
                <a:ea typeface="Malgun Gothic"/>
              </a:rPr>
              <a:t>결정적 A/B: hard vs fade vs 위상 정렬, 그리고 기각된 확장 3건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  <a:ea typeface="Malgun Gothic"/>
              </a:rPr>
              <a:t>동일 커맨더·시드에서 경로별 cross-track 오차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325880"/>
          <a:ext cx="566928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389120"/>
            <a:ext cx="5669280" cy="5486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5C6B7A"/>
                </a:solidFill>
                <a:latin typeface="Calibri"/>
                <a:ea typeface="Malgun Gothic"/>
              </a:rPr>
              <a:t>square는 위험쌍이 발동하지 않아 3방식 동일. star는 align, gauntlet(위험쌍 집중)은 fade가 우세 — 둘 다 hard를 확실히 이김.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325880"/>
          <a:ext cx="5257800" cy="361188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234440"/>
                <a:gridCol w="1463040"/>
                <a:gridCol w="2560320"/>
              </a:tblGrid>
              <a:tr h="90297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기각된 확장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실험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결과 (왜 안 되나)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</a:tr>
              <a:tr h="90297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윈도우 위상 매칭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최근 W=5/10 벡터 궤적으로 정렬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W=1이 전 쌍 ≤3.1°인데 W=5 right→left 10.2°, W=10 diag_fl→fr 113.6° — 주기 불일치·역재생 비선형, 과거는 이미 물리 상태에 반영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정렬 + 페이드 결합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위상 정렬 후 페이드(10/5/10)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diag_bl→diag_fr 1°→76° 붕괴 — 정지 구간에 몸이 관성으로 변형되는데 k는 정지 전 벡터로 고정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90297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정지 제거 결합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페이드(10/0/10) + 정렬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붕괴는 사라지나(2°) 정렬 단독을 넘지 못함(right→left 1→7°) — 부호 연속성이 확보된 뒤 페이드는 순수 교란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029200"/>
            <a:ext cx="11155680" cy="5029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102352"/>
            <a:ext cx="10881359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A9E92"/>
                </a:solidFill>
                <a:latin typeface="Calibri"/>
                <a:ea typeface="Malgun Gothic"/>
              </a:rPr>
              <a:t>의도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58384"/>
            <a:ext cx="10881359" cy="1371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단일 메커니즘으로 충분한지, 결합·확장이 이득인지 실측으로 결정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641848"/>
            <a:ext cx="11155680" cy="667511"/>
          </a:xfrm>
          <a:prstGeom prst="roundRect">
            <a:avLst>
              <a:gd name="adj" fmla="val 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10881359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EC4B6"/>
                </a:solidFill>
                <a:latin typeface="Calibri"/>
                <a:ea typeface="Malgun Gothic"/>
              </a:rPr>
              <a:t>결과 요약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71032"/>
            <a:ext cx="10881359" cy="301751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위상 정렬(W=1) 단독이 최선 — 원인(부호 충돌)을 제거하면 페이드는 중복. 음성 결과는 재논의 방지용으로 CLAUDE_CHANGES에 기록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0F2A44"/>
                </a:solidFill>
                <a:latin typeface="Calibri"/>
                <a:ea typeface="Malgun Gothic"/>
              </a:rPr>
              <a:t>안정을 넘어 매끄러움: 지표 정의 → 5후보 계측 → 하이브리드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  <a:ea typeface="Malgun Gothic"/>
              </a:rPr>
              <a:t>사용자 질문 "안정적으로, 그리고 매끄럽게" — 저크를 재기 시작하다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05877"/>
            <a:ext cx="3657600" cy="2097405"/>
          </a:xfrm>
          <a:prstGeom prst="roundRect">
            <a:avLst>
              <a:gd name="adj" fmla="val 3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bl_to_right_align_only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920" y="1351597"/>
            <a:ext cx="3566160" cy="20059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412426"/>
            <a:ext cx="3566160" cy="292608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5C6B7A"/>
                </a:solidFill>
                <a:latin typeface="Calibri"/>
                <a:ea typeface="Malgun Gothic"/>
              </a:rPr>
              <a:t>▶ align만: 가속 스파이크 155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91877"/>
            <a:ext cx="3657600" cy="2097405"/>
          </a:xfrm>
          <a:prstGeom prst="roundRect">
            <a:avLst>
              <a:gd name="adj" fmla="val 3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bl_to_right_align_xfade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02920" y="3637597"/>
            <a:ext cx="3566160" cy="20059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698426"/>
            <a:ext cx="3566160" cy="292608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5C6B7A"/>
                </a:solidFill>
                <a:latin typeface="Calibri"/>
                <a:ea typeface="Malgun Gothic"/>
              </a:rPr>
              <a:t>▶ align + 크로스페이드 12스텝: 57 (−63%)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297680" y="1325880"/>
          <a:ext cx="4023360" cy="237744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737360"/>
                <a:gridCol w="731520"/>
                <a:gridCol w="777240"/>
                <a:gridCol w="777240"/>
              </a:tblGrid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후보 (위험쌍 평균)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방향오차°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헤딩 저크°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가속 스파이크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hard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123.2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align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1.6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120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142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align + 토크 저역통과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151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align + 크로스페이드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0.9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99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89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align + 정책 블렌딩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297680" y="3749039"/>
            <a:ext cx="402336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5C6B7A"/>
                </a:solidFill>
                <a:latin typeface="Calibri"/>
                <a:ea typeface="Malgun Gothic"/>
              </a:rPr>
              <a:t>안전쌍에 진폭 변조(크로스페이드/저역통과/softstart)를 쓰면 방향오차 5~28°로 악화 → 위험쌍에만 적용. 크로스페이드는 위상 정렬 위에서만 유효(부호 문맥 일치 필요).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297680" y="4480560"/>
          <a:ext cx="4023360" cy="182880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549640" y="1325880"/>
            <a:ext cx="3108960" cy="1621231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399032"/>
            <a:ext cx="283464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A9E92"/>
                </a:solidFill>
                <a:latin typeface="Calibri"/>
                <a:ea typeface="Malgun Gothic"/>
              </a:rPr>
              <a:t>의도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655064"/>
            <a:ext cx="2834640" cy="1255471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"매끄러움"을 스텝당 속도·헤딩 변화, IMU 가속 스파이크로 정량화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안정(전복 없음)과 매끄러움(저크)을 동시에 최적화하는 조합 탐색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3056839"/>
            <a:ext cx="3108960" cy="3252520"/>
          </a:xfrm>
          <a:prstGeom prst="roundRect">
            <a:avLst>
              <a:gd name="adj" fmla="val 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3129991"/>
            <a:ext cx="283464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EC4B6"/>
                </a:solidFill>
                <a:latin typeface="Calibri"/>
                <a:ea typeface="Malgun Gothic"/>
              </a:rPr>
              <a:t>결과 요약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386023"/>
            <a:ext cx="2834640" cy="2886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채택: 안전쌍 즉시 k=0 / 위험 3쌍 위상 정렬 + 12스텝 행동 크로스페이드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위상 정렬 = 안정, 크로스페이드 = 매끄러움 — 역할 분담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보너스로 경로 CTE도 개선: star 0.433→0.334, gauntlet 0.472→0.345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0F2A44"/>
                </a:solidFill>
                <a:latin typeface="Calibri"/>
                <a:ea typeface="Malgun Gothic"/>
              </a:rPr>
              <a:t>방위 렌더: 웨이포인트 목표 방위(초록) vs 로봇 yaw(파랑)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  <a:ea typeface="Malgun Gothic"/>
              </a:rPr>
              <a:t>"회전은 아직 감안하지 않았다"는 지적 → 1단계로 시각화부터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8800" y="1280160"/>
            <a:ext cx="4643119" cy="2651760"/>
          </a:xfrm>
          <a:prstGeom prst="roundRect">
            <a:avLst>
              <a:gd name="adj" fmla="val 3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ath_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4520" y="1325880"/>
            <a:ext cx="4551679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4520" y="3941063"/>
            <a:ext cx="4551679" cy="292608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5C6B7A"/>
                </a:solidFill>
                <a:latin typeface="Calibri"/>
                <a:ea typeface="Malgun Gothic"/>
              </a:rPr>
              <a:t>▶ 별 1.5 m — 초록 화살표: 접선 목표 방위, 파랑: 몸통 yaw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593585"/>
            <a:ext cx="3108960" cy="2024910"/>
          </a:xfrm>
          <a:prstGeom prst="roundRect">
            <a:avLst>
              <a:gd name="adj" fmla="val 3000"/>
            </a:avLst>
          </a:prstGeom>
          <a:solidFill>
            <a:srgbClr val="E8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rajec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639305"/>
            <a:ext cx="3017520" cy="193346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343400"/>
            <a:ext cx="7955279" cy="19659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416552"/>
            <a:ext cx="7589520" cy="1828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 i="0">
                <a:solidFill>
                  <a:srgbClr val="0F2A44"/>
                </a:solidFill>
                <a:latin typeface="Calibri"/>
                <a:ea typeface="Malgun Gothic"/>
              </a:rPr>
              <a:t>구현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웨이포인트를 (x, y, yaw°)로 확장 — 기본 방위 = 접선(다음 점 방향, 마지막 점은 도착 방향)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MuJoCo ARROW 마커: pos에서 로컬 +z로 뻗음 → z축=방위, y축=세계 +Z 회전행렬 (0/90/180° 렌더 실증)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trajectory.png에도 목표 방위 quiver 추가. 추종 결과 수치 불변(사각형 0.193 / 별 0.334) — 렌더 전용 변경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325880"/>
            <a:ext cx="2971800" cy="19202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399032"/>
            <a:ext cx="269748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A9E92"/>
                </a:solidFill>
                <a:latin typeface="Calibri"/>
                <a:ea typeface="Malgun Gothic"/>
              </a:rPr>
              <a:t>의도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1655064"/>
            <a:ext cx="2697480" cy="155448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크랩워크 추종이 몸통 yaw를 전혀 제어하지 않음을 영상에서 드러내기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2단계(도달 시 CW/CCW로 제자리 회전 후 진행)의 근거 마련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3355848"/>
            <a:ext cx="2971800" cy="2953512"/>
          </a:xfrm>
          <a:prstGeom prst="roundRect">
            <a:avLst>
              <a:gd name="adj" fmla="val 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3429000"/>
            <a:ext cx="269748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EC4B6"/>
                </a:solidFill>
                <a:latin typeface="Calibri"/>
                <a:ea typeface="Malgun Gothic"/>
              </a:rPr>
              <a:t>결과 요약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685032"/>
            <a:ext cx="2697480" cy="2587752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파란 화살표는 내내 +X, 초록 목표는 꼭짓점마다 90°씩 회전 — 방위 오차가 한눈에 보임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2단계는 회전→직진이라는 새 전환 유형 검증이 필요 — 대신 전환 학습(Part 2)으로 우선순위 이동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  <a:ea typeface="Malgun Gothic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  <a:ea typeface="Malgun Gothic"/>
              </a:rPr>
              <a:t>Part 2. 전환 학습 —
전문가 증류와 전환 커리큘럼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12801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  <a:ea typeface="Malgun Gothic"/>
              </a:rPr>
              <a:t>외부 메커니즘이 아니라 정책 자신이 전환을 흡수하도록: 증류로 출발선을 옮기고, 무작위 전환 속에서 미세조정한다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0F2A44"/>
                </a:solidFill>
                <a:latin typeface="Calibri"/>
                <a:ea typeface="Malgun Gothic"/>
              </a:rPr>
              <a:t>설계 결정 3가지와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  <a:ea typeface="Malgun Gothic"/>
              </a:rPr>
              <a:t>사용자 요청: "이전 정책에서 이어서, 모든 쌍을 랜덤으로, 시점·위치도 다양하게"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356616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737360"/>
                <a:gridCol w="2651760"/>
                <a:gridCol w="6766560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결정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선택지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선택과 근거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출발점 (warm-start)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forward 전문가 가중치 / 10명 증류(Phase B)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증류. 9개 명령을 RL로 새로 익히는 불확실성(속도·망각)을 제거해 RL이 "전환"만 배우게 함. 증류는 정답(전문가 행동)이 있는 회귀라 분 단위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전환 메커니즘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k0 / align / random(50:50)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align. 물리적으로 가장 연속이고, 정책이 정렬 시작을 학습하면 k=0 전문가의 취약점이 사라짐. 배포도 단일 메커니즘. 크로스페이드는 두 정책이 필요해 단일 정책엔 정의 불가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할인율 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0.95 (방위 계보) / 0.99 (회전 계보)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0.99. 전환 후 ~100스텝 뒤의 낙상을 critic이 보려면 유효 지평 100스텝 필요(0.95는 20스텝). 학생 critic도 0.99 return에 사전 회귀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Stage 1 옵티마이저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검증 레시피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lr 1e-4, n_epochs 2, target_kl 0.04, 40M. 정책 std는 보수적 log_std −1.2로 시작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5074920"/>
            <a:ext cx="11155680" cy="1234440"/>
          </a:xfrm>
          <a:prstGeom prst="roundRect">
            <a:avLst>
              <a:gd name="adj" fmla="val 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2EC4B6"/>
                </a:solidFill>
                <a:latin typeface="Calibri"/>
                <a:ea typeface="Malgun Gothic"/>
              </a:rPr>
              <a:t>설명 방식에 대한 피드백  </a:t>
            </a: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선택지만 던진 첫 질문에 "비약이 많다"는 지적 → 각 선택지의 배경·의미·비용·위험을 풀어 설명한 뒤 결정. </a:t>
            </a: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증류 소요 시간(1~2시간)에 대한 의문에는 "새 능력의 발견(RL)이 아니라 있는 능력을 옮겨 담는 회귀(BC)"라는 구분으로 답함.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0F2A44"/>
                </a:solidFill>
                <a:latin typeface="Calibri"/>
                <a:ea typeface="Malgun Gothic"/>
              </a:rPr>
              <a:t>전문가 증류 파이프라인 (training/distill_experts.py)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  <a:ea typeface="Malgun Gothic"/>
              </a:rPr>
              <a:t>10명 전문가 → 명령 조건부 단일 정책, PPO 체크포인트 형식으로 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627119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508760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90472"/>
            <a:ext cx="2923031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0F2A44"/>
                </a:solidFill>
                <a:latin typeface="Calibri"/>
                <a:ea typeface="Malgun Gothic"/>
              </a:rPr>
              <a:t>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3352800" cy="8229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전문가 10명을 통합 env(명령 고정, RL과 동일 보상)에서 병렬 롤아웃 — 원본 관측·전문가 행동·보상 기록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199" y="1371600"/>
            <a:ext cx="3627119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04360" y="1508760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9847" y="1490472"/>
            <a:ext cx="2923031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0F2A44"/>
                </a:solidFill>
                <a:latin typeface="Calibri"/>
                <a:ea typeface="Malgun Gothic"/>
              </a:rPr>
              <a:t>통합 정규화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4360" y="1938528"/>
            <a:ext cx="3352800" cy="8229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전체 관측으로 학생 전용 obs_rms 생성 (전문가는 각자 통계, 학생은 하나)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1480" y="1371600"/>
            <a:ext cx="3627119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68640" y="1508760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4128" y="1490472"/>
            <a:ext cx="2923031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0F2A44"/>
                </a:solidFill>
                <a:latin typeface="Calibri"/>
                <a:ea typeface="Malgun Gothic"/>
              </a:rPr>
              <a:t>BC + critic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8640" y="1938528"/>
            <a:ext cx="3352800" cy="8229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PPO MlpPolicy 동일 구조. actor: MSE 모방 / critic: γ=0.99 MC return 회귀(절단 꼬리 마스크) / log_std −1.2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71800"/>
            <a:ext cx="3627119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108960"/>
            <a:ext cx="384048" cy="38404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090672"/>
            <a:ext cx="2923031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0F2A44"/>
                </a:solidFill>
                <a:latin typeface="Calibri"/>
                <a:ea typeface="Malgun Gothic"/>
              </a:rPr>
              <a:t>DAgger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38728"/>
            <a:ext cx="3352800" cy="8229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학생을 굴려 방문 상태에 전문가 라벨 → 데이터에 합쳐 재학습 (오차 누적 보정)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7199" y="2971800"/>
            <a:ext cx="3627119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04360" y="3108960"/>
            <a:ext cx="384048" cy="38404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9847" y="3090672"/>
            <a:ext cx="2923031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0F2A44"/>
                </a:solidFill>
                <a:latin typeface="Calibri"/>
                <a:ea typeface="Malgun Gothic"/>
              </a:rPr>
              <a:t>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4360" y="3538728"/>
            <a:ext cx="3352800" cy="8229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명령별 학생 vs 전문가 10 에피소드: 리턴·낙상·진행 속도·yaw·앵커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1480" y="2971800"/>
            <a:ext cx="3627119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68640" y="3108960"/>
            <a:ext cx="384048" cy="38404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4128" y="3090672"/>
            <a:ext cx="2923031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0F2A44"/>
                </a:solidFill>
                <a:latin typeface="Calibri"/>
                <a:ea typeface="Malgun Gothic"/>
              </a:rPr>
              <a:t>패키징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8640" y="3538728"/>
            <a:ext cx="3352800" cy="8229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model.zip + vecnormalize.pkl(쌍) + metadata + DISTILL_REPORT.md → train.py resume 호환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572000"/>
            <a:ext cx="11155680" cy="62179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645152"/>
            <a:ext cx="10881359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A9E92"/>
                </a:solidFill>
                <a:latin typeface="Calibri"/>
                <a:ea typeface="Malgun Gothic"/>
              </a:rPr>
              <a:t>의도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901184"/>
            <a:ext cx="10881359" cy="256032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RL 전에 "10개 명령을 이미 할 줄 아는" 출발점 만들기 (스승을 넘진 못해도 전환을 배울 준비)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303520"/>
            <a:ext cx="11155680" cy="1005839"/>
          </a:xfrm>
          <a:prstGeom prst="roundRect">
            <a:avLst>
              <a:gd name="adj" fmla="val 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376672"/>
            <a:ext cx="10881359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EC4B6"/>
                </a:solidFill>
                <a:latin typeface="Calibri"/>
                <a:ea typeface="Malgun Gothic"/>
              </a:rPr>
              <a:t>결과 요약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32704"/>
            <a:ext cx="10881359" cy="640079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v1(결정론 롤아웃만): 데이터 안 모방은 정확(검증 MSE 0.0025)했지만 닫힌 루프에서 절반의 명령이 실패 → 공변량 이동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처방: 전문가 자체 가우시안 노이즈로 실행한 롤아웃(DART식, 라벨은 평균 행동) + DAgger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300" b="1" i="0">
                <a:solidFill>
                  <a:srgbClr val="0F2A44"/>
                </a:solidFill>
                <a:latin typeface="Calibri"/>
                <a:ea typeface="Malgun Gothic"/>
              </a:rPr>
              <a:t>증류 결과: 공변량 이동 → DART 노이즈 + DAgger → 9/10 합격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  <a:ea typeface="Malgun Gothic"/>
              </a:rPr>
              <a:t>policies/unified/00_distilled — 총 180만 샘플, 최종 검증 MSE 0.0017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325880"/>
          <a:ext cx="73152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617720"/>
            <a:ext cx="731520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C6B7A"/>
                </a:solidFill>
                <a:latin typeface="Calibri"/>
                <a:ea typeface="Malgun Gothic"/>
              </a:rPr>
              <a:t>v1의 diag_fr는 실제 −2.57(역방향 이동)이며 표시는 −0.30으로 클립. v1은 left/right/cw 낙상 100%.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29200"/>
            <a:ext cx="7315200" cy="12801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02352"/>
            <a:ext cx="6949440" cy="11887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0F2A44"/>
                </a:solidFill>
                <a:latin typeface="Calibri"/>
                <a:ea typeface="Malgun Gothic"/>
              </a:rPr>
              <a:t>cw만 미달(0.60)인 이유 — "칼날 상태"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yaw 0.592 rad/s 정상이나 앵커가 서서히 밀려 729스텝에 종료(결정론). 행동 노이즈 0.05면 8회 중 5회 1000스텝 생존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전문가 자체 여유가 36스텝(0.2 m 초과 최장 24/60). BC 라벨에 "앵커 복귀" 행동이 없어 DAgger로 개선되지 않음 → RL 단계가 교정할 알려진 출발 조건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25880"/>
            <a:ext cx="3611880" cy="1521561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399032"/>
            <a:ext cx="333756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A9E92"/>
                </a:solidFill>
                <a:latin typeface="Calibri"/>
                <a:ea typeface="Malgun Gothic"/>
              </a:rPr>
              <a:t>의도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655064"/>
            <a:ext cx="3337560" cy="1155801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전문가 대비 90% 이상·낙상 악화 없음을 합격 기준으로 검증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미달 명령은 데이터 보강/DAgger로 처방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957169"/>
            <a:ext cx="3611880" cy="3352190"/>
          </a:xfrm>
          <a:prstGeom prst="roundRect">
            <a:avLst>
              <a:gd name="adj" fmla="val 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3030321"/>
            <a:ext cx="333756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EC4B6"/>
                </a:solidFill>
                <a:latin typeface="Calibri"/>
                <a:ea typeface="Malgun Gothic"/>
              </a:rPr>
              <a:t>결과 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3286353"/>
            <a:ext cx="3337560" cy="298643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v2 (결정론 40만 + 노이즈 40만 + DAgger 2회): 9/10 명령 0.96~1.14, 낙상 0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DAgger 3·4회 추가: forward/diag_fr/bl/br 1.00, ccw 1.01, 나머지 0.95~0.99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9/10 합격, cw는 RL로 이월 — 증류 총 소요 약 9분(수집 3분 포함)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0F2A44"/>
                </a:solidFill>
                <a:latin typeface="Calibri"/>
                <a:ea typeface="Malgun Gothic"/>
              </a:rPr>
              <a:t>전환 커리큘럼 환경: 무작위 쌍·시점·위상, 관측 즉시 재생성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  <a:ea typeface="Malgun Gothic"/>
              </a:rPr>
              <a:t>plane-unified-v0의 switch_enabled 옵션 (기본 꺼짐 → 기존 동작 보존)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7223760" cy="16002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44752"/>
            <a:ext cx="68580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0F2A44"/>
                </a:solidFill>
                <a:latin typeface="Calibri"/>
                <a:ea typeface="Malgun Gothic"/>
              </a:rPr>
              <a:t>에피소드 타임라인 (horizon 1000스텝 = 50 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6675120" cy="20116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69033" cy="20116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869033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1F2933"/>
                </a:solidFill>
                <a:latin typeface="Calibri"/>
                <a:ea typeface="Malgun Gothic"/>
              </a:rPr>
              <a:t>forward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6273" y="2148840"/>
            <a:ext cx="1802282" cy="201168"/>
          </a:xfrm>
          <a:prstGeom prst="rect">
            <a:avLst/>
          </a:prstGeom>
          <a:solidFill>
            <a:srgbClr val="1A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6273" y="2377440"/>
            <a:ext cx="1802282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1F2933"/>
                </a:solidFill>
                <a:latin typeface="Calibri"/>
                <a:ea typeface="Malgun Gothic"/>
              </a:rPr>
              <a:t>diag_bl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8556" y="2148840"/>
            <a:ext cx="1802282" cy="20116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8556" y="2377440"/>
            <a:ext cx="1802282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1F2933"/>
                </a:solidFill>
                <a:latin typeface="Calibri"/>
                <a:ea typeface="Malgun Gothic"/>
              </a:rPr>
              <a:t>ccw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0838" y="2148840"/>
            <a:ext cx="1201521" cy="201168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0838" y="2377440"/>
            <a:ext cx="1201521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1F2933"/>
                </a:solidFill>
                <a:latin typeface="Calibri"/>
                <a:ea typeface="Malgun Gothic"/>
              </a:rPr>
              <a:t>right</a:t>
            </a:r>
          </a:p>
        </p:txBody>
      </p:sp>
      <p:sp>
        <p:nvSpPr>
          <p:cNvPr id="16" name="Oval 15"/>
          <p:cNvSpPr/>
          <p:nvPr/>
        </p:nvSpPr>
        <p:spPr>
          <a:xfrm>
            <a:off x="2545689" y="1975104"/>
            <a:ext cx="201168" cy="201168"/>
          </a:xfrm>
          <a:prstGeom prst="ellipse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  <a:ea typeface="Malgun Gothic"/>
              </a:rPr>
              <a:t>↕</a:t>
            </a:r>
          </a:p>
        </p:txBody>
      </p:sp>
      <p:sp>
        <p:nvSpPr>
          <p:cNvPr id="17" name="Oval 16"/>
          <p:cNvSpPr/>
          <p:nvPr/>
        </p:nvSpPr>
        <p:spPr>
          <a:xfrm>
            <a:off x="4347972" y="1975104"/>
            <a:ext cx="201168" cy="201168"/>
          </a:xfrm>
          <a:prstGeom prst="ellipse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  <a:ea typeface="Malgun Gothic"/>
              </a:rPr>
              <a:t>↕</a:t>
            </a:r>
          </a:p>
        </p:txBody>
      </p:sp>
      <p:sp>
        <p:nvSpPr>
          <p:cNvPr id="18" name="Oval 17"/>
          <p:cNvSpPr/>
          <p:nvPr/>
        </p:nvSpPr>
        <p:spPr>
          <a:xfrm>
            <a:off x="6150254" y="1975104"/>
            <a:ext cx="201168" cy="201168"/>
          </a:xfrm>
          <a:prstGeom prst="ellipse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  <a:ea typeface="Malgun Gothic"/>
              </a:rPr>
              <a:t>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651760"/>
            <a:ext cx="6858000" cy="3200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C6B7A"/>
                </a:solidFill>
                <a:latin typeface="Calibri"/>
                <a:ea typeface="Malgun Gothic"/>
              </a:rPr>
              <a:t>↕ 전환 시점: 1~4회, 최소 체류 100스텝 간격으로 균등 무작위. 다음 명령은 현재 명령 제외 균등(90 순서쌍). 초기 위상 k 무작위.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2920" y="3154680"/>
          <a:ext cx="7223760" cy="315468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554480"/>
                <a:gridCol w="5669280"/>
              </a:tblGrid>
              <a:tr h="63093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설계 항목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내용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전환 적용 시점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물리 스텝 뒤·관측 반환 전 → 정책이 그 스텝 관측에서 새 motion vector/joy를 봄 (1스텝 불일치 없음). 해당 스텝 보상은 옛 명령 기준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전환 메커니즘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switch_mode align (k0 / random 옵션). 역재생 gait는 k = −argmax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콜백 지표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env_switch/post50_reward, fail_within100, 도착 명령별 분해, per_episode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스모크 (전문가 구동)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40 에피소드, 전환 50회·35쌍, 정렬 정확성 역재생 12회 포함 전부 통과, 간격 ≥100. 전문가 스위칭은 27/40 에피소드가 전환 후 33~121스텝 뒤 낙상 — 학습 대상 그 자체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955279" y="1371600"/>
            <a:ext cx="3703320" cy="1408176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1444752"/>
            <a:ext cx="34290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A9E92"/>
                </a:solidFill>
                <a:latin typeface="Calibri"/>
                <a:ea typeface="Malgun Gothic"/>
              </a:rPr>
              <a:t>의도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1700784"/>
            <a:ext cx="3429000" cy="1042416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"모든 쌍을 랜덤으로, 시점·상태도 다양하게" 요청을 환경 옵션으로 구현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정책이 전환을 관측하고 반응하도록 학습·배포 규약 정합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2889504"/>
            <a:ext cx="3703320" cy="3419856"/>
          </a:xfrm>
          <a:prstGeom prst="roundRect">
            <a:avLst>
              <a:gd name="adj" fmla="val 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2962656"/>
            <a:ext cx="34290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EC4B6"/>
                </a:solidFill>
                <a:latin typeface="Calibri"/>
                <a:ea typeface="Malgun Gothic"/>
              </a:rPr>
              <a:t>결과 요약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218688"/>
            <a:ext cx="3429000" cy="3054096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스모크에서 잡은 함정 2건: ① env 인자명 max_episode_steps는 gym.make가 가로챔 → episode_horizon으로 개명 ② set_gait 역재생 정렬 버그(k=col → −col) — 위험 3쌍이 모두 순재생 목표라 그동안 드러나지 않음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train.py resume·콜백·TB 기록까지 스모크 통과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0F2A44"/>
                </a:solidFill>
                <a:latin typeface="Calibri"/>
                <a:ea typeface="Malgun Gothic"/>
              </a:rPr>
              <a:t>Stage 1 첫 시도의 함정: 회전 진입 전환의 관성 vs 앵커 종료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  <a:ea typeface="Malgun Gothic"/>
              </a:rPr>
              <a:t>2M 점검에서 ccw 0.60 / cw 0.63 실패율 → 증류 정책으로 직접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5394960" cy="224028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3017520"/>
                <a:gridCol w="2377440"/>
              </a:tblGrid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진단 (증류 정책, 회전 진입 전환 24회)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값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100스텝 내 종료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54% (선형 진입은 9%)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전환 직전 속도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평균 0.44 m/s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전환 후 앵커 최대거리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평균 0.37 m (실패 사례 0.51 m), 88%가 0.2 m 초과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60스텝 뒤 재앵커 시 이탈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0.04 m, 0.2 m 초과 0% — 미끄러짐은 3 s 안에 멈춤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3703320"/>
            <a:ext cx="5394960" cy="26060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776472"/>
            <a:ext cx="5029200" cy="25146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0F2A44"/>
                </a:solidFill>
                <a:latin typeface="Calibri"/>
                <a:ea typeface="Malgun Gothic"/>
              </a:rPr>
              <a:t>해석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앵커가 전환 순간 COM에 고정되는데 몸은 0.44 m/s로 미끄러져 관성만으로 0.2 m를 넘고, 회전 gait는 제동·복귀를 못 하니 60스텝 규칙에 걸림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정책이 고칠 수 없는 규칙 문제 + "무작위 회전 전환에 대비해 평소 느리게"라는 왜곡 인센티브 위험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유예(grace) 재앵커를 제안했으나 사용자가 "종료 대신 앵커에 가까우면 더 높은 보상"을 제안 → 미끄러짐이 치명이 아닌, 진폭 조절로 줄일 수 있는 학습 가능한 손실이 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325880"/>
          <a:ext cx="5532120" cy="224028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737360"/>
                <a:gridCol w="1188720"/>
                <a:gridCol w="1188720"/>
                <a:gridCol w="1417320"/>
              </a:tblGrid>
              <a:tr h="3733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앵커 거리 d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근접 보상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앵커 비용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스텝 합계*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 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+10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+35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0.1 m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+5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−5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+25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0.2 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−10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+15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0.4 m (관성 평균)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−20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+5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≥ 0.55 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≤ −27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음수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3584448"/>
            <a:ext cx="553212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* 목표 속도 회전 보상 22.5 + 건강 2 기준. 근접 보상 10·max(0, 1−d/0.2), 기존 포화 비용 50·min(d, 2) 유지, 앵커 종료 제거.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532120" cy="92537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4005072"/>
            <a:ext cx="52578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A9E92"/>
                </a:solidFill>
                <a:latin typeface="Calibri"/>
                <a:ea typeface="Malgun Gothic"/>
              </a:rPr>
              <a:t>의도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261104"/>
            <a:ext cx="5257800" cy="559612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회전 진입 실패가 정책 실력인지 규칙 문제인지 분리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종료 대신 연속 보상으로 대체하는 설계의 스텝당 수지 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967020"/>
            <a:ext cx="5532120" cy="1342339"/>
          </a:xfrm>
          <a:prstGeom prst="roundRect">
            <a:avLst>
              <a:gd name="adj" fmla="val 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5040172"/>
            <a:ext cx="52578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EC4B6"/>
                </a:solidFill>
                <a:latin typeface="Calibri"/>
                <a:ea typeface="Malgun Gothic"/>
              </a:rPr>
              <a:t>결과 요약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296204"/>
            <a:ext cx="5257800" cy="976579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검증: 보상 프로파일 설계대로(d&lt;0.1 +30.7 / 0.1–0.2 +22.4 / 0.2–0.3 +17.8), 회전 진입 종료 54%→19%(잔여는 낙상), 기본값 env는 옛 동작 그대로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첫 run(4.25M) 중단·보존, 증류 정책에서 재시작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0F2A44"/>
                </a:solidFill>
                <a:latin typeface="Calibri"/>
                <a:ea typeface="Malgun Gothic"/>
              </a:rPr>
              <a:t>Stage 1 결과 (40M): 붕괴 없이 상승, 회전 진입 실패 해소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  <a:ea typeface="Malgun Gothic"/>
              </a:rPr>
              <a:t>run 20260909-153324 · resume = 증류 정책 · lr 1e-4 / ep 2 / target_kl 0.04 / γ 0.99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280160"/>
          <a:ext cx="379476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434840" y="1280160"/>
          <a:ext cx="361188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183879" y="1280160"/>
          <a:ext cx="3474720" cy="2377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3749039"/>
          <a:ext cx="6583680" cy="25603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0" y="3749039"/>
            <a:ext cx="4343400" cy="541324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3822191"/>
            <a:ext cx="406908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A9E92"/>
                </a:solidFill>
                <a:latin typeface="Calibri"/>
                <a:ea typeface="Malgun Gothic"/>
              </a:rPr>
              <a:t>의도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078224"/>
            <a:ext cx="4069080" cy="175564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BC 초기값 보존 여부와 전환 능력 향상 여부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400092"/>
            <a:ext cx="4343400" cy="1909267"/>
          </a:xfrm>
          <a:prstGeom prst="roundRect">
            <a:avLst>
              <a:gd name="adj" fmla="val 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4473244"/>
            <a:ext cx="406908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EC4B6"/>
                </a:solidFill>
                <a:latin typeface="Calibri"/>
                <a:ea typeface="Malgun Gothic"/>
              </a:rPr>
              <a:t>결과 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4729276"/>
            <a:ext cx="4069080" cy="1543507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최고 평가 22,624 @27.5M · 말기 ep_rew −16K→+13.0K, ep_len 873/1000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전환 후 실패 0.123→0.099, 50스텝 보상 −31.9→−8.5, EV 0.92, KL 0.0010(유휴)→Stage 2 ep 3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회전 진입(ccw/cw) 실패 0.6대→0.10/0.03 · 남은 난관 diag_fr·diag_bl 0.33 (δ=203)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0F2A44"/>
                </a:solidFill>
                <a:latin typeface="Calibri"/>
                <a:ea typeface="Malgun Gothic"/>
              </a:rPr>
              <a:t>Stage 2 진행 상황 (n_epochs 3) — 안정적이나 정체 조짐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  <a:ea typeface="Malgun Gothic"/>
              </a:rPr>
              <a:t>자료 작성 시점 누적 55.7M · Stage 3 레버 검토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280160"/>
          <a:ext cx="457200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212080" y="1280160"/>
          <a:ext cx="3108960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12480" y="1660207"/>
            <a:ext cx="3291840" cy="1891665"/>
          </a:xfrm>
          <a:prstGeom prst="roundRect">
            <a:avLst>
              <a:gd name="adj" fmla="val 3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teration-009610-timesteps-039362560-episode-0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458200" y="1705927"/>
            <a:ext cx="3200400" cy="1800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58200" y="3561016"/>
            <a:ext cx="3200400" cy="292608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5C6B7A"/>
                </a:solidFill>
                <a:latin typeface="Calibri"/>
                <a:ea typeface="Malgun Gothic"/>
              </a:rPr>
              <a:t>▶ 학습 영상: 무작위 전환 속 정책 (Stage 1 말기)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4114800"/>
          <a:ext cx="6035040" cy="219455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377440"/>
                <a:gridCol w="1828800"/>
                <a:gridCol w="1828800"/>
              </a:tblGrid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지표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Stage 1 말기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Stage 2 8M 지점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평가 리턴 최고 / 최근 평균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22,624 / 15,115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21,450 / 15,841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롤아웃 에피소드 리턴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13.0K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13.3K (횡보)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explained_variance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0.92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0.92~0.97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approx_kl / clip_fraction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0.0010 / 0.0015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0.0004~0.0076 / ≈0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정책 std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0.301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0.301 (고정)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766560" y="4114800"/>
            <a:ext cx="4892040" cy="585216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4187952"/>
            <a:ext cx="461772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A9E92"/>
                </a:solidFill>
                <a:latin typeface="Calibri"/>
                <a:ea typeface="Malgun Gothic"/>
              </a:rPr>
              <a:t>의도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4443984"/>
            <a:ext cx="4617720" cy="219456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검증 레시피(KL 유휴 → ep 3)가 이 과제에서도 통하는지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4809744"/>
            <a:ext cx="4892040" cy="1499615"/>
          </a:xfrm>
          <a:prstGeom prst="roundRect">
            <a:avLst>
              <a:gd name="adj" fmla="val 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4882896"/>
            <a:ext cx="461772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EC4B6"/>
                </a:solidFill>
                <a:latin typeface="Calibri"/>
                <a:ea typeface="Malgun Gothic"/>
              </a:rPr>
              <a:t>결과 요약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5138928"/>
            <a:ext cx="4617720" cy="1133855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ep 3에도 KL이 target의 1/20 — 무작위 전환으로 advantage가 잡음에 묻히고 탐색 std 0.30이 작아 신호가 약한 것으로 추정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Stage 3 레버: lr 1e-4→2e-4 (1순위, 신뢰영역 여유 큼), ep 4, 탐색 폭 확대(정책 영향 있어 논의 필요)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0F2A44"/>
                </a:solidFill>
                <a:latin typeface="Calibri"/>
                <a:ea typeface="Malgun Gothic"/>
              </a:rPr>
              <a:t>통합 정책 단독 경로 추종: 전문가 스위칭 없이 정책 하나가 전환까지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  <a:ea typeface="Malgun Gothic"/>
              </a:rPr>
              <a:t>Stage 1 final(40M) · 전환은 학습과 동일 규약(위상 정렬 + 관측 즉시 재생성), 크로스페이드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7297"/>
            <a:ext cx="3657600" cy="2097405"/>
          </a:xfrm>
          <a:prstGeom prst="roundRect">
            <a:avLst>
              <a:gd name="adj" fmla="val 3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ath_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920" y="1283017"/>
            <a:ext cx="3566160" cy="20059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343846"/>
            <a:ext cx="3566160" cy="292608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5C6B7A"/>
                </a:solidFill>
                <a:latin typeface="Calibri"/>
                <a:ea typeface="Malgun Gothic"/>
              </a:rPr>
              <a:t>▶ 사각형: 0.180 m / 8회 / 37.5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237297"/>
            <a:ext cx="3657600" cy="2097405"/>
          </a:xfrm>
          <a:prstGeom prst="roundRect">
            <a:avLst>
              <a:gd name="adj" fmla="val 3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ath_demo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297680" y="1283017"/>
            <a:ext cx="3566160" cy="20059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7680" y="3343846"/>
            <a:ext cx="3566160" cy="292608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5C6B7A"/>
                </a:solidFill>
                <a:latin typeface="Calibri"/>
                <a:ea typeface="Malgun Gothic"/>
              </a:rPr>
              <a:t>▶ 별: 0.343 m / 15회 / 58.8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237297"/>
            <a:ext cx="3657600" cy="2097405"/>
          </a:xfrm>
          <a:prstGeom prst="roundRect">
            <a:avLst>
              <a:gd name="adj" fmla="val 3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ath_demo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92440" y="1283017"/>
            <a:ext cx="3566160" cy="20059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92440" y="3343846"/>
            <a:ext cx="3566160" cy="292608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5C6B7A"/>
                </a:solidFill>
                <a:latin typeface="Calibri"/>
                <a:ea typeface="Malgun Gothic"/>
              </a:rPr>
              <a:t>▶ gauntlet: 0.253 m / 13회 / 58.8 s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502920" y="3611880"/>
          <a:ext cx="3657600" cy="269748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297680" y="3611880"/>
          <a:ext cx="3657600" cy="2697480"/>
        </p:xfrm>
        <a:graphic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092440" y="3611880"/>
            <a:ext cx="3566160" cy="73609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685032"/>
            <a:ext cx="329184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A9E92"/>
                </a:solidFill>
                <a:latin typeface="Calibri"/>
                <a:ea typeface="Malgun Gothic"/>
              </a:rPr>
              <a:t>의도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941064"/>
            <a:ext cx="3291840" cy="370332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1A9E92"/>
              </a:buClr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Malgun Gothic"/>
              </a:rPr>
              <a:t>전환 학습의 효과를 전문가 스위칭(+하이브리드) 기준선과 같은 경로에서 비교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4457700"/>
            <a:ext cx="3566160" cy="1851660"/>
          </a:xfrm>
          <a:prstGeom prst="roundRect">
            <a:avLst>
              <a:gd name="adj" fmla="val 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530852"/>
            <a:ext cx="329184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EC4B6"/>
                </a:solidFill>
                <a:latin typeface="Calibri"/>
                <a:ea typeface="Malgun Gothic"/>
              </a:rPr>
              <a:t>결과 요약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786884"/>
            <a:ext cx="3291840" cy="14859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gauntlet(위험 전환 집중): CTE −27%, 전환 34→13회, 시간 절반 — 목적 그대로</a:t>
            </a:r>
          </a:p>
          <a:p>
            <a:pPr algn="l" marL="201168" indent="-201168">
              <a:lnSpc>
                <a:spcPct val="108000"/>
              </a:lnSpc>
              <a:spcAft>
                <a:spcPts val="200"/>
              </a:spcAft>
              <a:buClr>
                <a:srgbClr val="2EC4B6"/>
              </a:buClr>
              <a:buChar char="•"/>
            </a:pPr>
            <a:r>
              <a:rPr sz="1200" b="0" i="0">
                <a:solidFill>
                  <a:srgbClr val="FFFFFF"/>
                </a:solidFill>
                <a:latin typeface="Calibri"/>
                <a:ea typeface="Malgun Gothic"/>
              </a:rPr>
              <a:t>사각형·별: CTE 동급, 주행 시간은 길고 전환 잦음(순항 속도·전환 직후 감속) → Stage 2·3 관찰 포인트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0F2A44"/>
                </a:solidFill>
                <a:latin typeface="Calibri"/>
                <a:ea typeface="Malgun Gothic"/>
              </a:rPr>
              <a:t>배운 것 7가지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116128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44168"/>
            <a:ext cx="4709160" cy="3200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F2A44"/>
                </a:solidFill>
                <a:latin typeface="Calibri"/>
                <a:ea typeface="Malgun Gothic"/>
              </a:rPr>
              <a:t>전환의 본질은 부호 정합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91640"/>
            <a:ext cx="470916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GD에서 방향은 gait가 정한다. 전환 실패는 정책이 아니라 연속된 두 gait의 위상·부호 충돌이었다.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486400" cy="116128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09360" y="1399032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344168"/>
            <a:ext cx="4709160" cy="3200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F2A44"/>
                </a:solidFill>
                <a:latin typeface="Calibri"/>
                <a:ea typeface="Malgun Gothic"/>
              </a:rPr>
              <a:t>위상 정렬 &gt; 페이드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691640"/>
            <a:ext cx="470916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원인(부호 충돌)을 제거하면 시간 지연 없이 해결된다. 페이드는 증상 완화이며 정렬 위에 얹으면 중복·교란이다.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32888"/>
            <a:ext cx="5486400" cy="116128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42616"/>
            <a:ext cx="4709160" cy="3200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F2A44"/>
                </a:solidFill>
                <a:latin typeface="Calibri"/>
                <a:ea typeface="Malgun Gothic"/>
              </a:rPr>
              <a:t>선택 적용의 원칙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90088"/>
            <a:ext cx="470916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전문가는 k=0에서만 학습돼 정렬 시작에 취약 — 위험쌍에만 정렬(+크로스페이드), 안전쌍은 k=0.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532888"/>
            <a:ext cx="5486400" cy="116128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09360" y="2697480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642616"/>
            <a:ext cx="4709160" cy="3200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F2A44"/>
                </a:solidFill>
                <a:latin typeface="Calibri"/>
                <a:ea typeface="Malgun Gothic"/>
              </a:rPr>
              <a:t>음성 결과도 자산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990088"/>
            <a:ext cx="470916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윈도우 매칭·align+fade·정지 제거·전면 페이드는 실측으로 기각하고 기록해 재논의를 막았다.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31335"/>
            <a:ext cx="5486400" cy="116128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995927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941063"/>
            <a:ext cx="4709160" cy="3200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F2A44"/>
                </a:solidFill>
                <a:latin typeface="Calibri"/>
                <a:ea typeface="Malgun Gothic"/>
              </a:rPr>
              <a:t>증류는 분 단위, 함정은 공변량 이동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288536"/>
            <a:ext cx="470916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결정론 전문가+동일 초기 자세는 얇은 분포를 만든다. 노이즈 주입(DART)과 DAgger가 절반의 실패를 9/10 합격으로 바꿨다.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831335"/>
            <a:ext cx="5486400" cy="116128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09360" y="3995927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941063"/>
            <a:ext cx="4709160" cy="3200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F2A44"/>
                </a:solidFill>
                <a:latin typeface="Calibri"/>
                <a:ea typeface="Malgun Gothic"/>
              </a:rPr>
              <a:t>규칙이 물리를 이길 수 없다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288536"/>
            <a:ext cx="470916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이동 중 회전 진입의 관성 미끄러짐을 종료로 처벌하면 왜곡 인센티브가 생긴다. 연속 보상으로 바꾸자 실패 54%→19%.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29783"/>
            <a:ext cx="11155680" cy="116128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5294375"/>
            <a:ext cx="384048" cy="38404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239512"/>
            <a:ext cx="10378440" cy="3200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F2A44"/>
                </a:solidFill>
                <a:latin typeface="Calibri"/>
                <a:ea typeface="Malgun Gothic"/>
              </a:rPr>
              <a:t>단일 정책의 이점은 어려운 곳에서 드러난다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586983"/>
            <a:ext cx="1037844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쉬운 경로는 동급, 위험 전환이 몰린 gauntlet에서 CTE −27%·전환 1/3·시간 절반.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0F2A44"/>
                </a:solidFill>
                <a:latin typeface="Calibri"/>
                <a:ea typeface="Malgun Gothic"/>
              </a:rPr>
              <a:t>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517904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0"/>
            <a:ext cx="2743200" cy="68580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0F2A44"/>
                </a:solidFill>
                <a:latin typeface="Calibri"/>
                <a:ea typeface="Malgun Gothic"/>
              </a:rPr>
              <a:t>Stage 3 전환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371600"/>
            <a:ext cx="7498079" cy="68580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Stage 2 KL 진단에 따라 lr 2e-4 또는 ep 4. 완료 후 정책 폴더 정리(policies/unified/01~03), 통합 정책 데모 재비교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67712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505456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59152"/>
            <a:ext cx="2743200" cy="68580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0F2A44"/>
                </a:solidFill>
                <a:latin typeface="Calibri"/>
                <a:ea typeface="Malgun Gothic"/>
              </a:rPr>
              <a:t>방위 추종 2단계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359152"/>
            <a:ext cx="7498079" cy="68580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웨이포인트 도달 시 yaw 오차 ≥20°면 CW/CCW 회전 후 진행 — 회전→직진 전환 유형 검증, 통합 정책으로 직접 수행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55264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3493008"/>
            <a:ext cx="384048" cy="38404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346704"/>
            <a:ext cx="2743200" cy="68580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0F2A44"/>
                </a:solidFill>
                <a:latin typeface="Calibri"/>
                <a:ea typeface="Malgun Gothic"/>
              </a:rPr>
              <a:t>δ-보간 연속 조향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346704"/>
            <a:ext cx="7498079" cy="68580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heading ≈ 2δ 가설 검증 — 8-명령 양자화를 넘어 연속 방향 명령으로 (gait provider 확장 지점)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42816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4480560"/>
            <a:ext cx="384048" cy="38404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334256"/>
            <a:ext cx="2743200" cy="68580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0F2A44"/>
                </a:solidFill>
                <a:latin typeface="Calibri"/>
                <a:ea typeface="Malgun Gothic"/>
              </a:rPr>
              <a:t>지속 학습 (Phase 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334256"/>
            <a:ext cx="7498079" cy="68580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새 작업 추가 시 망각 방지: Progress &amp; Compress(증류+EWC), Kickstarting(교사 KL 정규화) — 참고문헌 §3·§6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30368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5468112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321808"/>
            <a:ext cx="2743200" cy="68580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0F2A44"/>
                </a:solidFill>
                <a:latin typeface="Calibri"/>
                <a:ea typeface="Malgun Gothic"/>
              </a:rPr>
              <a:t>Sim-to-Real 준비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321808"/>
            <a:ext cx="7498079" cy="68580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  <a:ea typeface="Malgun Gothic"/>
              </a:rPr>
              <a:t>마찰 무작위화(use_friction_chg) 재도입, 관측 지연·노이즈 강건성, 지형 굴곡(e_d2 &gt; e_l2 파라미터 스터디 연계)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0F2A44"/>
                </a:solidFill>
                <a:latin typeface="Calibri"/>
                <a:ea typeface="Malgun Gothic"/>
              </a:rPr>
              <a:t>참고문헌과 산출물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  <a:ea typeface="Malgun Gothic"/>
              </a:rPr>
              <a:t>docs/references_transition_learning.md — 8개 주제 48편, 서지정보 웹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7498080" cy="3566157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280160"/>
                <a:gridCol w="3840480"/>
                <a:gridCol w="2377440"/>
              </a:tblGrid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주제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대표 문헌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본 연구와의 대응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정책 증류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Rusu+ Policy Distillation (ICLR'16), Parisotto+ Actor-Mimic (ICLR'16), Merel+ NPMP (ICLR'19)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10 전문가 → 단일 명령 조건부 정책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BC / DAgger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Ross+ DAgger (AISTATS'11), Laskey+ DART (CoRL'17)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공변량 이동 처방: 노이즈 주입 + 학생 상태 라벨링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BC→RL 워밍업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Rajeswaran+ DAPG (RSS'18), Uchendu+ JSRL (ICML'23), Ball+ RLPD (ICML'23)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critic 사전 회귀·보수적 std로 초기 붕괴 방지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다중 보행·전환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Yang+ MELA (Sci. Robot.'20), Margolis &amp; Agrawal Walk These Ways (CoRL'22)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보행 조건부 단일 정책, 전환 커리큘럼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뱀 로봇·CPG 위상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Hirose '93, Tesch+ '09, Ijspeert '08, Song+ GD (ICAE'25)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serpenoid gait, 위상 정렬(위상 리셋 유사)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지속 학습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Kirkpatrick+ EWC (PNAS'17), Schwarz+ Progress &amp; Compress (ICML'18), Schmitt+ Kickstarting ('18)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Phase D: 작업 추가 시 망각 방지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183879" y="1325880"/>
            <a:ext cx="3474720" cy="4983480"/>
          </a:xfrm>
          <a:prstGeom prst="roundRect">
            <a:avLst>
              <a:gd name="adj" fmla="val 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1417320"/>
            <a:ext cx="3108960" cy="4846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2EC4B6"/>
                </a:solidFill>
                <a:latin typeface="Calibri"/>
                <a:ea typeface="Malgun Gothic"/>
              </a:rPr>
              <a:t>산출물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2EC4B6"/>
              </a:buClr>
              <a:buChar char="•"/>
            </a:pPr>
            <a:r>
              <a:rPr sz="1050" b="0" i="0">
                <a:solidFill>
                  <a:srgbClr val="FFFFFF"/>
                </a:solidFill>
                <a:latin typeface="Calibri"/>
                <a:ea typeface="Malgun Gothic"/>
              </a:rPr>
              <a:t>policies/unified/00_distilled/ — 증류 정책(model.zip + vecnormalize.pkl), DISTILL_REPORT.md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2EC4B6"/>
              </a:buClr>
              <a:buChar char="•"/>
            </a:pPr>
            <a:r>
              <a:rPr sz="1050" b="0" i="0">
                <a:solidFill>
                  <a:srgbClr val="FFFFFF"/>
                </a:solidFill>
                <a:latin typeface="Calibri"/>
                <a:ea typeface="Malgun Gothic"/>
              </a:rPr>
              <a:t>policies/unified/TRAINING_HISTORY.txt — 통합 계보 원장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2EC4B6"/>
              </a:buClr>
              <a:buChar char="•"/>
            </a:pPr>
            <a:r>
              <a:rPr sz="1050" b="0" i="0">
                <a:solidFill>
                  <a:srgbClr val="FFFFFF"/>
                </a:solidFill>
                <a:latin typeface="Calibri"/>
                <a:ea typeface="Malgun Gothic"/>
              </a:rPr>
              <a:t>training/distill_experts.py, training/path_following.py(--policy unified), training/configs/ppo_unified_transition_stage{1,2}.yaml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2EC4B6"/>
              </a:buClr>
              <a:buChar char="•"/>
            </a:pPr>
            <a:r>
              <a:rPr sz="1050" b="0" i="0">
                <a:solidFill>
                  <a:srgbClr val="FFFFFF"/>
                </a:solidFill>
                <a:latin typeface="Calibri"/>
                <a:ea typeface="Malgun Gothic"/>
              </a:rPr>
              <a:t>horcrux_env/envs/plane_unified_v1.py — 전환 커리큘럼·앵커 근접 보상·위상 정렬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2EC4B6"/>
              </a:buClr>
              <a:buChar char="•"/>
            </a:pPr>
            <a:r>
              <a:rPr sz="1050" b="0" i="0">
                <a:solidFill>
                  <a:srgbClr val="FFFFFF"/>
                </a:solidFill>
                <a:latin typeface="Calibri"/>
                <a:ea typeface="Malgun Gothic"/>
              </a:rPr>
              <a:t>runs/path_follow_demo/ — 모든 데모 영상·궤적·result.txt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2EC4B6"/>
              </a:buClr>
              <a:buChar char="•"/>
            </a:pPr>
            <a:r>
              <a:rPr sz="1050" b="0" i="0">
                <a:solidFill>
                  <a:srgbClr val="FFFFFF"/>
                </a:solidFill>
                <a:latin typeface="Calibri"/>
                <a:ea typeface="Malgun Gothic"/>
              </a:rPr>
              <a:t>CLAUDE_CHANGES.md — 요청 맥락·변경·수치가 담긴 변경 이력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0"/>
            <a:ext cx="7498079" cy="128016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5C6B7A"/>
                </a:solidFill>
                <a:latin typeface="Calibri"/>
                <a:ea typeface="Malgun Gothic"/>
              </a:rPr>
              <a:t>문헌 검증: arXiv 초록·출판사·Crossref로 제목/저자/게재처/연도/ID 확인, 검증 실패로 제외한 항목 없음. 문서 말미에 파이프라인 구성요소↔문헌 대응표 수록.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0F2A44"/>
                </a:solidFill>
                <a:latin typeface="Calibri"/>
                <a:ea typeface="Malgun Gothic"/>
              </a:rPr>
              <a:t>부록: Stage 1/2 설정 요약과 변경 이력 색인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C6B7A"/>
                </a:solidFill>
                <a:latin typeface="Calibri"/>
                <a:ea typeface="Malgun Gothic"/>
              </a:rPr>
              <a:t>Horcrux v2 · 경로 추종 → gait 전환 학습 · 2026-09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55680" cy="301752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914400"/>
                <a:gridCol w="2194560"/>
                <a:gridCol w="8046720"/>
              </a:tblGrid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구분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값</a:t>
                      </a:r>
                    </a:p>
                  </a:txBody>
                  <a:tcPr marL="54864" marR="54864" marT="18288" marB="18288" anchor="ctr">
                    <a:solidFill>
                      <a:srgbClr val="0F2A44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환경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보상 계수 (frozen)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forward 60 · efficiency 3 · healthy 2 · rotation_norm 10 · proj_dist 0 · ctrl 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환경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종료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롤 범위 이탈 30스텝(선형) / 60스텝(회전) · 앵커 종료 없음(anchor_terminate false)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환경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앵커 근접 보상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10·max(0, 1−d/0.2) + 포화 비용 50·min(d, 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환경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전환 커리큘럼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1~4회 · dwell 100 · align · 초기 위상 무작위 · horizon 1000 · 90쌍 균등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PPO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Stage 1 / Stage 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lr 1e-4 · n_epochs 2 → 3 · target_kl 0.04 · γ 0.99 · n_steps 512 · batch 512 · 5×512 tanh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샘플링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num_envs / fps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8 subproc · ≈2,150 fps · 40M ≈ 5.2 h</a:t>
                      </a:r>
                    </a:p>
                  </a:txBody>
                  <a:tcPr marL="54864" marR="54864" marT="18288" marB="18288" anchor="ctr">
                    <a:solidFill>
                      <a:srgbClr val="F2F5F8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평가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eval_freq / 에피소드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algun Gothic"/>
                        </a:rPr>
                        <a:t>250k · 10 (Stage 1) → 20 (Stage 2) 결정론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434840"/>
            <a:ext cx="11155680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07992"/>
            <a:ext cx="10789920" cy="132588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0F2A44"/>
                </a:solidFill>
                <a:latin typeface="Calibri"/>
                <a:ea typeface="Malgun Gothic"/>
              </a:rPr>
              <a:t>CLAUDE_CHANGES.md 주요 항목 (2026-09-08 ~ 09)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위상 정렬 채택·3방식 A/B → 윈도우 매칭 기각 → align+fade 기각 → 정지 제거 진단 정정 → 매끄러움 하이브리드 → result.txt 헤더(+60배 중복 버그 수정)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1A9E92"/>
              </a:buClr>
              <a:buChar char="•"/>
            </a:pPr>
            <a:r>
              <a:rPr sz="1050" b="0" i="0">
                <a:solidFill>
                  <a:srgbClr val="1F2933"/>
                </a:solidFill>
                <a:latin typeface="Calibri"/>
                <a:ea typeface="Malgun Gothic"/>
              </a:rPr>
              <a:t>방위 화살표 렌더 → 전환 학습 파이프라인(env·증류·콜백·YAML) → 증류 완료(v1 실패/v2/DAgger) → Stage 1 착수 → 앵커 근접 보상 설계·재시작 → Stage 1 완료 → Stage 2 착수 → 통합 정책 데모 모드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