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6"/>
    <p:sldId id="257" r:id="rId5"/>
    <p:sldId id="258" r:id="rId4"/>
    <p:sldId id="259" r:id="rId3"/>
    <p:sldId id="260" r:id="rId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5" autoAdjust="0"/>
    <p:restoredTop sz="94660"/>
  </p:normalViewPr>
  <p:slideViewPr>
    <p:cSldViewPr snapToGrid="0">
      <p:cViewPr varScale="1">
        <p:scale>
          <a:sx n="109" d="100"/>
          <a:sy n="109" d="100"/>
        </p:scale>
        <p:origin x="69" y="1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봉섭 송" userId="9dd4fb05f2e6bfde" providerId="LiveId" clId="{1D22D70D-4204-4D58-8D5B-47E947AE2A9A}"/>
    <pc:docChg chg="delSld">
      <pc:chgData name="봉섭 송" userId="9dd4fb05f2e6bfde" providerId="LiveId" clId="{1D22D70D-4204-4D58-8D5B-47E947AE2A9A}" dt="2026-09-01T05:58:56.185" v="1" actId="47"/>
      <pc:docMkLst>
        <pc:docMk/>
      </pc:docMkLst>
      <pc:sldChg chg="del">
        <pc:chgData name="봉섭 송" userId="9dd4fb05f2e6bfde" providerId="LiveId" clId="{1D22D70D-4204-4D58-8D5B-47E947AE2A9A}" dt="2026-09-01T05:58:56.185" v="1" actId="47"/>
        <pc:sldMkLst>
          <pc:docMk/>
          <pc:sldMk cId="2896366608" sldId="257"/>
        </pc:sldMkLst>
      </pc:sldChg>
      <pc:sldChg chg="del">
        <pc:chgData name="봉섭 송" userId="9dd4fb05f2e6bfde" providerId="LiveId" clId="{1D22D70D-4204-4D58-8D5B-47E947AE2A9A}" dt="2026-09-01T05:58:55.089" v="0" actId="47"/>
        <pc:sldMkLst>
          <pc:docMk/>
          <pc:sldMk cId="2042099477" sldId="258"/>
        </pc:sldMkLst>
      </pc:sldChg>
    </pc:docChg>
  </pc:docChgLst>
  <pc:docChgLst>
    <pc:chgData name="봉섭 송" userId="9dd4fb05f2e6bfde" providerId="LiveId" clId="{0270B4CD-82C6-44B5-8118-D32A3FCFFC3F}"/>
    <pc:docChg chg="undo custSel addSld modSld modMainMaster">
      <pc:chgData name="봉섭 송" userId="9dd4fb05f2e6bfde" providerId="LiveId" clId="{0270B4CD-82C6-44B5-8118-D32A3FCFFC3F}" dt="2025-07-25T05:12:46.927" v="485" actId="14"/>
      <pc:docMkLst>
        <pc:docMk/>
      </pc:docMkLst>
      <pc:sldChg chg="modSp mod">
        <pc:chgData name="봉섭 송" userId="9dd4fb05f2e6bfde" providerId="LiveId" clId="{0270B4CD-82C6-44B5-8118-D32A3FCFFC3F}" dt="2025-07-25T05:10:31.525" v="262" actId="20577"/>
        <pc:sldMkLst>
          <pc:docMk/>
          <pc:sldMk cId="2896366608" sldId="257"/>
        </pc:sldMkLst>
        <pc:spChg chg="mod">
          <ac:chgData name="봉섭 송" userId="9dd4fb05f2e6bfde" providerId="LiveId" clId="{0270B4CD-82C6-44B5-8118-D32A3FCFFC3F}" dt="2025-07-25T05:10:31.525" v="262" actId="20577"/>
          <ac:spMkLst>
            <pc:docMk/>
            <pc:sldMk cId="2896366608" sldId="257"/>
            <ac:spMk id="2" creationId="{318D47AD-F087-658B-22EF-7514FABCBCD9}"/>
          </ac:spMkLst>
        </pc:spChg>
      </pc:sldChg>
      <pc:sldChg chg="modSp new mod">
        <pc:chgData name="봉섭 송" userId="9dd4fb05f2e6bfde" providerId="LiveId" clId="{0270B4CD-82C6-44B5-8118-D32A3FCFFC3F}" dt="2025-07-25T05:12:46.927" v="485" actId="14"/>
        <pc:sldMkLst>
          <pc:docMk/>
          <pc:sldMk cId="2042099477" sldId="258"/>
        </pc:sldMkLst>
        <pc:spChg chg="mod">
          <ac:chgData name="봉섭 송" userId="9dd4fb05f2e6bfde" providerId="LiveId" clId="{0270B4CD-82C6-44B5-8118-D32A3FCFFC3F}" dt="2025-07-25T05:12:46.927" v="485" actId="14"/>
          <ac:spMkLst>
            <pc:docMk/>
            <pc:sldMk cId="2042099477" sldId="258"/>
            <ac:spMk id="3" creationId="{EF64EBD5-31A7-87CC-0FAA-E617AF62F420}"/>
          </ac:spMkLst>
        </pc:spChg>
      </pc:sldChg>
      <pc:sldMasterChg chg="modSp mod modSldLayout">
        <pc:chgData name="봉섭 송" userId="9dd4fb05f2e6bfde" providerId="LiveId" clId="{0270B4CD-82C6-44B5-8118-D32A3FCFFC3F}" dt="2025-07-25T05:11:19.174" v="349" actId="404"/>
        <pc:sldMasterMkLst>
          <pc:docMk/>
          <pc:sldMasterMk cId="3503047764" sldId="2147483660"/>
        </pc:sldMasterMkLst>
        <pc:spChg chg="mod">
          <ac:chgData name="봉섭 송" userId="9dd4fb05f2e6bfde" providerId="LiveId" clId="{0270B4CD-82C6-44B5-8118-D32A3FCFFC3F}" dt="2025-07-25T05:09:21.272" v="24" actId="20577"/>
          <ac:spMkLst>
            <pc:docMk/>
            <pc:sldMasterMk cId="3503047764" sldId="2147483660"/>
            <ac:spMk id="2" creationId="{00000000-0000-0000-0000-000000000000}"/>
          </ac:spMkLst>
        </pc:spChg>
        <pc:sldLayoutChg chg="modSp mod">
          <pc:chgData name="봉섭 송" userId="9dd4fb05f2e6bfde" providerId="LiveId" clId="{0270B4CD-82C6-44B5-8118-D32A3FCFFC3F}" dt="2025-07-25T05:11:06.327" v="315" actId="20577"/>
          <pc:sldLayoutMkLst>
            <pc:docMk/>
            <pc:sldMasterMk cId="3503047764" sldId="2147483660"/>
            <pc:sldLayoutMk cId="999962056" sldId="2147483661"/>
          </pc:sldLayoutMkLst>
          <pc:spChg chg="mod">
            <ac:chgData name="봉섭 송" userId="9dd4fb05f2e6bfde" providerId="LiveId" clId="{0270B4CD-82C6-44B5-8118-D32A3FCFFC3F}" dt="2025-07-25T05:10:53.651" v="263" actId="404"/>
            <ac:spMkLst>
              <pc:docMk/>
              <pc:sldMasterMk cId="3503047764" sldId="2147483660"/>
              <pc:sldLayoutMk cId="999962056" sldId="2147483661"/>
              <ac:spMk id="2" creationId="{00000000-0000-0000-0000-000000000000}"/>
            </ac:spMkLst>
          </pc:spChg>
          <pc:spChg chg="mod">
            <ac:chgData name="봉섭 송" userId="9dd4fb05f2e6bfde" providerId="LiveId" clId="{0270B4CD-82C6-44B5-8118-D32A3FCFFC3F}" dt="2025-07-25T05:11:06.327" v="315" actId="20577"/>
            <ac:spMkLst>
              <pc:docMk/>
              <pc:sldMasterMk cId="3503047764" sldId="2147483660"/>
              <pc:sldLayoutMk cId="999962056" sldId="2147483661"/>
              <ac:spMk id="3" creationId="{00000000-0000-0000-0000-000000000000}"/>
            </ac:spMkLst>
          </pc:spChg>
        </pc:sldLayoutChg>
        <pc:sldLayoutChg chg="modSp mod">
          <pc:chgData name="봉섭 송" userId="9dd4fb05f2e6bfde" providerId="LiveId" clId="{0270B4CD-82C6-44B5-8118-D32A3FCFFC3F}" dt="2025-07-25T05:09:57.349" v="160" actId="20577"/>
          <pc:sldLayoutMkLst>
            <pc:docMk/>
            <pc:sldMasterMk cId="3503047764" sldId="2147483660"/>
            <pc:sldLayoutMk cId="3381022345" sldId="2147483662"/>
          </pc:sldLayoutMkLst>
          <pc:spChg chg="mod">
            <ac:chgData name="봉섭 송" userId="9dd4fb05f2e6bfde" providerId="LiveId" clId="{0270B4CD-82C6-44B5-8118-D32A3FCFFC3F}" dt="2025-07-25T05:09:57.349" v="160" actId="20577"/>
            <ac:spMkLst>
              <pc:docMk/>
              <pc:sldMasterMk cId="3503047764" sldId="2147483660"/>
              <pc:sldLayoutMk cId="3381022345" sldId="2147483662"/>
              <ac:spMk id="2" creationId="{00000000-0000-0000-0000-000000000000}"/>
            </ac:spMkLst>
          </pc:spChg>
        </pc:sldLayoutChg>
        <pc:sldLayoutChg chg="modSp mod">
          <pc:chgData name="봉섭 송" userId="9dd4fb05f2e6bfde" providerId="LiveId" clId="{0270B4CD-82C6-44B5-8118-D32A3FCFFC3F}" dt="2025-07-25T05:09:51.662" v="130" actId="20577"/>
          <pc:sldLayoutMkLst>
            <pc:docMk/>
            <pc:sldMasterMk cId="3503047764" sldId="2147483660"/>
            <pc:sldLayoutMk cId="1581295141" sldId="2147483663"/>
          </pc:sldLayoutMkLst>
          <pc:spChg chg="mod">
            <ac:chgData name="봉섭 송" userId="9dd4fb05f2e6bfde" providerId="LiveId" clId="{0270B4CD-82C6-44B5-8118-D32A3FCFFC3F}" dt="2025-07-25T05:09:51.662" v="130" actId="20577"/>
            <ac:spMkLst>
              <pc:docMk/>
              <pc:sldMasterMk cId="3503047764" sldId="2147483660"/>
              <pc:sldLayoutMk cId="1581295141" sldId="2147483663"/>
              <ac:spMk id="2" creationId="{00000000-0000-0000-0000-000000000000}"/>
            </ac:spMkLst>
          </pc:spChg>
        </pc:sldLayoutChg>
        <pc:sldLayoutChg chg="modSp mod">
          <pc:chgData name="봉섭 송" userId="9dd4fb05f2e6bfde" providerId="LiveId" clId="{0270B4CD-82C6-44B5-8118-D32A3FCFFC3F}" dt="2025-07-25T05:10:03.379" v="190" actId="20577"/>
          <pc:sldLayoutMkLst>
            <pc:docMk/>
            <pc:sldMasterMk cId="3503047764" sldId="2147483660"/>
            <pc:sldLayoutMk cId="1320606577" sldId="2147483664"/>
          </pc:sldLayoutMkLst>
          <pc:spChg chg="mod">
            <ac:chgData name="봉섭 송" userId="9dd4fb05f2e6bfde" providerId="LiveId" clId="{0270B4CD-82C6-44B5-8118-D32A3FCFFC3F}" dt="2025-07-25T05:10:03.379" v="190" actId="20577"/>
            <ac:spMkLst>
              <pc:docMk/>
              <pc:sldMasterMk cId="3503047764" sldId="2147483660"/>
              <pc:sldLayoutMk cId="1320606577" sldId="2147483664"/>
              <ac:spMk id="9" creationId="{B27F88D2-EC5E-DBF6-E21D-497995EF9E1B}"/>
            </ac:spMkLst>
          </pc:spChg>
        </pc:sldLayoutChg>
        <pc:sldLayoutChg chg="modSp mod">
          <pc:chgData name="봉섭 송" userId="9dd4fb05f2e6bfde" providerId="LiveId" clId="{0270B4CD-82C6-44B5-8118-D32A3FCFFC3F}" dt="2025-07-25T05:10:09.033" v="220" actId="20577"/>
          <pc:sldLayoutMkLst>
            <pc:docMk/>
            <pc:sldMasterMk cId="3503047764" sldId="2147483660"/>
            <pc:sldLayoutMk cId="2726045758" sldId="2147483665"/>
          </pc:sldLayoutMkLst>
          <pc:spChg chg="mod">
            <ac:chgData name="봉섭 송" userId="9dd4fb05f2e6bfde" providerId="LiveId" clId="{0270B4CD-82C6-44B5-8118-D32A3FCFFC3F}" dt="2025-07-25T05:10:09.033" v="220" actId="20577"/>
            <ac:spMkLst>
              <pc:docMk/>
              <pc:sldMasterMk cId="3503047764" sldId="2147483660"/>
              <pc:sldLayoutMk cId="2726045758" sldId="2147483665"/>
              <ac:spMk id="11" creationId="{F312103E-2AA1-49A9-5F86-9EAEB087527F}"/>
            </ac:spMkLst>
          </pc:spChg>
        </pc:sldLayoutChg>
        <pc:sldLayoutChg chg="modSp mod">
          <pc:chgData name="봉섭 송" userId="9dd4fb05f2e6bfde" providerId="LiveId" clId="{0270B4CD-82C6-44B5-8118-D32A3FCFFC3F}" dt="2025-07-25T05:10:15.159" v="250" actId="20577"/>
          <pc:sldLayoutMkLst>
            <pc:docMk/>
            <pc:sldMasterMk cId="3503047764" sldId="2147483660"/>
            <pc:sldLayoutMk cId="2930056388" sldId="2147483666"/>
          </pc:sldLayoutMkLst>
          <pc:spChg chg="mod">
            <ac:chgData name="봉섭 송" userId="9dd4fb05f2e6bfde" providerId="LiveId" clId="{0270B4CD-82C6-44B5-8118-D32A3FCFFC3F}" dt="2025-07-25T05:10:15.159" v="250" actId="20577"/>
            <ac:spMkLst>
              <pc:docMk/>
              <pc:sldMasterMk cId="3503047764" sldId="2147483660"/>
              <pc:sldLayoutMk cId="2930056388" sldId="2147483666"/>
              <ac:spMk id="7" creationId="{26BAA18B-577E-9702-D54A-360A6F31E0B0}"/>
            </ac:spMkLst>
          </pc:spChg>
        </pc:sldLayoutChg>
        <pc:sldLayoutChg chg="modSp mod">
          <pc:chgData name="봉섭 송" userId="9dd4fb05f2e6bfde" providerId="LiveId" clId="{0270B4CD-82C6-44B5-8118-D32A3FCFFC3F}" dt="2025-07-25T05:10:19.094" v="251"/>
          <pc:sldLayoutMkLst>
            <pc:docMk/>
            <pc:sldMasterMk cId="3503047764" sldId="2147483660"/>
            <pc:sldLayoutMk cId="1444427807" sldId="2147483668"/>
          </pc:sldLayoutMkLst>
          <pc:spChg chg="mod">
            <ac:chgData name="봉섭 송" userId="9dd4fb05f2e6bfde" providerId="LiveId" clId="{0270B4CD-82C6-44B5-8118-D32A3FCFFC3F}" dt="2025-07-25T05:10:19.094" v="251"/>
            <ac:spMkLst>
              <pc:docMk/>
              <pc:sldMasterMk cId="3503047764" sldId="2147483660"/>
              <pc:sldLayoutMk cId="1444427807" sldId="2147483668"/>
              <ac:spMk id="9" creationId="{4E9060D6-2E26-428F-3B94-161B4DB197AB}"/>
            </ac:spMkLst>
          </pc:spChg>
        </pc:sldLayoutChg>
        <pc:sldLayoutChg chg="modSp mod">
          <pc:chgData name="봉섭 송" userId="9dd4fb05f2e6bfde" providerId="LiveId" clId="{0270B4CD-82C6-44B5-8118-D32A3FCFFC3F}" dt="2025-07-25T05:11:19.174" v="349" actId="404"/>
          <pc:sldLayoutMkLst>
            <pc:docMk/>
            <pc:sldMasterMk cId="3503047764" sldId="2147483660"/>
            <pc:sldLayoutMk cId="1414196457" sldId="2147483669"/>
          </pc:sldLayoutMkLst>
          <pc:spChg chg="mod">
            <ac:chgData name="봉섭 송" userId="9dd4fb05f2e6bfde" providerId="LiveId" clId="{0270B4CD-82C6-44B5-8118-D32A3FCFFC3F}" dt="2025-07-25T05:11:19.174" v="349" actId="404"/>
            <ac:spMkLst>
              <pc:docMk/>
              <pc:sldMasterMk cId="3503047764" sldId="2147483660"/>
              <pc:sldLayoutMk cId="1414196457" sldId="2147483669"/>
              <ac:spMk id="6" creationId="{AFC2F428-42EA-F0C0-8AC4-BEBCF19DB73E}"/>
            </ac:spMkLst>
          </pc:spChg>
          <pc:spChg chg="mod">
            <ac:chgData name="봉섭 송" userId="9dd4fb05f2e6bfde" providerId="LiveId" clId="{0270B4CD-82C6-44B5-8118-D32A3FCFFC3F}" dt="2025-07-25T05:11:14.240" v="348" actId="20577"/>
            <ac:spMkLst>
              <pc:docMk/>
              <pc:sldMasterMk cId="3503047764" sldId="2147483660"/>
              <pc:sldLayoutMk cId="1414196457" sldId="2147483669"/>
              <ac:spMk id="7" creationId="{0484623C-BF48-26A0-4CA9-B33540FDBDE4}"/>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경로별 평균 오차 (미터). 낮을수록 좋습니다.</a:t>
            </a:r>
          </a:p>
        </c:rich>
      </c:tx>
      <c:layout/>
      <c:overlay val="0"/>
    </c:title>
    <c:autoTitleDeleted val="0"/>
    <c:plotArea>
      <c:barChart>
        <c:barDir val="col"/>
        <c:grouping val="clustered"/>
        <c:ser>
          <c:idx val="0"/>
          <c:order val="0"/>
          <c:tx>
            <c:strRef>
              <c:f>Sheet1!$B$1</c:f>
              <c:strCache>
                <c:ptCount val="1"/>
                <c:pt idx="0">
                  <c:v>그냥 바꾸기</c:v>
                </c:pt>
              </c:strCache>
            </c:strRef>
          </c:tx>
          <c:spPr>
            <a:solidFill>
              <a:srgbClr val="C0392B"/>
            </a:solidFill>
          </c:spPr>
          <c:cat>
            <c:strRef>
              <c:f>Sheet1!$A$2:$A$4</c:f>
              <c:strCache>
                <c:ptCount val="3"/>
                <c:pt idx="0">
                  <c:v>네모</c:v>
                </c:pt>
                <c:pt idx="1">
                  <c:v>별</c:v>
                </c:pt>
                <c:pt idx="2">
                  <c:v>gauntlet</c:v>
                </c:pt>
              </c:strCache>
            </c:strRef>
          </c:cat>
          <c:val>
            <c:numRef>
              <c:f>Sheet1!$B$2:$B$4</c:f>
              <c:numCache>
                <c:formatCode>General</c:formatCode>
                <c:ptCount val="3"/>
                <c:pt idx="0">
                  <c:v>0.193</c:v>
                </c:pt>
                <c:pt idx="1">
                  <c:v>0.742</c:v>
                </c:pt>
                <c:pt idx="2">
                  <c:v>0.485</c:v>
                </c:pt>
              </c:numCache>
            </c:numRef>
          </c:val>
        </c:ser>
        <c:ser>
          <c:idx val="1"/>
          <c:order val="1"/>
          <c:tx>
            <c:strRef>
              <c:f>Sheet1!$C$1</c:f>
              <c:strCache>
                <c:ptCount val="1"/>
                <c:pt idx="0">
                  <c:v>페이드</c:v>
                </c:pt>
              </c:strCache>
            </c:strRef>
          </c:tx>
          <c:spPr>
            <a:solidFill>
              <a:srgbClr val="E97132"/>
            </a:solidFill>
          </c:spPr>
          <c:cat>
            <c:strRef>
              <c:f>Sheet1!$A$2:$A$4</c:f>
              <c:strCache>
                <c:ptCount val="3"/>
                <c:pt idx="0">
                  <c:v>네모</c:v>
                </c:pt>
                <c:pt idx="1">
                  <c:v>별</c:v>
                </c:pt>
                <c:pt idx="2">
                  <c:v>gauntlet</c:v>
                </c:pt>
              </c:strCache>
            </c:strRef>
          </c:cat>
          <c:val>
            <c:numRef>
              <c:f>Sheet1!$C$2:$C$4</c:f>
              <c:numCache>
                <c:formatCode>General</c:formatCode>
                <c:ptCount val="3"/>
                <c:pt idx="0">
                  <c:v>0.193</c:v>
                </c:pt>
                <c:pt idx="1">
                  <c:v>0.497</c:v>
                </c:pt>
                <c:pt idx="2">
                  <c:v>0.301</c:v>
                </c:pt>
              </c:numCache>
            </c:numRef>
          </c:val>
        </c:ser>
        <c:ser>
          <c:idx val="2"/>
          <c:order val="2"/>
          <c:tx>
            <c:strRef>
              <c:f>Sheet1!$D$1</c:f>
              <c:strCache>
                <c:ptCount val="1"/>
                <c:pt idx="0">
                  <c:v>위상 정렬</c:v>
                </c:pt>
              </c:strCache>
            </c:strRef>
          </c:tx>
          <c:spPr>
            <a:solidFill>
              <a:srgbClr val="2E75B6"/>
            </a:solidFill>
          </c:spPr>
          <c:cat>
            <c:strRef>
              <c:f>Sheet1!$A$2:$A$4</c:f>
              <c:strCache>
                <c:ptCount val="3"/>
                <c:pt idx="0">
                  <c:v>네모</c:v>
                </c:pt>
                <c:pt idx="1">
                  <c:v>별</c:v>
                </c:pt>
                <c:pt idx="2">
                  <c:v>gauntlet</c:v>
                </c:pt>
              </c:strCache>
            </c:strRef>
          </c:cat>
          <c:val>
            <c:numRef>
              <c:f>Sheet1!$D$2:$D$4</c:f>
              <c:numCache>
                <c:formatCode>General</c:formatCode>
                <c:ptCount val="3"/>
                <c:pt idx="0">
                  <c:v>0.193</c:v>
                </c:pt>
                <c:pt idx="1">
                  <c:v>0.433</c:v>
                </c:pt>
                <c:pt idx="2">
                  <c:v>0.472</c:v>
                </c:pt>
              </c:numCache>
            </c:numRef>
          </c:val>
        </c:ser>
        <c:dLbls>
          <c:numFmt formatCode="0.000" sourceLinked="0"/>
          <c:txPr>
            <a:bodyPr/>
            <a:lstStyle/>
            <a:p>
              <a:pPr>
                <a:defRPr sz="70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위험한 세 쌍의 방향 오차 (도)</a:t>
            </a:r>
          </a:p>
        </c:rich>
      </c:tx>
      <c:layout/>
      <c:overlay val="0"/>
    </c:title>
    <c:autoTitleDeleted val="0"/>
    <c:plotArea>
      <c:barChart>
        <c:barDir val="col"/>
        <c:grouping val="clustered"/>
        <c:ser>
          <c:idx val="0"/>
          <c:order val="0"/>
          <c:tx>
            <c:strRef>
              <c:f>Sheet1!$B$1</c:f>
              <c:strCache>
                <c:ptCount val="1"/>
                <c:pt idx="0">
                  <c:v>그냥 바꾸기</c:v>
                </c:pt>
              </c:strCache>
            </c:strRef>
          </c:tx>
          <c:spPr>
            <a:solidFill>
              <a:srgbClr val="C0392B"/>
            </a:solidFill>
          </c:spPr>
          <c:cat>
            <c:strRef>
              <c:f>Sheet1!$A$2:$A$4</c:f>
              <c:strCache>
                <c:ptCount val="3"/>
                <c:pt idx="0">
                  <c:v>bl→right</c:v>
                </c:pt>
                <c:pt idx="1">
                  <c:v>bl→diag_fr</c:v>
                </c:pt>
                <c:pt idx="2">
                  <c:v>br→diag_fl</c:v>
                </c:pt>
              </c:strCache>
            </c:strRef>
          </c:cat>
          <c:val>
            <c:numRef>
              <c:f>Sheet1!$B$2:$B$4</c:f>
              <c:numCache>
                <c:formatCode>General</c:formatCode>
                <c:ptCount val="3"/>
                <c:pt idx="0">
                  <c:v>152.5</c:v>
                </c:pt>
                <c:pt idx="1">
                  <c:v>61.4</c:v>
                </c:pt>
                <c:pt idx="2">
                  <c:v>155.7</c:v>
                </c:pt>
              </c:numCache>
            </c:numRef>
          </c:val>
        </c:ser>
        <c:ser>
          <c:idx val="1"/>
          <c:order val="1"/>
          <c:tx>
            <c:strRef>
              <c:f>Sheet1!$C$1</c:f>
              <c:strCache>
                <c:ptCount val="1"/>
                <c:pt idx="0">
                  <c:v>위상 정렬</c:v>
                </c:pt>
              </c:strCache>
            </c:strRef>
          </c:tx>
          <c:spPr>
            <a:solidFill>
              <a:srgbClr val="2E75B6"/>
            </a:solidFill>
          </c:spPr>
          <c:cat>
            <c:strRef>
              <c:f>Sheet1!$A$2:$A$4</c:f>
              <c:strCache>
                <c:ptCount val="3"/>
                <c:pt idx="0">
                  <c:v>bl→right</c:v>
                </c:pt>
                <c:pt idx="1">
                  <c:v>bl→diag_fr</c:v>
                </c:pt>
                <c:pt idx="2">
                  <c:v>br→diag_fl</c:v>
                </c:pt>
              </c:strCache>
            </c:strRef>
          </c:cat>
          <c:val>
            <c:numRef>
              <c:f>Sheet1!$C$2:$C$4</c:f>
              <c:numCache>
                <c:formatCode>General</c:formatCode>
                <c:ptCount val="3"/>
                <c:pt idx="0">
                  <c:v>1.0</c:v>
                </c:pt>
                <c:pt idx="1">
                  <c:v>0.5</c:v>
                </c:pt>
                <c:pt idx="2">
                  <c:v>3.1</c:v>
                </c:pt>
              </c:numCache>
            </c:numRef>
          </c:val>
        </c:ser>
        <c:dLbls>
          <c:numFmt formatCode="0.0" sourceLinked="0"/>
          <c:txPr>
            <a:bodyPr/>
            <a:lstStyle/>
            <a:p>
              <a:pPr>
                <a:defRPr sz="70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경로별 평균 오차 (미터)</a:t>
            </a:r>
          </a:p>
        </c:rich>
      </c:tx>
      <c:layout/>
      <c:overlay val="0"/>
    </c:title>
    <c:autoTitleDeleted val="0"/>
    <c:plotArea>
      <c:barChart>
        <c:barDir val="col"/>
        <c:grouping val="clustered"/>
        <c:ser>
          <c:idx val="0"/>
          <c:order val="0"/>
          <c:tx>
            <c:strRef>
              <c:f>Sheet1!$B$1</c:f>
              <c:strCache>
                <c:ptCount val="1"/>
                <c:pt idx="0">
                  <c:v>위상 정렬만</c:v>
                </c:pt>
              </c:strCache>
            </c:strRef>
          </c:tx>
          <c:spPr>
            <a:solidFill>
              <a:srgbClr val="203864"/>
            </a:solidFill>
          </c:spPr>
          <c:cat>
            <c:strRef>
              <c:f>Sheet1!$A$2:$A$4</c:f>
              <c:strCache>
                <c:ptCount val="3"/>
                <c:pt idx="0">
                  <c:v>네모</c:v>
                </c:pt>
                <c:pt idx="1">
                  <c:v>별</c:v>
                </c:pt>
                <c:pt idx="2">
                  <c:v>gauntlet</c:v>
                </c:pt>
              </c:strCache>
            </c:strRef>
          </c:cat>
          <c:val>
            <c:numRef>
              <c:f>Sheet1!$B$2:$B$4</c:f>
              <c:numCache>
                <c:formatCode>General</c:formatCode>
                <c:ptCount val="3"/>
                <c:pt idx="0">
                  <c:v>0.193</c:v>
                </c:pt>
                <c:pt idx="1">
                  <c:v>0.433</c:v>
                </c:pt>
                <c:pt idx="2">
                  <c:v>0.472</c:v>
                </c:pt>
              </c:numCache>
            </c:numRef>
          </c:val>
        </c:ser>
        <c:ser>
          <c:idx val="1"/>
          <c:order val="1"/>
          <c:tx>
            <c:strRef>
              <c:f>Sheet1!$C$1</c:f>
              <c:strCache>
                <c:ptCount val="1"/>
                <c:pt idx="0">
                  <c:v>위상 정렬 + 짧은 섞기</c:v>
                </c:pt>
              </c:strCache>
            </c:strRef>
          </c:tx>
          <c:spPr>
            <a:solidFill>
              <a:srgbClr val="2E75B6"/>
            </a:solidFill>
          </c:spPr>
          <c:cat>
            <c:strRef>
              <c:f>Sheet1!$A$2:$A$4</c:f>
              <c:strCache>
                <c:ptCount val="3"/>
                <c:pt idx="0">
                  <c:v>네모</c:v>
                </c:pt>
                <c:pt idx="1">
                  <c:v>별</c:v>
                </c:pt>
                <c:pt idx="2">
                  <c:v>gauntlet</c:v>
                </c:pt>
              </c:strCache>
            </c:strRef>
          </c:cat>
          <c:val>
            <c:numRef>
              <c:f>Sheet1!$C$2:$C$4</c:f>
              <c:numCache>
                <c:formatCode>General</c:formatCode>
                <c:ptCount val="3"/>
                <c:pt idx="0">
                  <c:v>0.193</c:v>
                </c:pt>
                <c:pt idx="1">
                  <c:v>0.334</c:v>
                </c:pt>
                <c:pt idx="2">
                  <c:v>0.345</c:v>
                </c:pt>
              </c:numCache>
            </c:numRef>
          </c:val>
        </c:ser>
        <c:dLbls>
          <c:numFmt formatCode="0.000" sourceLinked="0"/>
          <c:txPr>
            <a:bodyPr/>
            <a:lstStyle/>
            <a:p>
              <a:pPr>
                <a:defRPr sz="70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전문가 점수를 1로 봤을 때 새 정책의 점수</a:t>
            </a:r>
          </a:p>
        </c:rich>
      </c:tx>
      <c:layout/>
      <c:overlay val="0"/>
    </c:title>
    <c:autoTitleDeleted val="0"/>
    <c:plotArea>
      <c:barChart>
        <c:barDir val="col"/>
        <c:grouping val="clustered"/>
        <c:ser>
          <c:idx val="0"/>
          <c:order val="0"/>
          <c:tx>
            <c:strRef>
              <c:f>Sheet1!$B$1</c:f>
              <c:strCache>
                <c:ptCount val="1"/>
                <c:pt idx="0">
                  <c:v>첫 시도</c:v>
                </c:pt>
              </c:strCache>
            </c:strRef>
          </c:tx>
          <c:spPr>
            <a:solidFill>
              <a:srgbClr val="C0392B"/>
            </a:solidFill>
          </c:spPr>
          <c:cat>
            <c:strRef>
              <c:f>Sheet1!$A$2:$A$11</c:f>
              <c:strCache>
                <c:ptCount val="10"/>
                <c:pt idx="0">
                  <c:v>forward</c:v>
                </c:pt>
                <c:pt idx="1">
                  <c:v>left</c:v>
                </c:pt>
                <c:pt idx="2">
                  <c:v>right</c:v>
                </c:pt>
                <c:pt idx="3">
                  <c:v>diag_fl</c:v>
                </c:pt>
                <c:pt idx="4">
                  <c:v>diag_fr</c:v>
                </c:pt>
                <c:pt idx="5">
                  <c:v>backward</c:v>
                </c:pt>
                <c:pt idx="6">
                  <c:v>diag_bl</c:v>
                </c:pt>
                <c:pt idx="7">
                  <c:v>diag_br</c:v>
                </c:pt>
                <c:pt idx="8">
                  <c:v>ccw</c:v>
                </c:pt>
                <c:pt idx="9">
                  <c:v>cw</c:v>
                </c:pt>
              </c:strCache>
            </c:strRef>
          </c:cat>
          <c:val>
            <c:numRef>
              <c:f>Sheet1!$B$2:$B$11</c:f>
              <c:numCache>
                <c:formatCode>General</c:formatCode>
                <c:ptCount val="10"/>
                <c:pt idx="0">
                  <c:v>0.42</c:v>
                </c:pt>
                <c:pt idx="1">
                  <c:v>-0.08</c:v>
                </c:pt>
                <c:pt idx="2">
                  <c:v>-0.19</c:v>
                </c:pt>
                <c:pt idx="3">
                  <c:v>0.54</c:v>
                </c:pt>
                <c:pt idx="4">
                  <c:v>-0.3</c:v>
                </c:pt>
                <c:pt idx="5">
                  <c:v>0.48</c:v>
                </c:pt>
                <c:pt idx="6">
                  <c:v>0.69</c:v>
                </c:pt>
                <c:pt idx="7">
                  <c:v>0.8</c:v>
                </c:pt>
                <c:pt idx="8">
                  <c:v>1.09</c:v>
                </c:pt>
                <c:pt idx="9">
                  <c:v>0.23</c:v>
                </c:pt>
              </c:numCache>
            </c:numRef>
          </c:val>
        </c:ser>
        <c:ser>
          <c:idx val="1"/>
          <c:order val="1"/>
          <c:tx>
            <c:strRef>
              <c:f>Sheet1!$C$1</c:f>
              <c:strCache>
                <c:ptCount val="1"/>
                <c:pt idx="0">
                  <c:v>최종</c:v>
                </c:pt>
              </c:strCache>
            </c:strRef>
          </c:tx>
          <c:spPr>
            <a:solidFill>
              <a:srgbClr val="2E75B6"/>
            </a:solidFill>
          </c:spPr>
          <c:cat>
            <c:strRef>
              <c:f>Sheet1!$A$2:$A$11</c:f>
              <c:strCache>
                <c:ptCount val="10"/>
                <c:pt idx="0">
                  <c:v>forward</c:v>
                </c:pt>
                <c:pt idx="1">
                  <c:v>left</c:v>
                </c:pt>
                <c:pt idx="2">
                  <c:v>right</c:v>
                </c:pt>
                <c:pt idx="3">
                  <c:v>diag_fl</c:v>
                </c:pt>
                <c:pt idx="4">
                  <c:v>diag_fr</c:v>
                </c:pt>
                <c:pt idx="5">
                  <c:v>backward</c:v>
                </c:pt>
                <c:pt idx="6">
                  <c:v>diag_bl</c:v>
                </c:pt>
                <c:pt idx="7">
                  <c:v>diag_br</c:v>
                </c:pt>
                <c:pt idx="8">
                  <c:v>ccw</c:v>
                </c:pt>
                <c:pt idx="9">
                  <c:v>cw</c:v>
                </c:pt>
              </c:strCache>
            </c:strRef>
          </c:cat>
          <c:val>
            <c:numRef>
              <c:f>Sheet1!$C$2:$C$11</c:f>
              <c:numCache>
                <c:formatCode>General</c:formatCode>
                <c:ptCount val="10"/>
                <c:pt idx="0">
                  <c:v>1.0</c:v>
                </c:pt>
                <c:pt idx="1">
                  <c:v>0.98</c:v>
                </c:pt>
                <c:pt idx="2">
                  <c:v>0.99</c:v>
                </c:pt>
                <c:pt idx="3">
                  <c:v>0.98</c:v>
                </c:pt>
                <c:pt idx="4">
                  <c:v>1.0</c:v>
                </c:pt>
                <c:pt idx="5">
                  <c:v>0.95</c:v>
                </c:pt>
                <c:pt idx="6">
                  <c:v>1.0</c:v>
                </c:pt>
                <c:pt idx="7">
                  <c:v>1.0</c:v>
                </c:pt>
                <c:pt idx="8">
                  <c:v>1.01</c:v>
                </c:pt>
                <c:pt idx="9">
                  <c:v>0.6</c:v>
                </c:pt>
              </c:numCache>
            </c:numRef>
          </c:val>
        </c:ser>
        <c:dLbls>
          <c:numFmt formatCode="0.00" sourceLinked="0"/>
          <c:txPr>
            <a:bodyPr/>
            <a:lstStyle/>
            <a:p>
              <a:pPr>
                <a:defRPr sz="65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max val="1.2"/>
          <c:min val="-0.4"/>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title>
      <c:tx>
        <c:rich>
          <a:bodyPr/>
          <a:lstStyle/>
          <a:p>
            <a:r>
              <a:rPr sz="950" b="1">
                <a:solidFill>
                  <a:srgbClr val="203864"/>
                </a:solidFill>
              </a:rPr>
              <a:t>점수</a:t>
            </a:r>
          </a:p>
        </c:rich>
      </c:tx>
      <c:layout/>
      <c:overlay val="0"/>
    </c:title>
    <c:plotArea>
      <c:scatterChart>
        <c:scatterStyle val="lineMarker"/>
        <c:varyColors val="0"/>
        <c:ser>
          <c:idx val="0"/>
          <c:order val="0"/>
          <c:tx>
            <c:strRef>
              <c:f>Sheet1!$B$1</c:f>
              <c:strCache>
                <c:ptCount val="1"/>
                <c:pt idx="0">
                  <c:v>평가 점수</c:v>
                </c:pt>
              </c:strCache>
            </c:strRef>
          </c:tx>
          <c:spPr>
            <a:ln w="19050">
              <a:solidFill>
                <a:srgbClr val="2E75B6"/>
              </a:solidFill>
            </a:ln>
          </c:spPr>
          <c:marker>
            <c:symbol val="none"/>
          </c:marker>
          <c:xVal>
            <c:numRef>
              <c:f>Sheet1!$A$2:$A$81</c:f>
              <c:numCache>
                <c:formatCode>General</c:formatCode>
                <c:ptCount val="80"/>
                <c:pt idx="0">
                  <c:v>0.25</c:v>
                </c:pt>
                <c:pt idx="1">
                  <c:v>0.75</c:v>
                </c:pt>
                <c:pt idx="2">
                  <c:v>1.25</c:v>
                </c:pt>
                <c:pt idx="3">
                  <c:v>1.75</c:v>
                </c:pt>
                <c:pt idx="4">
                  <c:v>2.25</c:v>
                </c:pt>
                <c:pt idx="5">
                  <c:v>2.75</c:v>
                </c:pt>
                <c:pt idx="6">
                  <c:v>3.25</c:v>
                </c:pt>
                <c:pt idx="7">
                  <c:v>3.75</c:v>
                </c:pt>
                <c:pt idx="8">
                  <c:v>4.25</c:v>
                </c:pt>
                <c:pt idx="9">
                  <c:v>4.75</c:v>
                </c:pt>
                <c:pt idx="10">
                  <c:v>5.25</c:v>
                </c:pt>
                <c:pt idx="11">
                  <c:v>5.75</c:v>
                </c:pt>
                <c:pt idx="12">
                  <c:v>6.25</c:v>
                </c:pt>
                <c:pt idx="13">
                  <c:v>6.75</c:v>
                </c:pt>
                <c:pt idx="14">
                  <c:v>7.25</c:v>
                </c:pt>
                <c:pt idx="15">
                  <c:v>7.75</c:v>
                </c:pt>
                <c:pt idx="16">
                  <c:v>8.25</c:v>
                </c:pt>
                <c:pt idx="17">
                  <c:v>8.75</c:v>
                </c:pt>
                <c:pt idx="18">
                  <c:v>9.25</c:v>
                </c:pt>
                <c:pt idx="19">
                  <c:v>9.75</c:v>
                </c:pt>
                <c:pt idx="20">
                  <c:v>10.25</c:v>
                </c:pt>
                <c:pt idx="21">
                  <c:v>10.75</c:v>
                </c:pt>
                <c:pt idx="22">
                  <c:v>11.25</c:v>
                </c:pt>
                <c:pt idx="23">
                  <c:v>11.75</c:v>
                </c:pt>
                <c:pt idx="24">
                  <c:v>12.25</c:v>
                </c:pt>
                <c:pt idx="25">
                  <c:v>12.75</c:v>
                </c:pt>
                <c:pt idx="26">
                  <c:v>13.25</c:v>
                </c:pt>
                <c:pt idx="27">
                  <c:v>13.75</c:v>
                </c:pt>
                <c:pt idx="28">
                  <c:v>14.25</c:v>
                </c:pt>
                <c:pt idx="29">
                  <c:v>14.75</c:v>
                </c:pt>
                <c:pt idx="30">
                  <c:v>15.25</c:v>
                </c:pt>
                <c:pt idx="31">
                  <c:v>15.75</c:v>
                </c:pt>
                <c:pt idx="32">
                  <c:v>16.25</c:v>
                </c:pt>
                <c:pt idx="33">
                  <c:v>16.75</c:v>
                </c:pt>
                <c:pt idx="34">
                  <c:v>17.25</c:v>
                </c:pt>
                <c:pt idx="35">
                  <c:v>17.75</c:v>
                </c:pt>
                <c:pt idx="36">
                  <c:v>18.25</c:v>
                </c:pt>
                <c:pt idx="37">
                  <c:v>18.75</c:v>
                </c:pt>
                <c:pt idx="38">
                  <c:v>19.25</c:v>
                </c:pt>
                <c:pt idx="39">
                  <c:v>19.75</c:v>
                </c:pt>
                <c:pt idx="40">
                  <c:v>20.25</c:v>
                </c:pt>
                <c:pt idx="41">
                  <c:v>20.75</c:v>
                </c:pt>
                <c:pt idx="42">
                  <c:v>21.25</c:v>
                </c:pt>
                <c:pt idx="43">
                  <c:v>21.75</c:v>
                </c:pt>
                <c:pt idx="44">
                  <c:v>22.25</c:v>
                </c:pt>
                <c:pt idx="45">
                  <c:v>22.75</c:v>
                </c:pt>
                <c:pt idx="46">
                  <c:v>23.25</c:v>
                </c:pt>
                <c:pt idx="47">
                  <c:v>23.75</c:v>
                </c:pt>
                <c:pt idx="48">
                  <c:v>24.25</c:v>
                </c:pt>
                <c:pt idx="49">
                  <c:v>24.75</c:v>
                </c:pt>
                <c:pt idx="50">
                  <c:v>25.25</c:v>
                </c:pt>
                <c:pt idx="51">
                  <c:v>25.75</c:v>
                </c:pt>
                <c:pt idx="52">
                  <c:v>26.25</c:v>
                </c:pt>
                <c:pt idx="53">
                  <c:v>26.75</c:v>
                </c:pt>
                <c:pt idx="54">
                  <c:v>27.25</c:v>
                </c:pt>
                <c:pt idx="55">
                  <c:v>27.75</c:v>
                </c:pt>
                <c:pt idx="56">
                  <c:v>28.25</c:v>
                </c:pt>
                <c:pt idx="57">
                  <c:v>28.75</c:v>
                </c:pt>
                <c:pt idx="58">
                  <c:v>29.25</c:v>
                </c:pt>
                <c:pt idx="59">
                  <c:v>29.75</c:v>
                </c:pt>
                <c:pt idx="60">
                  <c:v>30.25</c:v>
                </c:pt>
                <c:pt idx="61">
                  <c:v>30.75</c:v>
                </c:pt>
                <c:pt idx="62">
                  <c:v>31.25</c:v>
                </c:pt>
                <c:pt idx="63">
                  <c:v>31.75</c:v>
                </c:pt>
                <c:pt idx="64">
                  <c:v>32.25</c:v>
                </c:pt>
                <c:pt idx="65">
                  <c:v>32.75</c:v>
                </c:pt>
                <c:pt idx="66">
                  <c:v>33.25</c:v>
                </c:pt>
                <c:pt idx="67">
                  <c:v>33.75</c:v>
                </c:pt>
                <c:pt idx="68">
                  <c:v>34.25</c:v>
                </c:pt>
                <c:pt idx="69">
                  <c:v>34.75</c:v>
                </c:pt>
                <c:pt idx="70">
                  <c:v>35.25</c:v>
                </c:pt>
                <c:pt idx="71">
                  <c:v>35.75</c:v>
                </c:pt>
                <c:pt idx="72">
                  <c:v>36.25</c:v>
                </c:pt>
                <c:pt idx="73">
                  <c:v>36.75</c:v>
                </c:pt>
                <c:pt idx="74">
                  <c:v>37.25</c:v>
                </c:pt>
                <c:pt idx="75">
                  <c:v>37.75</c:v>
                </c:pt>
                <c:pt idx="76">
                  <c:v>38.25</c:v>
                </c:pt>
                <c:pt idx="77">
                  <c:v>38.75</c:v>
                </c:pt>
                <c:pt idx="78">
                  <c:v>39.25</c:v>
                </c:pt>
                <c:pt idx="79">
                  <c:v>40.0</c:v>
                </c:pt>
              </c:numCache>
            </c:numRef>
          </c:xVal>
          <c:yVal>
            <c:numRef>
              <c:f>Sheet1!$B$2:$B$81</c:f>
              <c:numCache>
                <c:formatCode>General</c:formatCode>
                <c:ptCount val="80"/>
                <c:pt idx="0">
                  <c:v>6058.27880859375</c:v>
                </c:pt>
                <c:pt idx="1">
                  <c:v>10073.849609375</c:v>
                </c:pt>
                <c:pt idx="2">
                  <c:v>11313.8955078125</c:v>
                </c:pt>
                <c:pt idx="3">
                  <c:v>-647.5819702148438</c:v>
                </c:pt>
                <c:pt idx="4">
                  <c:v>-3962.8828125</c:v>
                </c:pt>
                <c:pt idx="5">
                  <c:v>4444.7314453125</c:v>
                </c:pt>
                <c:pt idx="6">
                  <c:v>75.37801361083984</c:v>
                </c:pt>
                <c:pt idx="7">
                  <c:v>7993.6767578125</c:v>
                </c:pt>
                <c:pt idx="8">
                  <c:v>13707.375</c:v>
                </c:pt>
                <c:pt idx="9">
                  <c:v>17208.634765625</c:v>
                </c:pt>
                <c:pt idx="10">
                  <c:v>12787.55078125</c:v>
                </c:pt>
                <c:pt idx="11">
                  <c:v>13912.1474609375</c:v>
                </c:pt>
                <c:pt idx="12">
                  <c:v>8661.8193359375</c:v>
                </c:pt>
                <c:pt idx="13">
                  <c:v>10801.619140625</c:v>
                </c:pt>
                <c:pt idx="14">
                  <c:v>6010.9453125</c:v>
                </c:pt>
                <c:pt idx="15">
                  <c:v>9026.4501953125</c:v>
                </c:pt>
                <c:pt idx="16">
                  <c:v>15419.9794921875</c:v>
                </c:pt>
                <c:pt idx="17">
                  <c:v>7735.6669921875</c:v>
                </c:pt>
                <c:pt idx="18">
                  <c:v>17920.6953125</c:v>
                </c:pt>
                <c:pt idx="19">
                  <c:v>11238.8935546875</c:v>
                </c:pt>
                <c:pt idx="20">
                  <c:v>19169.685546875</c:v>
                </c:pt>
                <c:pt idx="21">
                  <c:v>17916.6640625</c:v>
                </c:pt>
                <c:pt idx="22">
                  <c:v>16139.75</c:v>
                </c:pt>
                <c:pt idx="23">
                  <c:v>1620.0848388671875</c:v>
                </c:pt>
                <c:pt idx="24">
                  <c:v>4685.87255859375</c:v>
                </c:pt>
                <c:pt idx="25">
                  <c:v>10712.5791015625</c:v>
                </c:pt>
                <c:pt idx="26">
                  <c:v>9830.177734375</c:v>
                </c:pt>
                <c:pt idx="27">
                  <c:v>18197.0078125</c:v>
                </c:pt>
                <c:pt idx="28">
                  <c:v>11649.6376953125</c:v>
                </c:pt>
                <c:pt idx="29">
                  <c:v>10210.9931640625</c:v>
                </c:pt>
                <c:pt idx="30">
                  <c:v>12321.623046875</c:v>
                </c:pt>
                <c:pt idx="31">
                  <c:v>15915.4150390625</c:v>
                </c:pt>
                <c:pt idx="32">
                  <c:v>16699.435546875</c:v>
                </c:pt>
                <c:pt idx="33">
                  <c:v>8862.1201171875</c:v>
                </c:pt>
                <c:pt idx="34">
                  <c:v>10622.130859375</c:v>
                </c:pt>
                <c:pt idx="35">
                  <c:v>21192.75390625</c:v>
                </c:pt>
                <c:pt idx="36">
                  <c:v>20578.267578125</c:v>
                </c:pt>
                <c:pt idx="37">
                  <c:v>8116.8544921875</c:v>
                </c:pt>
                <c:pt idx="38">
                  <c:v>17181.880859375</c:v>
                </c:pt>
                <c:pt idx="39">
                  <c:v>15879.890625</c:v>
                </c:pt>
                <c:pt idx="40">
                  <c:v>10363.017578125</c:v>
                </c:pt>
                <c:pt idx="41">
                  <c:v>9134.64453125</c:v>
                </c:pt>
                <c:pt idx="42">
                  <c:v>16752.5234375</c:v>
                </c:pt>
                <c:pt idx="43">
                  <c:v>14281.4296875</c:v>
                </c:pt>
                <c:pt idx="44">
                  <c:v>14613.6513671875</c:v>
                </c:pt>
                <c:pt idx="45">
                  <c:v>13580.8896484375</c:v>
                </c:pt>
                <c:pt idx="46">
                  <c:v>17752.23046875</c:v>
                </c:pt>
                <c:pt idx="47">
                  <c:v>18755.802734375</c:v>
                </c:pt>
                <c:pt idx="48">
                  <c:v>12020.365234375</c:v>
                </c:pt>
                <c:pt idx="49">
                  <c:v>12830.478515625</c:v>
                </c:pt>
                <c:pt idx="50">
                  <c:v>14236.01953125</c:v>
                </c:pt>
                <c:pt idx="51">
                  <c:v>10654.34765625</c:v>
                </c:pt>
                <c:pt idx="52">
                  <c:v>22181.40625</c:v>
                </c:pt>
                <c:pt idx="53">
                  <c:v>12709.650390625</c:v>
                </c:pt>
                <c:pt idx="54">
                  <c:v>7389.13427734375</c:v>
                </c:pt>
                <c:pt idx="55">
                  <c:v>13161.3857421875</c:v>
                </c:pt>
                <c:pt idx="56">
                  <c:v>13298.0380859375</c:v>
                </c:pt>
                <c:pt idx="57">
                  <c:v>20892.26953125</c:v>
                </c:pt>
                <c:pt idx="58">
                  <c:v>9083.4931640625</c:v>
                </c:pt>
                <c:pt idx="59">
                  <c:v>10152.8212890625</c:v>
                </c:pt>
                <c:pt idx="60">
                  <c:v>20066.740234375</c:v>
                </c:pt>
                <c:pt idx="61">
                  <c:v>18159.79296875</c:v>
                </c:pt>
                <c:pt idx="62">
                  <c:v>16361.8046875</c:v>
                </c:pt>
                <c:pt idx="63">
                  <c:v>10742.3486328125</c:v>
                </c:pt>
                <c:pt idx="64">
                  <c:v>12105.138671875</c:v>
                </c:pt>
                <c:pt idx="65">
                  <c:v>17802.529296875</c:v>
                </c:pt>
                <c:pt idx="66">
                  <c:v>14845.099609375</c:v>
                </c:pt>
                <c:pt idx="67">
                  <c:v>22046.96484375</c:v>
                </c:pt>
                <c:pt idx="68">
                  <c:v>16522.208984375</c:v>
                </c:pt>
                <c:pt idx="69">
                  <c:v>14847.6259765625</c:v>
                </c:pt>
                <c:pt idx="70">
                  <c:v>11419.1572265625</c:v>
                </c:pt>
                <c:pt idx="71">
                  <c:v>12378.19921875</c:v>
                </c:pt>
                <c:pt idx="72">
                  <c:v>18712.88671875</c:v>
                </c:pt>
                <c:pt idx="73">
                  <c:v>13561.462890625</c:v>
                </c:pt>
                <c:pt idx="74">
                  <c:v>11036.08203125</c:v>
                </c:pt>
                <c:pt idx="75">
                  <c:v>18506.3359375</c:v>
                </c:pt>
                <c:pt idx="76">
                  <c:v>13730.5</c:v>
                </c:pt>
                <c:pt idx="77">
                  <c:v>17009.04296875</c:v>
                </c:pt>
                <c:pt idx="78">
                  <c:v>10470.5693359375</c:v>
                </c:pt>
                <c:pt idx="79">
                  <c:v>19244.3984375</c:v>
                </c:pt>
              </c:numCache>
            </c:numRef>
          </c:yVal>
          <c:smooth val="0"/>
        </c:ser>
        <c:ser>
          <c:idx val="1"/>
          <c:order val="1"/>
          <c:tx>
            <c:strRef>
              <c:f>Sheet1!$B$83</c:f>
              <c:strCache>
                <c:ptCount val="1"/>
                <c:pt idx="0">
                  <c:v>학습 중 점수 (이동평균)</c:v>
                </c:pt>
              </c:strCache>
            </c:strRef>
          </c:tx>
          <c:spPr>
            <a:ln w="19050">
              <a:solidFill>
                <a:srgbClr val="203864"/>
              </a:solidFill>
            </a:ln>
          </c:spPr>
          <c:marker>
            <c:symbol val="none"/>
          </c:marker>
          <c:xVal>
            <c:numRef>
              <c:f>Sheet1!$A$84:$A$163</c:f>
              <c:numCache>
                <c:formatCode>General</c:formatCode>
                <c:ptCount val="80"/>
                <c:pt idx="0">
                  <c:v>0.086016</c:v>
                </c:pt>
                <c:pt idx="1">
                  <c:v>0.589824</c:v>
                </c:pt>
                <c:pt idx="2">
                  <c:v>1.093632</c:v>
                </c:pt>
                <c:pt idx="3">
                  <c:v>1.601536</c:v>
                </c:pt>
                <c:pt idx="4">
                  <c:v>2.105344</c:v>
                </c:pt>
                <c:pt idx="5">
                  <c:v>2.609152</c:v>
                </c:pt>
                <c:pt idx="6">
                  <c:v>3.117056</c:v>
                </c:pt>
                <c:pt idx="7">
                  <c:v>3.620864</c:v>
                </c:pt>
                <c:pt idx="8">
                  <c:v>4.124672</c:v>
                </c:pt>
                <c:pt idx="9">
                  <c:v>4.632576</c:v>
                </c:pt>
                <c:pt idx="10">
                  <c:v>5.136384</c:v>
                </c:pt>
                <c:pt idx="11">
                  <c:v>5.640192</c:v>
                </c:pt>
                <c:pt idx="12">
                  <c:v>6.148096</c:v>
                </c:pt>
                <c:pt idx="13">
                  <c:v>6.651904</c:v>
                </c:pt>
                <c:pt idx="14">
                  <c:v>7.155712</c:v>
                </c:pt>
                <c:pt idx="15">
                  <c:v>7.663616</c:v>
                </c:pt>
                <c:pt idx="16">
                  <c:v>8.167424</c:v>
                </c:pt>
                <c:pt idx="17">
                  <c:v>8.675328</c:v>
                </c:pt>
                <c:pt idx="18">
                  <c:v>9.179136</c:v>
                </c:pt>
                <c:pt idx="19">
                  <c:v>9.682944</c:v>
                </c:pt>
                <c:pt idx="20">
                  <c:v>10.190848</c:v>
                </c:pt>
                <c:pt idx="21">
                  <c:v>10.694656</c:v>
                </c:pt>
                <c:pt idx="22">
                  <c:v>11.198464</c:v>
                </c:pt>
                <c:pt idx="23">
                  <c:v>11.706368</c:v>
                </c:pt>
                <c:pt idx="24">
                  <c:v>12.210176</c:v>
                </c:pt>
                <c:pt idx="25">
                  <c:v>12.713984</c:v>
                </c:pt>
                <c:pt idx="26">
                  <c:v>13.221888</c:v>
                </c:pt>
                <c:pt idx="27">
                  <c:v>13.725696</c:v>
                </c:pt>
                <c:pt idx="28">
                  <c:v>14.229504</c:v>
                </c:pt>
                <c:pt idx="29">
                  <c:v>14.737408</c:v>
                </c:pt>
                <c:pt idx="30">
                  <c:v>15.241216</c:v>
                </c:pt>
                <c:pt idx="31">
                  <c:v>15.745024</c:v>
                </c:pt>
                <c:pt idx="32">
                  <c:v>16.252928</c:v>
                </c:pt>
                <c:pt idx="33">
                  <c:v>16.756736</c:v>
                </c:pt>
                <c:pt idx="34">
                  <c:v>17.26464</c:v>
                </c:pt>
                <c:pt idx="35">
                  <c:v>17.768448</c:v>
                </c:pt>
                <c:pt idx="36">
                  <c:v>18.272256</c:v>
                </c:pt>
                <c:pt idx="37">
                  <c:v>18.78016</c:v>
                </c:pt>
                <c:pt idx="38">
                  <c:v>19.283968</c:v>
                </c:pt>
                <c:pt idx="39">
                  <c:v>19.787776</c:v>
                </c:pt>
                <c:pt idx="40">
                  <c:v>20.29568</c:v>
                </c:pt>
                <c:pt idx="41">
                  <c:v>20.799488</c:v>
                </c:pt>
                <c:pt idx="42">
                  <c:v>21.303296</c:v>
                </c:pt>
                <c:pt idx="43">
                  <c:v>21.8112</c:v>
                </c:pt>
                <c:pt idx="44">
                  <c:v>22.315008</c:v>
                </c:pt>
                <c:pt idx="45">
                  <c:v>22.818816</c:v>
                </c:pt>
                <c:pt idx="46">
                  <c:v>23.32672</c:v>
                </c:pt>
                <c:pt idx="47">
                  <c:v>23.830528</c:v>
                </c:pt>
                <c:pt idx="48">
                  <c:v>24.338432</c:v>
                </c:pt>
                <c:pt idx="49">
                  <c:v>24.84224</c:v>
                </c:pt>
                <c:pt idx="50">
                  <c:v>25.346048</c:v>
                </c:pt>
                <c:pt idx="51">
                  <c:v>25.853952</c:v>
                </c:pt>
                <c:pt idx="52">
                  <c:v>26.35776</c:v>
                </c:pt>
                <c:pt idx="53">
                  <c:v>26.861568</c:v>
                </c:pt>
                <c:pt idx="54">
                  <c:v>27.369472</c:v>
                </c:pt>
                <c:pt idx="55">
                  <c:v>27.87328</c:v>
                </c:pt>
                <c:pt idx="56">
                  <c:v>28.377088</c:v>
                </c:pt>
                <c:pt idx="57">
                  <c:v>28.884992</c:v>
                </c:pt>
                <c:pt idx="58">
                  <c:v>29.3888</c:v>
                </c:pt>
                <c:pt idx="59">
                  <c:v>29.892608</c:v>
                </c:pt>
                <c:pt idx="60">
                  <c:v>30.400512</c:v>
                </c:pt>
                <c:pt idx="61">
                  <c:v>30.90432</c:v>
                </c:pt>
                <c:pt idx="62">
                  <c:v>31.408128</c:v>
                </c:pt>
                <c:pt idx="63">
                  <c:v>31.916032</c:v>
                </c:pt>
                <c:pt idx="64">
                  <c:v>32.41984</c:v>
                </c:pt>
                <c:pt idx="65">
                  <c:v>32.927744</c:v>
                </c:pt>
                <c:pt idx="66">
                  <c:v>33.431552</c:v>
                </c:pt>
                <c:pt idx="67">
                  <c:v>33.93536</c:v>
                </c:pt>
                <c:pt idx="68">
                  <c:v>34.443264</c:v>
                </c:pt>
                <c:pt idx="69">
                  <c:v>34.947072</c:v>
                </c:pt>
                <c:pt idx="70">
                  <c:v>35.45088</c:v>
                </c:pt>
                <c:pt idx="71">
                  <c:v>35.958784</c:v>
                </c:pt>
                <c:pt idx="72">
                  <c:v>36.462592</c:v>
                </c:pt>
                <c:pt idx="73">
                  <c:v>36.9664</c:v>
                </c:pt>
                <c:pt idx="74">
                  <c:v>37.474304</c:v>
                </c:pt>
                <c:pt idx="75">
                  <c:v>37.978112</c:v>
                </c:pt>
                <c:pt idx="76">
                  <c:v>38.48192</c:v>
                </c:pt>
                <c:pt idx="77">
                  <c:v>38.989824</c:v>
                </c:pt>
                <c:pt idx="78">
                  <c:v>39.493632</c:v>
                </c:pt>
                <c:pt idx="79">
                  <c:v>40.001536</c:v>
                </c:pt>
              </c:numCache>
            </c:numRef>
          </c:xVal>
          <c:yVal>
            <c:numRef>
              <c:f>Sheet1!$B$84:$B$163</c:f>
              <c:numCache>
                <c:formatCode>General</c:formatCode>
                <c:ptCount val="80"/>
                <c:pt idx="0">
                  <c:v>-16036.969775390628</c:v>
                </c:pt>
                <c:pt idx="1">
                  <c:v>-5385.754736328126</c:v>
                </c:pt>
                <c:pt idx="2">
                  <c:v>1767.8215454101564</c:v>
                </c:pt>
                <c:pt idx="3">
                  <c:v>5724.872412109375</c:v>
                </c:pt>
                <c:pt idx="4">
                  <c:v>-26.65316629409783</c:v>
                </c:pt>
                <c:pt idx="5">
                  <c:v>1419.1934814453125</c:v>
                </c:pt>
                <c:pt idx="6">
                  <c:v>606.0710985183715</c:v>
                </c:pt>
                <c:pt idx="7">
                  <c:v>4826.544177246094</c:v>
                </c:pt>
                <c:pt idx="8">
                  <c:v>5230.04873046875</c:v>
                </c:pt>
                <c:pt idx="9">
                  <c:v>5164.660473632812</c:v>
                </c:pt>
                <c:pt idx="10">
                  <c:v>3578.5574462890627</c:v>
                </c:pt>
                <c:pt idx="11">
                  <c:v>4884.188439941407</c:v>
                </c:pt>
                <c:pt idx="12">
                  <c:v>7830.982861328126</c:v>
                </c:pt>
                <c:pt idx="13">
                  <c:v>7707.540209960937</c:v>
                </c:pt>
                <c:pt idx="14">
                  <c:v>9616.398193359373</c:v>
                </c:pt>
                <c:pt idx="15">
                  <c:v>9445.7626953125</c:v>
                </c:pt>
                <c:pt idx="16">
                  <c:v>6426.115112304688</c:v>
                </c:pt>
                <c:pt idx="17">
                  <c:v>8705.138623046876</c:v>
                </c:pt>
                <c:pt idx="18">
                  <c:v>8784.335131835936</c:v>
                </c:pt>
                <c:pt idx="19">
                  <c:v>9524.218212890626</c:v>
                </c:pt>
                <c:pt idx="20">
                  <c:v>10032.524511718751</c:v>
                </c:pt>
                <c:pt idx="21">
                  <c:v>8580.089282226563</c:v>
                </c:pt>
                <c:pt idx="22">
                  <c:v>10982.697753906252</c:v>
                </c:pt>
                <c:pt idx="23">
                  <c:v>10398.909008789064</c:v>
                </c:pt>
                <c:pt idx="24">
                  <c:v>8847.936303710938</c:v>
                </c:pt>
                <c:pt idx="25">
                  <c:v>9960.883569335938</c:v>
                </c:pt>
                <c:pt idx="26">
                  <c:v>10146.640380859375</c:v>
                </c:pt>
                <c:pt idx="27">
                  <c:v>9818.63935546875</c:v>
                </c:pt>
                <c:pt idx="28">
                  <c:v>8598.401416015624</c:v>
                </c:pt>
                <c:pt idx="29">
                  <c:v>9035.049169921875</c:v>
                </c:pt>
                <c:pt idx="30">
                  <c:v>11282.470263671874</c:v>
                </c:pt>
                <c:pt idx="31">
                  <c:v>11536.38466796875</c:v>
                </c:pt>
                <c:pt idx="32">
                  <c:v>12056.379980468751</c:v>
                </c:pt>
                <c:pt idx="33">
                  <c:v>10834.374755859375</c:v>
                </c:pt>
                <c:pt idx="34">
                  <c:v>9321.437915039061</c:v>
                </c:pt>
                <c:pt idx="35">
                  <c:v>8336.431420898438</c:v>
                </c:pt>
                <c:pt idx="36">
                  <c:v>12142.472656250002</c:v>
                </c:pt>
                <c:pt idx="37">
                  <c:v>9437.927270507815</c:v>
                </c:pt>
                <c:pt idx="38">
                  <c:v>10179.130566406251</c:v>
                </c:pt>
                <c:pt idx="39">
                  <c:v>11288.83935546875</c:v>
                </c:pt>
                <c:pt idx="40">
                  <c:v>10903.899316406252</c:v>
                </c:pt>
                <c:pt idx="41">
                  <c:v>10112.9279296875</c:v>
                </c:pt>
                <c:pt idx="42">
                  <c:v>9489.57294921875</c:v>
                </c:pt>
                <c:pt idx="43">
                  <c:v>10685.570996093751</c:v>
                </c:pt>
                <c:pt idx="44">
                  <c:v>10007.80458984375</c:v>
                </c:pt>
                <c:pt idx="45">
                  <c:v>10303.2416015625</c:v>
                </c:pt>
                <c:pt idx="46">
                  <c:v>10544.866259765624</c:v>
                </c:pt>
                <c:pt idx="47">
                  <c:v>13608.911279296875</c:v>
                </c:pt>
                <c:pt idx="48">
                  <c:v>10245.58115234375</c:v>
                </c:pt>
                <c:pt idx="49">
                  <c:v>9655.095703125</c:v>
                </c:pt>
                <c:pt idx="50">
                  <c:v>11364.845263671874</c:v>
                </c:pt>
                <c:pt idx="51">
                  <c:v>10476.74404296875</c:v>
                </c:pt>
                <c:pt idx="52">
                  <c:v>12184.463671875</c:v>
                </c:pt>
                <c:pt idx="53">
                  <c:v>12441.706787109375</c:v>
                </c:pt>
                <c:pt idx="54">
                  <c:v>11042.798779296872</c:v>
                </c:pt>
                <c:pt idx="55">
                  <c:v>8692.912866210938</c:v>
                </c:pt>
                <c:pt idx="56">
                  <c:v>12282.971093750002</c:v>
                </c:pt>
                <c:pt idx="57">
                  <c:v>11400.936181640629</c:v>
                </c:pt>
                <c:pt idx="58">
                  <c:v>13081.397021484378</c:v>
                </c:pt>
                <c:pt idx="59">
                  <c:v>12986.860302734376</c:v>
                </c:pt>
                <c:pt idx="60">
                  <c:v>11508.30595703125</c:v>
                </c:pt>
                <c:pt idx="61">
                  <c:v>10806.140576171874</c:v>
                </c:pt>
                <c:pt idx="62">
                  <c:v>10659.561914062499</c:v>
                </c:pt>
                <c:pt idx="63">
                  <c:v>13372.004785156249</c:v>
                </c:pt>
                <c:pt idx="64">
                  <c:v>12881.25654296875</c:v>
                </c:pt>
                <c:pt idx="65">
                  <c:v>12082.684326171875</c:v>
                </c:pt>
                <c:pt idx="66">
                  <c:v>12298.168603515627</c:v>
                </c:pt>
                <c:pt idx="67">
                  <c:v>11907.256494140625</c:v>
                </c:pt>
                <c:pt idx="68">
                  <c:v>13506.839062500001</c:v>
                </c:pt>
                <c:pt idx="69">
                  <c:v>15527.501220703123</c:v>
                </c:pt>
                <c:pt idx="70">
                  <c:v>13203.065087890625</c:v>
                </c:pt>
                <c:pt idx="71">
                  <c:v>12650.313427734374</c:v>
                </c:pt>
                <c:pt idx="72">
                  <c:v>13490.131347656252</c:v>
                </c:pt>
                <c:pt idx="73">
                  <c:v>14091.2033203125</c:v>
                </c:pt>
                <c:pt idx="74">
                  <c:v>13942.602685546875</c:v>
                </c:pt>
                <c:pt idx="75">
                  <c:v>13302.791992187502</c:v>
                </c:pt>
                <c:pt idx="76">
                  <c:v>12307.486328125</c:v>
                </c:pt>
                <c:pt idx="77">
                  <c:v>10551.093603515625</c:v>
                </c:pt>
                <c:pt idx="78">
                  <c:v>12790.877099609377</c:v>
                </c:pt>
                <c:pt idx="79">
                  <c:v>13124.225000000002</c:v>
                </c:pt>
              </c:numCache>
            </c:numRef>
          </c:yVal>
          <c:smooth val="0"/>
        </c:ser>
        <c:axId val="-2128940872"/>
        <c:axId val="-2129643912"/>
      </c:scatterChart>
      <c:valAx>
        <c:axId val="-2128940872"/>
        <c:scaling>
          <c:orientation val="minMax"/>
        </c:scaling>
        <c:delete val="0"/>
        <c:axPos val="b"/>
        <c:title>
          <c:tx>
            <c:rich>
              <a:bodyPr/>
              <a:lstStyle/>
              <a:p>
                <a:r>
                  <a:rPr sz="800"/>
                  <a:t>학습 스텝 (백만)</a:t>
                </a:r>
              </a:p>
            </c:rich>
          </c:tx>
          <c:layout/>
          <c:overlay val="0"/>
        </c:title>
        <c:numFmt formatCode="General" sourceLinked="1"/>
        <c:majorTickMark val="out"/>
        <c:minorTickMark val="none"/>
        <c:tickLblPos val="nextTo"/>
        <c:spPr>
          <a:ln>
            <a:solidFill>
              <a:srgbClr val="C7D3E3"/>
            </a:solidFill>
          </a:ln>
        </c:spPr>
        <c:txPr>
          <a:bodyPr/>
          <a:lstStyle/>
          <a:p>
            <a:pPr>
              <a:defRPr sz="800"/>
            </a:pPr>
          </a:p>
        </c:txPr>
        <c:crossAx val="-2129643912"/>
        <c:crosses val="autoZero"/>
        <c:crossBetween val="midCat"/>
      </c:valAx>
      <c:valAx>
        <c:axId val="-2129643912"/>
        <c:scaling>
          <c:orientation val="minMax"/>
        </c:scaling>
        <c:delete val="0"/>
        <c:axPos val="l"/>
        <c:majorGridlines>
          <c:spPr>
            <a:ln>
              <a:solidFill>
                <a:srgbClr val="E1E6EC"/>
              </a:solidFill>
            </a:ln>
          </c:spPr>
        </c:majorGridlines>
        <c:numFmt formatCode="#,##0" sourceLinked="0"/>
        <c:majorTickMark val="out"/>
        <c:minorTickMark val="none"/>
        <c:tickLblPos val="nextTo"/>
        <c:spPr>
          <a:ln>
            <a:solidFill>
              <a:srgbClr val="C7D3E3"/>
            </a:solidFill>
          </a:ln>
        </c:spPr>
        <c:txPr>
          <a:bodyPr/>
          <a:lstStyle/>
          <a:p>
            <a:pPr>
              <a:defRPr sz="800"/>
            </a:pPr>
          </a:p>
        </c:txPr>
        <c:crossAx val="-2128940872"/>
        <c:crosses val="autoZero"/>
        <c:crossBetween val="midCat"/>
      </c:valAx>
    </c:plotArea>
    <c:legend>
      <c:legendPos val="b"/>
      <c:layout/>
      <c:overlay val="0"/>
      <c:txPr>
        <a:bodyPr/>
        <a:lstStyle/>
        <a:p>
          <a:pPr>
            <a:defRPr sz="800"/>
          </a:pPr>
        </a:p>
      </c:txPr>
    </c:legend>
    <c:plotVisOnly val="1"/>
    <c:dispBlanksAs val="gap"/>
    <c:showDLblsOverMax val="0"/>
  </c:chart>
  <c:txPr>
    <a:bodyPr/>
    <a:lstStyle/>
    <a:p>
      <a:pPr>
        <a:defRPr sz="800">
          <a:latin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title>
      <c:tx>
        <c:rich>
          <a:bodyPr/>
          <a:lstStyle/>
          <a:p>
            <a:r>
              <a:rPr sz="950" b="1">
                <a:solidFill>
                  <a:srgbClr val="203864"/>
                </a:solidFill>
              </a:rPr>
              <a:t>가치 함수의 정확도</a:t>
            </a:r>
          </a:p>
        </c:rich>
      </c:tx>
      <c:layout/>
      <c:overlay val="0"/>
    </c:title>
    <c:plotArea>
      <c:scatterChart>
        <c:scatterStyle val="lineMarker"/>
        <c:varyColors val="0"/>
        <c:ser>
          <c:idx val="0"/>
          <c:order val="0"/>
          <c:tx>
            <c:strRef>
              <c:f>Sheet1!$B$1</c:f>
              <c:strCache>
                <c:ptCount val="1"/>
                <c:pt idx="0">
                  <c:v>가치 함수가 설명하는 비율</c:v>
                </c:pt>
              </c:strCache>
            </c:strRef>
          </c:tx>
          <c:spPr>
            <a:ln w="19050">
              <a:solidFill>
                <a:srgbClr val="156082"/>
              </a:solidFill>
            </a:ln>
          </c:spPr>
          <c:marker>
            <c:symbol val="none"/>
          </c:marker>
          <c:xVal>
            <c:numRef>
              <c:f>Sheet1!$A$2:$A$81</c:f>
              <c:numCache>
                <c:formatCode>General</c:formatCode>
                <c:ptCount val="80"/>
                <c:pt idx="0">
                  <c:v>0.045056</c:v>
                </c:pt>
                <c:pt idx="1">
                  <c:v>0.548864</c:v>
                </c:pt>
                <c:pt idx="2">
                  <c:v>1.052672</c:v>
                </c:pt>
                <c:pt idx="3">
                  <c:v>1.560576</c:v>
                </c:pt>
                <c:pt idx="4">
                  <c:v>2.064384</c:v>
                </c:pt>
                <c:pt idx="5">
                  <c:v>2.572288</c:v>
                </c:pt>
                <c:pt idx="6">
                  <c:v>3.076096</c:v>
                </c:pt>
                <c:pt idx="7">
                  <c:v>3.584</c:v>
                </c:pt>
                <c:pt idx="8">
                  <c:v>4.087808</c:v>
                </c:pt>
                <c:pt idx="9">
                  <c:v>4.595712</c:v>
                </c:pt>
                <c:pt idx="10">
                  <c:v>5.09952</c:v>
                </c:pt>
                <c:pt idx="11">
                  <c:v>5.607424</c:v>
                </c:pt>
                <c:pt idx="12">
                  <c:v>6.111232</c:v>
                </c:pt>
                <c:pt idx="13">
                  <c:v>6.619136</c:v>
                </c:pt>
                <c:pt idx="14">
                  <c:v>7.122944</c:v>
                </c:pt>
                <c:pt idx="15">
                  <c:v>7.630848</c:v>
                </c:pt>
                <c:pt idx="16">
                  <c:v>8.134656</c:v>
                </c:pt>
                <c:pt idx="17">
                  <c:v>8.64256</c:v>
                </c:pt>
                <c:pt idx="18">
                  <c:v>9.146368</c:v>
                </c:pt>
                <c:pt idx="19">
                  <c:v>9.654272</c:v>
                </c:pt>
                <c:pt idx="20">
                  <c:v>10.15808</c:v>
                </c:pt>
                <c:pt idx="21">
                  <c:v>10.665984</c:v>
                </c:pt>
                <c:pt idx="22">
                  <c:v>11.169792</c:v>
                </c:pt>
                <c:pt idx="23">
                  <c:v>11.677696</c:v>
                </c:pt>
                <c:pt idx="24">
                  <c:v>12.181504</c:v>
                </c:pt>
                <c:pt idx="25">
                  <c:v>12.689408</c:v>
                </c:pt>
                <c:pt idx="26">
                  <c:v>13.193216</c:v>
                </c:pt>
                <c:pt idx="27">
                  <c:v>13.697024</c:v>
                </c:pt>
                <c:pt idx="28">
                  <c:v>14.204928</c:v>
                </c:pt>
                <c:pt idx="29">
                  <c:v>14.708736</c:v>
                </c:pt>
                <c:pt idx="30">
                  <c:v>15.21664</c:v>
                </c:pt>
                <c:pt idx="31">
                  <c:v>15.720448</c:v>
                </c:pt>
                <c:pt idx="32">
                  <c:v>16.228352</c:v>
                </c:pt>
                <c:pt idx="33">
                  <c:v>16.73216</c:v>
                </c:pt>
                <c:pt idx="34">
                  <c:v>17.240064</c:v>
                </c:pt>
                <c:pt idx="35">
                  <c:v>17.743872</c:v>
                </c:pt>
                <c:pt idx="36">
                  <c:v>18.25</c:v>
                </c:pt>
                <c:pt idx="37">
                  <c:v>18.755584</c:v>
                </c:pt>
                <c:pt idx="38">
                  <c:v>19.263488</c:v>
                </c:pt>
                <c:pt idx="39">
                  <c:v>19.767296</c:v>
                </c:pt>
                <c:pt idx="40">
                  <c:v>20.2752</c:v>
                </c:pt>
                <c:pt idx="41">
                  <c:v>20.779008</c:v>
                </c:pt>
                <c:pt idx="42">
                  <c:v>21.286912</c:v>
                </c:pt>
                <c:pt idx="43">
                  <c:v>21.79072</c:v>
                </c:pt>
                <c:pt idx="44">
                  <c:v>22.298624</c:v>
                </c:pt>
                <c:pt idx="45">
                  <c:v>22.802432</c:v>
                </c:pt>
                <c:pt idx="46">
                  <c:v>23.310336</c:v>
                </c:pt>
                <c:pt idx="47">
                  <c:v>23.814144</c:v>
                </c:pt>
                <c:pt idx="48">
                  <c:v>24.322048</c:v>
                </c:pt>
                <c:pt idx="49">
                  <c:v>24.825856</c:v>
                </c:pt>
                <c:pt idx="50">
                  <c:v>25.33376</c:v>
                </c:pt>
                <c:pt idx="51">
                  <c:v>25.837568</c:v>
                </c:pt>
                <c:pt idx="52">
                  <c:v>26.345472</c:v>
                </c:pt>
                <c:pt idx="53">
                  <c:v>26.84928</c:v>
                </c:pt>
                <c:pt idx="54">
                  <c:v>27.353088</c:v>
                </c:pt>
                <c:pt idx="55">
                  <c:v>27.860992</c:v>
                </c:pt>
                <c:pt idx="56">
                  <c:v>28.3648</c:v>
                </c:pt>
                <c:pt idx="57">
                  <c:v>28.872704</c:v>
                </c:pt>
                <c:pt idx="58">
                  <c:v>29.376512</c:v>
                </c:pt>
                <c:pt idx="59">
                  <c:v>29.884416</c:v>
                </c:pt>
                <c:pt idx="60">
                  <c:v>30.388224</c:v>
                </c:pt>
                <c:pt idx="61">
                  <c:v>30.896128</c:v>
                </c:pt>
                <c:pt idx="62">
                  <c:v>31.399936</c:v>
                </c:pt>
                <c:pt idx="63">
                  <c:v>31.90784</c:v>
                </c:pt>
                <c:pt idx="64">
                  <c:v>32.411648</c:v>
                </c:pt>
                <c:pt idx="65">
                  <c:v>32.919552</c:v>
                </c:pt>
                <c:pt idx="66">
                  <c:v>33.42336</c:v>
                </c:pt>
                <c:pt idx="67">
                  <c:v>33.931264</c:v>
                </c:pt>
                <c:pt idx="68">
                  <c:v>34.435072</c:v>
                </c:pt>
                <c:pt idx="69">
                  <c:v>34.942976</c:v>
                </c:pt>
                <c:pt idx="70">
                  <c:v>35.446784</c:v>
                </c:pt>
                <c:pt idx="71">
                  <c:v>35.954688</c:v>
                </c:pt>
                <c:pt idx="72">
                  <c:v>36.458496</c:v>
                </c:pt>
                <c:pt idx="73">
                  <c:v>36.9664</c:v>
                </c:pt>
                <c:pt idx="74">
                  <c:v>37.470208</c:v>
                </c:pt>
                <c:pt idx="75">
                  <c:v>37.978112</c:v>
                </c:pt>
                <c:pt idx="76">
                  <c:v>38.48192</c:v>
                </c:pt>
                <c:pt idx="77">
                  <c:v>38.989824</c:v>
                </c:pt>
                <c:pt idx="78">
                  <c:v>39.493632</c:v>
                </c:pt>
                <c:pt idx="79">
                  <c:v>40.0</c:v>
                </c:pt>
              </c:numCache>
            </c:numRef>
          </c:xVal>
          <c:yVal>
            <c:numRef>
              <c:f>Sheet1!$B$2:$B$81</c:f>
              <c:numCache>
                <c:formatCode>General</c:formatCode>
                <c:ptCount val="80"/>
                <c:pt idx="0">
                  <c:v>0.1864459455013275</c:v>
                </c:pt>
                <c:pt idx="1">
                  <c:v>0.07159531116485596</c:v>
                </c:pt>
                <c:pt idx="2">
                  <c:v>0.12502573728561403</c:v>
                </c:pt>
                <c:pt idx="3">
                  <c:v>0.3061979174613953</c:v>
                </c:pt>
                <c:pt idx="4">
                  <c:v>0.09010423421859742</c:v>
                </c:pt>
                <c:pt idx="5">
                  <c:v>0.14594311118125913</c:v>
                </c:pt>
                <c:pt idx="6">
                  <c:v>0.24580112695693973</c:v>
                </c:pt>
                <c:pt idx="7">
                  <c:v>0.5160453975200654</c:v>
                </c:pt>
                <c:pt idx="8">
                  <c:v>0.6310656309127807</c:v>
                </c:pt>
                <c:pt idx="9">
                  <c:v>0.6143704771995545</c:v>
                </c:pt>
                <c:pt idx="10">
                  <c:v>0.6777568876743317</c:v>
                </c:pt>
                <c:pt idx="11">
                  <c:v>0.5955059885978699</c:v>
                </c:pt>
                <c:pt idx="12">
                  <c:v>0.7144455671310426</c:v>
                </c:pt>
                <c:pt idx="13">
                  <c:v>0.7639387369155884</c:v>
                </c:pt>
                <c:pt idx="14">
                  <c:v>0.7164583027362824</c:v>
                </c:pt>
                <c:pt idx="15">
                  <c:v>0.7451517820358278</c:v>
                </c:pt>
                <c:pt idx="16">
                  <c:v>0.7375762641429903</c:v>
                </c:pt>
                <c:pt idx="17">
                  <c:v>0.7715595841407776</c:v>
                </c:pt>
                <c:pt idx="18">
                  <c:v>0.8125547111034394</c:v>
                </c:pt>
                <c:pt idx="19">
                  <c:v>0.8012004673480988</c:v>
                </c:pt>
                <c:pt idx="20">
                  <c:v>0.845161956548691</c:v>
                </c:pt>
                <c:pt idx="21">
                  <c:v>0.8173476994037628</c:v>
                </c:pt>
                <c:pt idx="22">
                  <c:v>0.8355717062950134</c:v>
                </c:pt>
                <c:pt idx="23">
                  <c:v>0.832421624660492</c:v>
                </c:pt>
                <c:pt idx="24">
                  <c:v>0.8266653895378114</c:v>
                </c:pt>
                <c:pt idx="25">
                  <c:v>0.8683746576309205</c:v>
                </c:pt>
                <c:pt idx="26">
                  <c:v>0.8513522624969485</c:v>
                </c:pt>
                <c:pt idx="27">
                  <c:v>0.8727079033851626</c:v>
                </c:pt>
                <c:pt idx="28">
                  <c:v>0.8465105533599855</c:v>
                </c:pt>
                <c:pt idx="29">
                  <c:v>0.8797855019569398</c:v>
                </c:pt>
                <c:pt idx="30">
                  <c:v>0.8712989807128908</c:v>
                </c:pt>
                <c:pt idx="31">
                  <c:v>0.8677974522113802</c:v>
                </c:pt>
                <c:pt idx="32">
                  <c:v>0.8749751031398775</c:v>
                </c:pt>
                <c:pt idx="33">
                  <c:v>0.8766108989715578</c:v>
                </c:pt>
                <c:pt idx="34">
                  <c:v>0.8859571158885957</c:v>
                </c:pt>
                <c:pt idx="35">
                  <c:v>0.8840125262737276</c:v>
                </c:pt>
                <c:pt idx="36">
                  <c:v>0.877849167585373</c:v>
                </c:pt>
                <c:pt idx="37">
                  <c:v>0.8828219592571259</c:v>
                </c:pt>
                <c:pt idx="38">
                  <c:v>0.8740809679031372</c:v>
                </c:pt>
                <c:pt idx="39">
                  <c:v>0.9029526710510254</c:v>
                </c:pt>
                <c:pt idx="40">
                  <c:v>0.9014595091342926</c:v>
                </c:pt>
                <c:pt idx="41">
                  <c:v>0.9119541883468629</c:v>
                </c:pt>
                <c:pt idx="42">
                  <c:v>0.8958591043949127</c:v>
                </c:pt>
                <c:pt idx="43">
                  <c:v>0.902534079551697</c:v>
                </c:pt>
                <c:pt idx="44">
                  <c:v>0.9028710365295411</c:v>
                </c:pt>
                <c:pt idx="45">
                  <c:v>0.9034232378005981</c:v>
                </c:pt>
                <c:pt idx="46">
                  <c:v>0.9176624596118926</c:v>
                </c:pt>
                <c:pt idx="47">
                  <c:v>0.9012728154659273</c:v>
                </c:pt>
                <c:pt idx="48">
                  <c:v>0.9031534373760224</c:v>
                </c:pt>
                <c:pt idx="49">
                  <c:v>0.9038361430168154</c:v>
                </c:pt>
                <c:pt idx="50">
                  <c:v>0.9029108285903931</c:v>
                </c:pt>
                <c:pt idx="51">
                  <c:v>0.8963583052158356</c:v>
                </c:pt>
                <c:pt idx="52">
                  <c:v>0.9207557618618012</c:v>
                </c:pt>
                <c:pt idx="53">
                  <c:v>0.9068998992443086</c:v>
                </c:pt>
                <c:pt idx="54">
                  <c:v>0.9222622096538546</c:v>
                </c:pt>
                <c:pt idx="55">
                  <c:v>0.91093510389328</c:v>
                </c:pt>
                <c:pt idx="56">
                  <c:v>0.9025708854198456</c:v>
                </c:pt>
                <c:pt idx="57">
                  <c:v>0.8924675941467286</c:v>
                </c:pt>
                <c:pt idx="58">
                  <c:v>0.908445680141449</c:v>
                </c:pt>
                <c:pt idx="59">
                  <c:v>0.9250363349914552</c:v>
                </c:pt>
                <c:pt idx="60">
                  <c:v>0.9214396953582764</c:v>
                </c:pt>
                <c:pt idx="61">
                  <c:v>0.9175672054290772</c:v>
                </c:pt>
                <c:pt idx="62">
                  <c:v>0.9100054860115052</c:v>
                </c:pt>
                <c:pt idx="63">
                  <c:v>0.9117672801017762</c:v>
                </c:pt>
                <c:pt idx="64">
                  <c:v>0.9350458085536957</c:v>
                </c:pt>
                <c:pt idx="65">
                  <c:v>0.9319505810737609</c:v>
                </c:pt>
                <c:pt idx="66">
                  <c:v>0.8951562166213991</c:v>
                </c:pt>
                <c:pt idx="67">
                  <c:v>0.9061096668243408</c:v>
                </c:pt>
                <c:pt idx="68">
                  <c:v>0.9243628919124606</c:v>
                </c:pt>
                <c:pt idx="69">
                  <c:v>0.9385528147220612</c:v>
                </c:pt>
                <c:pt idx="70">
                  <c:v>0.9097151637077332</c:v>
                </c:pt>
                <c:pt idx="71">
                  <c:v>0.9315258085727692</c:v>
                </c:pt>
                <c:pt idx="72">
                  <c:v>0.9322129368782044</c:v>
                </c:pt>
                <c:pt idx="73">
                  <c:v>0.905450201034546</c:v>
                </c:pt>
                <c:pt idx="74">
                  <c:v>0.9068366885185243</c:v>
                </c:pt>
                <c:pt idx="75">
                  <c:v>0.9410557091236115</c:v>
                </c:pt>
                <c:pt idx="76">
                  <c:v>0.9143113136291504</c:v>
                </c:pt>
                <c:pt idx="77">
                  <c:v>0.9244578719139099</c:v>
                </c:pt>
                <c:pt idx="78">
                  <c:v>0.9208025991916655</c:v>
                </c:pt>
                <c:pt idx="79">
                  <c:v>0.9220794379711152</c:v>
                </c:pt>
              </c:numCache>
            </c:numRef>
          </c:yVal>
          <c:smooth val="0"/>
        </c:ser>
        <c:axId val="-2128940872"/>
        <c:axId val="-2129643912"/>
      </c:scatterChart>
      <c:valAx>
        <c:axId val="-2128940872"/>
        <c:scaling>
          <c:orientation val="minMax"/>
        </c:scaling>
        <c:delete val="0"/>
        <c:axPos val="b"/>
        <c:title>
          <c:tx>
            <c:rich>
              <a:bodyPr/>
              <a:lstStyle/>
              <a:p>
                <a:r>
                  <a:rPr sz="800"/>
                  <a:t>학습 스텝 (백만)</a:t>
                </a:r>
              </a:p>
            </c:rich>
          </c:tx>
          <c:layout/>
          <c:overlay val="0"/>
        </c:title>
        <c:numFmt formatCode="General" sourceLinked="1"/>
        <c:majorTickMark val="out"/>
        <c:minorTickMark val="none"/>
        <c:tickLblPos val="nextTo"/>
        <c:spPr>
          <a:ln>
            <a:solidFill>
              <a:srgbClr val="C7D3E3"/>
            </a:solidFill>
          </a:ln>
        </c:spPr>
        <c:txPr>
          <a:bodyPr/>
          <a:lstStyle/>
          <a:p>
            <a:pPr>
              <a:defRPr sz="800"/>
            </a:pPr>
          </a:p>
        </c:txPr>
        <c:crossAx val="-2129643912"/>
        <c:crosses val="autoZero"/>
        <c:crossBetween val="midCat"/>
      </c:valAx>
      <c:valAx>
        <c:axId val="-2129643912"/>
        <c:scaling>
          <c:orientation val="minMax"/>
          <c:max val="1.0"/>
          <c:min val="-0.2"/>
        </c:scaling>
        <c:delete val="0"/>
        <c:axPos val="l"/>
        <c:majorGridlines>
          <c:spPr>
            <a:ln>
              <a:solidFill>
                <a:srgbClr val="E1E6EC"/>
              </a:solidFill>
            </a:ln>
          </c:spPr>
        </c:majorGridlines>
        <c:numFmt formatCode="General" sourceLinked="1"/>
        <c:majorTickMark val="out"/>
        <c:minorTickMark val="none"/>
        <c:tickLblPos val="nextTo"/>
        <c:spPr>
          <a:ln>
            <a:solidFill>
              <a:srgbClr val="C7D3E3"/>
            </a:solidFill>
          </a:ln>
        </c:spPr>
        <c:txPr>
          <a:bodyPr/>
          <a:lstStyle/>
          <a:p>
            <a:pPr>
              <a:defRPr sz="800"/>
            </a:pPr>
          </a:p>
        </c:txPr>
        <c:crossAx val="-2128940872"/>
        <c:crosses val="autoZero"/>
        <c:crossBetween val="midCat"/>
      </c:valAx>
    </c:plotArea>
    <c:plotVisOnly val="1"/>
    <c:dispBlanksAs val="gap"/>
    <c:showDLblsOverMax val="0"/>
  </c:chart>
  <c:txPr>
    <a:bodyPr/>
    <a:lstStyle/>
    <a:p>
      <a:pPr>
        <a:defRPr sz="800">
          <a:latin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title>
      <c:tx>
        <c:rich>
          <a:bodyPr/>
          <a:lstStyle/>
          <a:p>
            <a:r>
              <a:rPr sz="950" b="1">
                <a:solidFill>
                  <a:srgbClr val="203864"/>
                </a:solidFill>
              </a:rPr>
              <a:t>전환 실패율 (이동평균)</a:t>
            </a:r>
          </a:p>
        </c:rich>
      </c:tx>
      <c:layout/>
      <c:overlay val="0"/>
    </c:title>
    <c:plotArea>
      <c:scatterChart>
        <c:scatterStyle val="lineMarker"/>
        <c:varyColors val="0"/>
        <c:ser>
          <c:idx val="0"/>
          <c:order val="0"/>
          <c:tx>
            <c:strRef>
              <c:f>Sheet1!$B$1</c:f>
              <c:strCache>
                <c:ptCount val="1"/>
                <c:pt idx="0">
                  <c:v>전환 뒤 100스텝 안에 실패한 비율</c:v>
                </c:pt>
              </c:strCache>
            </c:strRef>
          </c:tx>
          <c:spPr>
            <a:ln w="19050">
              <a:solidFill>
                <a:srgbClr val="C0392B"/>
              </a:solidFill>
            </a:ln>
          </c:spPr>
          <c:marker>
            <c:symbol val="none"/>
          </c:marker>
          <c:xVal>
            <c:numRef>
              <c:f>Sheet1!$A$2:$A$81</c:f>
              <c:numCache>
                <c:formatCode>General</c:formatCode>
                <c:ptCount val="80"/>
                <c:pt idx="0">
                  <c:v>0.16384</c:v>
                </c:pt>
                <c:pt idx="1">
                  <c:v>0.671744</c:v>
                </c:pt>
                <c:pt idx="2">
                  <c:v>1.175552</c:v>
                </c:pt>
                <c:pt idx="3">
                  <c:v>1.67936</c:v>
                </c:pt>
                <c:pt idx="4">
                  <c:v>2.183168</c:v>
                </c:pt>
                <c:pt idx="5">
                  <c:v>2.68288</c:v>
                </c:pt>
                <c:pt idx="6">
                  <c:v>3.186688</c:v>
                </c:pt>
                <c:pt idx="7">
                  <c:v>3.690496</c:v>
                </c:pt>
                <c:pt idx="8">
                  <c:v>4.194304</c:v>
                </c:pt>
                <c:pt idx="9">
                  <c:v>4.694016</c:v>
                </c:pt>
                <c:pt idx="10">
                  <c:v>5.197824</c:v>
                </c:pt>
                <c:pt idx="11">
                  <c:v>5.701632</c:v>
                </c:pt>
                <c:pt idx="12">
                  <c:v>6.209536</c:v>
                </c:pt>
                <c:pt idx="13">
                  <c:v>6.709248</c:v>
                </c:pt>
                <c:pt idx="14">
                  <c:v>7.217152</c:v>
                </c:pt>
                <c:pt idx="15">
                  <c:v>7.72096</c:v>
                </c:pt>
                <c:pt idx="16">
                  <c:v>8.228864</c:v>
                </c:pt>
                <c:pt idx="17">
                  <c:v>8.728576</c:v>
                </c:pt>
                <c:pt idx="18">
                  <c:v>9.232384</c:v>
                </c:pt>
                <c:pt idx="19">
                  <c:v>9.736192</c:v>
                </c:pt>
                <c:pt idx="20">
                  <c:v>10.24</c:v>
                </c:pt>
                <c:pt idx="21">
                  <c:v>10.739712</c:v>
                </c:pt>
                <c:pt idx="22">
                  <c:v>11.24352</c:v>
                </c:pt>
                <c:pt idx="23">
                  <c:v>11.747328</c:v>
                </c:pt>
                <c:pt idx="24">
                  <c:v>12.25</c:v>
                </c:pt>
                <c:pt idx="25">
                  <c:v>12.75</c:v>
                </c:pt>
                <c:pt idx="26">
                  <c:v>13.25056</c:v>
                </c:pt>
                <c:pt idx="27">
                  <c:v>13.76256</c:v>
                </c:pt>
                <c:pt idx="28">
                  <c:v>14.27456</c:v>
                </c:pt>
                <c:pt idx="29">
                  <c:v>14.782464</c:v>
                </c:pt>
                <c:pt idx="30">
                  <c:v>15.286272</c:v>
                </c:pt>
                <c:pt idx="31">
                  <c:v>15.79008</c:v>
                </c:pt>
                <c:pt idx="32">
                  <c:v>16.293888</c:v>
                </c:pt>
                <c:pt idx="33">
                  <c:v>16.797696</c:v>
                </c:pt>
                <c:pt idx="34">
                  <c:v>17.297408</c:v>
                </c:pt>
                <c:pt idx="35">
                  <c:v>17.801216</c:v>
                </c:pt>
                <c:pt idx="36">
                  <c:v>18.305024</c:v>
                </c:pt>
                <c:pt idx="37">
                  <c:v>18.808832</c:v>
                </c:pt>
                <c:pt idx="38">
                  <c:v>19.308544</c:v>
                </c:pt>
                <c:pt idx="39">
                  <c:v>19.812352</c:v>
                </c:pt>
                <c:pt idx="40">
                  <c:v>20.31616</c:v>
                </c:pt>
                <c:pt idx="41">
                  <c:v>20.824064</c:v>
                </c:pt>
                <c:pt idx="42">
                  <c:v>21.331968</c:v>
                </c:pt>
                <c:pt idx="43">
                  <c:v>21.839872</c:v>
                </c:pt>
                <c:pt idx="44">
                  <c:v>22.347776</c:v>
                </c:pt>
                <c:pt idx="45">
                  <c:v>22.851584</c:v>
                </c:pt>
                <c:pt idx="46">
                  <c:v>23.351296</c:v>
                </c:pt>
                <c:pt idx="47">
                  <c:v>23.855104</c:v>
                </c:pt>
                <c:pt idx="48">
                  <c:v>24.358912</c:v>
                </c:pt>
                <c:pt idx="49">
                  <c:v>24.86272</c:v>
                </c:pt>
                <c:pt idx="50">
                  <c:v>25.362432</c:v>
                </c:pt>
                <c:pt idx="51">
                  <c:v>25.86624</c:v>
                </c:pt>
                <c:pt idx="52">
                  <c:v>26.370048</c:v>
                </c:pt>
                <c:pt idx="53">
                  <c:v>26.873856</c:v>
                </c:pt>
                <c:pt idx="54">
                  <c:v>27.38176</c:v>
                </c:pt>
                <c:pt idx="55">
                  <c:v>27.885568</c:v>
                </c:pt>
                <c:pt idx="56">
                  <c:v>28.397568</c:v>
                </c:pt>
                <c:pt idx="57">
                  <c:v>28.901376</c:v>
                </c:pt>
                <c:pt idx="58">
                  <c:v>29.40928</c:v>
                </c:pt>
                <c:pt idx="59">
                  <c:v>29.908992</c:v>
                </c:pt>
                <c:pt idx="60">
                  <c:v>30.416896</c:v>
                </c:pt>
                <c:pt idx="61">
                  <c:v>30.920704</c:v>
                </c:pt>
                <c:pt idx="62">
                  <c:v>31.428608</c:v>
                </c:pt>
                <c:pt idx="63">
                  <c:v>31.92832</c:v>
                </c:pt>
                <c:pt idx="64">
                  <c:v>32.432128</c:v>
                </c:pt>
                <c:pt idx="65">
                  <c:v>32.935936</c:v>
                </c:pt>
                <c:pt idx="66">
                  <c:v>33.439744</c:v>
                </c:pt>
                <c:pt idx="67">
                  <c:v>33.939456</c:v>
                </c:pt>
                <c:pt idx="68">
                  <c:v>34.443264</c:v>
                </c:pt>
                <c:pt idx="69">
                  <c:v>34.951168</c:v>
                </c:pt>
                <c:pt idx="70">
                  <c:v>35.463168</c:v>
                </c:pt>
                <c:pt idx="71">
                  <c:v>35.971072</c:v>
                </c:pt>
                <c:pt idx="72">
                  <c:v>36.478976</c:v>
                </c:pt>
                <c:pt idx="73">
                  <c:v>36.982784</c:v>
                </c:pt>
                <c:pt idx="74">
                  <c:v>37.490688</c:v>
                </c:pt>
                <c:pt idx="75">
                  <c:v>37.9904</c:v>
                </c:pt>
                <c:pt idx="76">
                  <c:v>38.494208</c:v>
                </c:pt>
                <c:pt idx="77">
                  <c:v>38.998016</c:v>
                </c:pt>
                <c:pt idx="78">
                  <c:v>39.5</c:v>
                </c:pt>
                <c:pt idx="79">
                  <c:v>40.001536</c:v>
                </c:pt>
              </c:numCache>
            </c:numRef>
          </c:xVal>
          <c:yVal>
            <c:numRef>
              <c:f>Sheet1!$B$2:$B$81</c:f>
              <c:numCache>
                <c:formatCode>General</c:formatCode>
                <c:ptCount val="80"/>
                <c:pt idx="0">
                  <c:v>0.15275606699287894</c:v>
                </c:pt>
                <c:pt idx="1">
                  <c:v>0.15758568104356524</c:v>
                </c:pt>
                <c:pt idx="2">
                  <c:v>0.0955023465678096</c:v>
                </c:pt>
                <c:pt idx="3">
                  <c:v>0.10793109927326443</c:v>
                </c:pt>
                <c:pt idx="4">
                  <c:v>0.13559628147631883</c:v>
                </c:pt>
                <c:pt idx="5">
                  <c:v>0.1209679236635566</c:v>
                </c:pt>
                <c:pt idx="6">
                  <c:v>0.10871122162789107</c:v>
                </c:pt>
                <c:pt idx="7">
                  <c:v>0.10427662916481496</c:v>
                </c:pt>
                <c:pt idx="8">
                  <c:v>0.12577221598476174</c:v>
                </c:pt>
                <c:pt idx="9">
                  <c:v>0.11264249831438067</c:v>
                </c:pt>
                <c:pt idx="10">
                  <c:v>0.08219412676990033</c:v>
                </c:pt>
                <c:pt idx="11">
                  <c:v>0.10071817301213742</c:v>
                </c:pt>
                <c:pt idx="12">
                  <c:v>0.10479166861623526</c:v>
                </c:pt>
                <c:pt idx="13">
                  <c:v>0.0909616781398654</c:v>
                </c:pt>
                <c:pt idx="14">
                  <c:v>0.10535950344055894</c:v>
                </c:pt>
                <c:pt idx="15">
                  <c:v>0.10043498389422893</c:v>
                </c:pt>
                <c:pt idx="16">
                  <c:v>0.07940837144851685</c:v>
                </c:pt>
                <c:pt idx="17">
                  <c:v>0.09843344353139404</c:v>
                </c:pt>
                <c:pt idx="18">
                  <c:v>0.09533695634454491</c:v>
                </c:pt>
                <c:pt idx="19">
                  <c:v>0.08195131439715625</c:v>
                </c:pt>
                <c:pt idx="20">
                  <c:v>0.09973575212061409</c:v>
                </c:pt>
                <c:pt idx="21">
                  <c:v>0.10222493000328542</c:v>
                </c:pt>
                <c:pt idx="22">
                  <c:v>0.1150541150942445</c:v>
                </c:pt>
                <c:pt idx="23">
                  <c:v>0.10378961432725194</c:v>
                </c:pt>
                <c:pt idx="24">
                  <c:v>0.0802913073450327</c:v>
                </c:pt>
                <c:pt idx="25">
                  <c:v>0.14360840804874897</c:v>
                </c:pt>
                <c:pt idx="26">
                  <c:v>0.12505168654024604</c:v>
                </c:pt>
                <c:pt idx="27">
                  <c:v>0.09502615630626679</c:v>
                </c:pt>
                <c:pt idx="28">
                  <c:v>0.10896284487098457</c:v>
                </c:pt>
                <c:pt idx="29">
                  <c:v>0.08891324121505023</c:v>
                </c:pt>
                <c:pt idx="30">
                  <c:v>0.08831134364008905</c:v>
                </c:pt>
                <c:pt idx="31">
                  <c:v>0.10228625759482385</c:v>
                </c:pt>
                <c:pt idx="32">
                  <c:v>0.10404547005891801</c:v>
                </c:pt>
                <c:pt idx="33">
                  <c:v>0.14462752882391217</c:v>
                </c:pt>
                <c:pt idx="34">
                  <c:v>0.09109154958277942</c:v>
                </c:pt>
                <c:pt idx="35">
                  <c:v>0.13082972839474677</c:v>
                </c:pt>
                <c:pt idx="36">
                  <c:v>0.10459200739860536</c:v>
                </c:pt>
                <c:pt idx="37">
                  <c:v>0.08955322578549385</c:v>
                </c:pt>
                <c:pt idx="38">
                  <c:v>0.13111770469695333</c:v>
                </c:pt>
                <c:pt idx="39">
                  <c:v>0.08128989301621915</c:v>
                </c:pt>
                <c:pt idx="40">
                  <c:v>0.10700695365667345</c:v>
                </c:pt>
                <c:pt idx="41">
                  <c:v>0.08257874213159086</c:v>
                </c:pt>
                <c:pt idx="42">
                  <c:v>0.1385373678058386</c:v>
                </c:pt>
                <c:pt idx="43">
                  <c:v>0.12070069033652546</c:v>
                </c:pt>
                <c:pt idx="44">
                  <c:v>0.1253643598407507</c:v>
                </c:pt>
                <c:pt idx="45">
                  <c:v>0.08782641161233187</c:v>
                </c:pt>
                <c:pt idx="46">
                  <c:v>0.120404944755137</c:v>
                </c:pt>
                <c:pt idx="47">
                  <c:v>0.0923836596310139</c:v>
                </c:pt>
                <c:pt idx="48">
                  <c:v>0.1348358614370227</c:v>
                </c:pt>
                <c:pt idx="49">
                  <c:v>0.10761950034648181</c:v>
                </c:pt>
                <c:pt idx="50">
                  <c:v>0.0863548967987299</c:v>
                </c:pt>
                <c:pt idx="51">
                  <c:v>0.09752435293048622</c:v>
                </c:pt>
                <c:pt idx="52">
                  <c:v>0.09259948637336492</c:v>
                </c:pt>
                <c:pt idx="53">
                  <c:v>0.08779692724347116</c:v>
                </c:pt>
                <c:pt idx="54">
                  <c:v>0.13201798442751167</c:v>
                </c:pt>
                <c:pt idx="55">
                  <c:v>0.12777778077870608</c:v>
                </c:pt>
                <c:pt idx="56">
                  <c:v>0.09224317595362665</c:v>
                </c:pt>
                <c:pt idx="57">
                  <c:v>0.09843524713069203</c:v>
                </c:pt>
                <c:pt idx="58">
                  <c:v>0.0922317981719971</c:v>
                </c:pt>
                <c:pt idx="59">
                  <c:v>0.07489628568291665</c:v>
                </c:pt>
                <c:pt idx="60">
                  <c:v>0.08532828427851202</c:v>
                </c:pt>
                <c:pt idx="61">
                  <c:v>0.11623737588524821</c:v>
                </c:pt>
                <c:pt idx="62">
                  <c:v>0.10309641975909474</c:v>
                </c:pt>
                <c:pt idx="63">
                  <c:v>0.11947628930211071</c:v>
                </c:pt>
                <c:pt idx="64">
                  <c:v>0.10403950437903405</c:v>
                </c:pt>
                <c:pt idx="65">
                  <c:v>0.06589466203004123</c:v>
                </c:pt>
                <c:pt idx="66">
                  <c:v>0.1108155757188797</c:v>
                </c:pt>
                <c:pt idx="67">
                  <c:v>0.11721070781350136</c:v>
                </c:pt>
                <c:pt idx="68">
                  <c:v>0.11399767100811005</c:v>
                </c:pt>
                <c:pt idx="69">
                  <c:v>0.06873577944934368</c:v>
                </c:pt>
                <c:pt idx="70">
                  <c:v>0.1270328311249614</c:v>
                </c:pt>
                <c:pt idx="71">
                  <c:v>0.10808892715722322</c:v>
                </c:pt>
                <c:pt idx="72">
                  <c:v>0.06028950344771147</c:v>
                </c:pt>
                <c:pt idx="73">
                  <c:v>0.11288059391081334</c:v>
                </c:pt>
                <c:pt idx="74">
                  <c:v>0.09331432599574331</c:v>
                </c:pt>
                <c:pt idx="75">
                  <c:v>0.10806277301162483</c:v>
                </c:pt>
                <c:pt idx="76">
                  <c:v>0.11224477104842664</c:v>
                </c:pt>
                <c:pt idx="77">
                  <c:v>0.11955683492124082</c:v>
                </c:pt>
                <c:pt idx="78">
                  <c:v>0.08025668896734717</c:v>
                </c:pt>
                <c:pt idx="79">
                  <c:v>0.10917291231453422</c:v>
                </c:pt>
              </c:numCache>
            </c:numRef>
          </c:yVal>
          <c:smooth val="0"/>
        </c:ser>
        <c:axId val="-2128940872"/>
        <c:axId val="-2129643912"/>
      </c:scatterChart>
      <c:valAx>
        <c:axId val="-2128940872"/>
        <c:scaling>
          <c:orientation val="minMax"/>
        </c:scaling>
        <c:delete val="0"/>
        <c:axPos val="b"/>
        <c:title>
          <c:tx>
            <c:rich>
              <a:bodyPr/>
              <a:lstStyle/>
              <a:p>
                <a:r>
                  <a:rPr sz="800"/>
                  <a:t>학습 스텝 (백만)</a:t>
                </a:r>
              </a:p>
            </c:rich>
          </c:tx>
          <c:layout/>
          <c:overlay val="0"/>
        </c:title>
        <c:numFmt formatCode="General" sourceLinked="1"/>
        <c:majorTickMark val="out"/>
        <c:minorTickMark val="none"/>
        <c:tickLblPos val="nextTo"/>
        <c:spPr>
          <a:ln>
            <a:solidFill>
              <a:srgbClr val="C7D3E3"/>
            </a:solidFill>
          </a:ln>
        </c:spPr>
        <c:txPr>
          <a:bodyPr/>
          <a:lstStyle/>
          <a:p>
            <a:pPr>
              <a:defRPr sz="800"/>
            </a:pPr>
          </a:p>
        </c:txPr>
        <c:crossAx val="-2129643912"/>
        <c:crosses val="autoZero"/>
        <c:crossBetween val="midCat"/>
      </c:valAx>
      <c:valAx>
        <c:axId val="-2129643912"/>
        <c:scaling>
          <c:orientation val="minMax"/>
          <c:max val="0.5"/>
          <c:min val="0.0"/>
        </c:scaling>
        <c:delete val="0"/>
        <c:axPos val="l"/>
        <c:majorGridlines>
          <c:spPr>
            <a:ln>
              <a:solidFill>
                <a:srgbClr val="E1E6EC"/>
              </a:solidFill>
            </a:ln>
          </c:spPr>
        </c:majorGridlines>
        <c:numFmt formatCode="General" sourceLinked="1"/>
        <c:majorTickMark val="out"/>
        <c:minorTickMark val="none"/>
        <c:tickLblPos val="nextTo"/>
        <c:spPr>
          <a:ln>
            <a:solidFill>
              <a:srgbClr val="C7D3E3"/>
            </a:solidFill>
          </a:ln>
        </c:spPr>
        <c:txPr>
          <a:bodyPr/>
          <a:lstStyle/>
          <a:p>
            <a:pPr>
              <a:defRPr sz="800"/>
            </a:pPr>
          </a:p>
        </c:txPr>
        <c:crossAx val="-2128940872"/>
        <c:crosses val="autoZero"/>
        <c:crossBetween val="midCat"/>
      </c:valAx>
    </c:plotArea>
    <c:plotVisOnly val="1"/>
    <c:dispBlanksAs val="gap"/>
    <c:showDLblsOverMax val="0"/>
  </c:chart>
  <c:txPr>
    <a:bodyPr/>
    <a:lstStyle/>
    <a:p>
      <a:pPr>
        <a:defRPr sz="800">
          <a:latin typeface="맑은 고딕"/>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어떤 명령으로 바뀔 때 실패하는가 (100스텝 안 실패 비율)</a:t>
            </a:r>
          </a:p>
        </c:rich>
      </c:tx>
      <c:layout/>
      <c:overlay val="0"/>
    </c:title>
    <c:autoTitleDeleted val="0"/>
    <c:plotArea>
      <c:barChart>
        <c:barDir val="col"/>
        <c:grouping val="clustered"/>
        <c:ser>
          <c:idx val="0"/>
          <c:order val="0"/>
          <c:tx>
            <c:strRef>
              <c:f>Sheet1!$B$1</c:f>
              <c:strCache>
                <c:ptCount val="1"/>
                <c:pt idx="0">
                  <c:v>첫 시도 (실패 판정 규칙)</c:v>
                </c:pt>
              </c:strCache>
            </c:strRef>
          </c:tx>
          <c:spPr>
            <a:solidFill>
              <a:srgbClr val="C0392B"/>
            </a:solidFill>
          </c:spPr>
          <c:cat>
            <c:strRef>
              <c:f>Sheet1!$A$2:$A$11</c:f>
              <c:strCache>
                <c:ptCount val="10"/>
                <c:pt idx="0">
                  <c:v>forward</c:v>
                </c:pt>
                <c:pt idx="1">
                  <c:v>left</c:v>
                </c:pt>
                <c:pt idx="2">
                  <c:v>right</c:v>
                </c:pt>
                <c:pt idx="3">
                  <c:v>diag_fl</c:v>
                </c:pt>
                <c:pt idx="4">
                  <c:v>diag_fr</c:v>
                </c:pt>
                <c:pt idx="5">
                  <c:v>backward</c:v>
                </c:pt>
                <c:pt idx="6">
                  <c:v>diag_bl</c:v>
                </c:pt>
                <c:pt idx="7">
                  <c:v>diag_br</c:v>
                </c:pt>
                <c:pt idx="8">
                  <c:v>ccw</c:v>
                </c:pt>
                <c:pt idx="9">
                  <c:v>cw</c:v>
                </c:pt>
              </c:strCache>
            </c:strRef>
          </c:cat>
          <c:val>
            <c:numRef>
              <c:f>Sheet1!$B$2:$B$11</c:f>
              <c:numCache>
                <c:formatCode>General</c:formatCode>
                <c:ptCount val="10"/>
                <c:pt idx="0">
                  <c:v>0.225</c:v>
                </c:pt>
                <c:pt idx="1">
                  <c:v>0.017</c:v>
                </c:pt>
                <c:pt idx="2">
                  <c:v>0.0</c:v>
                </c:pt>
                <c:pt idx="3">
                  <c:v>0.05</c:v>
                </c:pt>
                <c:pt idx="4">
                  <c:v>0.092</c:v>
                </c:pt>
                <c:pt idx="5">
                  <c:v>0.192</c:v>
                </c:pt>
                <c:pt idx="6">
                  <c:v>0.2</c:v>
                </c:pt>
                <c:pt idx="7">
                  <c:v>0.158</c:v>
                </c:pt>
                <c:pt idx="8">
                  <c:v>0.675</c:v>
                </c:pt>
                <c:pt idx="9">
                  <c:v>0.567</c:v>
                </c:pt>
              </c:numCache>
            </c:numRef>
          </c:val>
        </c:ser>
        <c:ser>
          <c:idx val="1"/>
          <c:order val="1"/>
          <c:tx>
            <c:strRef>
              <c:f>Sheet1!$C$1</c:f>
              <c:strCache>
                <c:ptCount val="1"/>
                <c:pt idx="0">
                  <c:v>첫 단계 끝 (새 보상)</c:v>
                </c:pt>
              </c:strCache>
            </c:strRef>
          </c:tx>
          <c:spPr>
            <a:solidFill>
              <a:srgbClr val="2E75B6"/>
            </a:solidFill>
          </c:spPr>
          <c:cat>
            <c:strRef>
              <c:f>Sheet1!$A$2:$A$11</c:f>
              <c:strCache>
                <c:ptCount val="10"/>
                <c:pt idx="0">
                  <c:v>forward</c:v>
                </c:pt>
                <c:pt idx="1">
                  <c:v>left</c:v>
                </c:pt>
                <c:pt idx="2">
                  <c:v>right</c:v>
                </c:pt>
                <c:pt idx="3">
                  <c:v>diag_fl</c:v>
                </c:pt>
                <c:pt idx="4">
                  <c:v>diag_fr</c:v>
                </c:pt>
                <c:pt idx="5">
                  <c:v>backward</c:v>
                </c:pt>
                <c:pt idx="6">
                  <c:v>diag_bl</c:v>
                </c:pt>
                <c:pt idx="7">
                  <c:v>diag_br</c:v>
                </c:pt>
                <c:pt idx="8">
                  <c:v>ccw</c:v>
                </c:pt>
                <c:pt idx="9">
                  <c:v>cw</c:v>
                </c:pt>
              </c:strCache>
            </c:strRef>
          </c:cat>
          <c:val>
            <c:numRef>
              <c:f>Sheet1!$C$2:$C$11</c:f>
              <c:numCache>
                <c:formatCode>General</c:formatCode>
                <c:ptCount val="10"/>
                <c:pt idx="0">
                  <c:v>0.058</c:v>
                </c:pt>
                <c:pt idx="1">
                  <c:v>0.05</c:v>
                </c:pt>
                <c:pt idx="2">
                  <c:v>0.05</c:v>
                </c:pt>
                <c:pt idx="3">
                  <c:v>0.017</c:v>
                </c:pt>
                <c:pt idx="4">
                  <c:v>0.333</c:v>
                </c:pt>
                <c:pt idx="5">
                  <c:v>0.025</c:v>
                </c:pt>
                <c:pt idx="6">
                  <c:v>0.325</c:v>
                </c:pt>
                <c:pt idx="7">
                  <c:v>0.092</c:v>
                </c:pt>
                <c:pt idx="8">
                  <c:v>0.1</c:v>
                </c:pt>
                <c:pt idx="9">
                  <c:v>0.025</c:v>
                </c:pt>
              </c:numCache>
            </c:numRef>
          </c:val>
        </c:ser>
        <c:dLbls>
          <c:numFmt formatCode="0.00" sourceLinked="0"/>
          <c:txPr>
            <a:bodyPr/>
            <a:lstStyle/>
            <a:p>
              <a:pPr>
                <a:defRPr sz="65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max val="0.8"/>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title>
      <c:tx>
        <c:rich>
          <a:bodyPr/>
          <a:lstStyle/>
          <a:p>
            <a:r>
              <a:rPr sz="950" b="1">
                <a:solidFill>
                  <a:srgbClr val="203864"/>
                </a:solidFill>
              </a:rPr>
              <a:t>점수 (누적 스텝)</a:t>
            </a:r>
          </a:p>
        </c:rich>
      </c:tx>
      <c:layout/>
      <c:overlay val="0"/>
    </c:title>
    <c:plotArea>
      <c:scatterChart>
        <c:scatterStyle val="lineMarker"/>
        <c:varyColors val="0"/>
        <c:ser>
          <c:idx val="0"/>
          <c:order val="0"/>
          <c:tx>
            <c:strRef>
              <c:f>Sheet1!$B$1</c:f>
              <c:strCache>
                <c:ptCount val="1"/>
                <c:pt idx="0">
                  <c:v>둘째 단계 평가</c:v>
                </c:pt>
              </c:strCache>
            </c:strRef>
          </c:tx>
          <c:spPr>
            <a:ln w="19050">
              <a:solidFill>
                <a:srgbClr val="2E75B6"/>
              </a:solidFill>
            </a:ln>
          </c:spPr>
          <c:marker>
            <c:symbol val="none"/>
          </c:marker>
          <c:xVal>
            <c:numRef>
              <c:f>Sheet1!$A$2:$A$81</c:f>
              <c:numCache>
                <c:formatCode>General</c:formatCode>
                <c:ptCount val="80"/>
                <c:pt idx="0">
                  <c:v>40.251536</c:v>
                </c:pt>
                <c:pt idx="1">
                  <c:v>40.751536</c:v>
                </c:pt>
                <c:pt idx="2">
                  <c:v>41.251536</c:v>
                </c:pt>
                <c:pt idx="3">
                  <c:v>41.751536</c:v>
                </c:pt>
                <c:pt idx="4">
                  <c:v>42.251536</c:v>
                </c:pt>
                <c:pt idx="5">
                  <c:v>42.751536</c:v>
                </c:pt>
                <c:pt idx="6">
                  <c:v>43.251536</c:v>
                </c:pt>
                <c:pt idx="7">
                  <c:v>43.751536</c:v>
                </c:pt>
                <c:pt idx="8">
                  <c:v>44.251536</c:v>
                </c:pt>
                <c:pt idx="9">
                  <c:v>44.751536</c:v>
                </c:pt>
                <c:pt idx="10">
                  <c:v>45.251536</c:v>
                </c:pt>
                <c:pt idx="11">
                  <c:v>45.751536</c:v>
                </c:pt>
                <c:pt idx="12">
                  <c:v>46.251536</c:v>
                </c:pt>
                <c:pt idx="13">
                  <c:v>46.751536</c:v>
                </c:pt>
                <c:pt idx="14">
                  <c:v>47.251536</c:v>
                </c:pt>
                <c:pt idx="15">
                  <c:v>47.751536</c:v>
                </c:pt>
                <c:pt idx="16">
                  <c:v>48.251536</c:v>
                </c:pt>
                <c:pt idx="17">
                  <c:v>48.751536</c:v>
                </c:pt>
                <c:pt idx="18">
                  <c:v>49.251536</c:v>
                </c:pt>
                <c:pt idx="19">
                  <c:v>49.751536</c:v>
                </c:pt>
                <c:pt idx="20">
                  <c:v>50.251536</c:v>
                </c:pt>
                <c:pt idx="21">
                  <c:v>50.751536</c:v>
                </c:pt>
                <c:pt idx="22">
                  <c:v>51.251536</c:v>
                </c:pt>
                <c:pt idx="23">
                  <c:v>51.751536</c:v>
                </c:pt>
                <c:pt idx="24">
                  <c:v>52.251536</c:v>
                </c:pt>
                <c:pt idx="25">
                  <c:v>52.751536</c:v>
                </c:pt>
                <c:pt idx="26">
                  <c:v>53.251536</c:v>
                </c:pt>
                <c:pt idx="27">
                  <c:v>53.751536</c:v>
                </c:pt>
                <c:pt idx="28">
                  <c:v>54.251536</c:v>
                </c:pt>
                <c:pt idx="29">
                  <c:v>54.751536</c:v>
                </c:pt>
                <c:pt idx="30">
                  <c:v>55.251536</c:v>
                </c:pt>
                <c:pt idx="31">
                  <c:v>55.751536</c:v>
                </c:pt>
                <c:pt idx="32">
                  <c:v>56.251536</c:v>
                </c:pt>
                <c:pt idx="33">
                  <c:v>56.751536</c:v>
                </c:pt>
                <c:pt idx="34">
                  <c:v>57.251536</c:v>
                </c:pt>
                <c:pt idx="35">
                  <c:v>57.751536</c:v>
                </c:pt>
                <c:pt idx="36">
                  <c:v>58.251536</c:v>
                </c:pt>
                <c:pt idx="37">
                  <c:v>58.751536</c:v>
                </c:pt>
                <c:pt idx="38">
                  <c:v>59.251536</c:v>
                </c:pt>
                <c:pt idx="39">
                  <c:v>59.751536</c:v>
                </c:pt>
                <c:pt idx="40">
                  <c:v>60.251536</c:v>
                </c:pt>
                <c:pt idx="41">
                  <c:v>60.751536</c:v>
                </c:pt>
                <c:pt idx="42">
                  <c:v>61.251536</c:v>
                </c:pt>
                <c:pt idx="43">
                  <c:v>61.751536</c:v>
                </c:pt>
                <c:pt idx="44">
                  <c:v>62.251536</c:v>
                </c:pt>
                <c:pt idx="45">
                  <c:v>62.751536</c:v>
                </c:pt>
                <c:pt idx="46">
                  <c:v>63.251536</c:v>
                </c:pt>
                <c:pt idx="47">
                  <c:v>63.751536</c:v>
                </c:pt>
                <c:pt idx="48">
                  <c:v>64.251536</c:v>
                </c:pt>
                <c:pt idx="49">
                  <c:v>64.751536</c:v>
                </c:pt>
                <c:pt idx="50">
                  <c:v>65.251536</c:v>
                </c:pt>
                <c:pt idx="51">
                  <c:v>65.751536</c:v>
                </c:pt>
                <c:pt idx="52">
                  <c:v>66.251536</c:v>
                </c:pt>
                <c:pt idx="53">
                  <c:v>66.751536</c:v>
                </c:pt>
                <c:pt idx="54">
                  <c:v>67.251536</c:v>
                </c:pt>
                <c:pt idx="55">
                  <c:v>67.751536</c:v>
                </c:pt>
                <c:pt idx="56">
                  <c:v>68.251536</c:v>
                </c:pt>
                <c:pt idx="57">
                  <c:v>68.751536</c:v>
                </c:pt>
                <c:pt idx="58">
                  <c:v>69.251536</c:v>
                </c:pt>
                <c:pt idx="59">
                  <c:v>69.751536</c:v>
                </c:pt>
                <c:pt idx="60">
                  <c:v>70.251536</c:v>
                </c:pt>
                <c:pt idx="61">
                  <c:v>70.751536</c:v>
                </c:pt>
                <c:pt idx="62">
                  <c:v>71.251536</c:v>
                </c:pt>
                <c:pt idx="63">
                  <c:v>71.751536</c:v>
                </c:pt>
                <c:pt idx="64">
                  <c:v>72.251536</c:v>
                </c:pt>
                <c:pt idx="65">
                  <c:v>72.751536</c:v>
                </c:pt>
                <c:pt idx="66">
                  <c:v>73.251536</c:v>
                </c:pt>
                <c:pt idx="67">
                  <c:v>73.751536</c:v>
                </c:pt>
                <c:pt idx="68">
                  <c:v>74.251536</c:v>
                </c:pt>
                <c:pt idx="69">
                  <c:v>74.751536</c:v>
                </c:pt>
                <c:pt idx="70">
                  <c:v>75.251536</c:v>
                </c:pt>
                <c:pt idx="71">
                  <c:v>75.751536</c:v>
                </c:pt>
                <c:pt idx="72">
                  <c:v>76.251536</c:v>
                </c:pt>
                <c:pt idx="73">
                  <c:v>76.751536</c:v>
                </c:pt>
                <c:pt idx="74">
                  <c:v>77.251536</c:v>
                </c:pt>
                <c:pt idx="75">
                  <c:v>77.751536</c:v>
                </c:pt>
                <c:pt idx="76">
                  <c:v>78.251536</c:v>
                </c:pt>
                <c:pt idx="77">
                  <c:v>78.751536</c:v>
                </c:pt>
                <c:pt idx="78">
                  <c:v>79.251536</c:v>
                </c:pt>
                <c:pt idx="79">
                  <c:v>80.001536</c:v>
                </c:pt>
              </c:numCache>
            </c:numRef>
          </c:xVal>
          <c:yVal>
            <c:numRef>
              <c:f>Sheet1!$B$2:$B$81</c:f>
              <c:numCache>
                <c:formatCode>General</c:formatCode>
                <c:ptCount val="80"/>
                <c:pt idx="0">
                  <c:v>17454.078125</c:v>
                </c:pt>
                <c:pt idx="1">
                  <c:v>16778.462890625</c:v>
                </c:pt>
                <c:pt idx="2">
                  <c:v>9809.7001953125</c:v>
                </c:pt>
                <c:pt idx="3">
                  <c:v>16826.751953125</c:v>
                </c:pt>
                <c:pt idx="4">
                  <c:v>15894.4208984375</c:v>
                </c:pt>
                <c:pt idx="5">
                  <c:v>19481.455078125</c:v>
                </c:pt>
                <c:pt idx="6">
                  <c:v>9848.6904296875</c:v>
                </c:pt>
                <c:pt idx="7">
                  <c:v>12709.1748046875</c:v>
                </c:pt>
                <c:pt idx="8">
                  <c:v>11488.314453125</c:v>
                </c:pt>
                <c:pt idx="9">
                  <c:v>16399.79296875</c:v>
                </c:pt>
                <c:pt idx="10">
                  <c:v>7676.0810546875</c:v>
                </c:pt>
                <c:pt idx="11">
                  <c:v>13145.6416015625</c:v>
                </c:pt>
                <c:pt idx="12">
                  <c:v>14842.30859375</c:v>
                </c:pt>
                <c:pt idx="13">
                  <c:v>21320.875</c:v>
                </c:pt>
                <c:pt idx="14">
                  <c:v>18584.80078125</c:v>
                </c:pt>
                <c:pt idx="15">
                  <c:v>21450.21484375</c:v>
                </c:pt>
                <c:pt idx="16">
                  <c:v>20238.02734375</c:v>
                </c:pt>
                <c:pt idx="17">
                  <c:v>9763.4140625</c:v>
                </c:pt>
                <c:pt idx="18">
                  <c:v>10388.037109375</c:v>
                </c:pt>
                <c:pt idx="19">
                  <c:v>16625.1796875</c:v>
                </c:pt>
                <c:pt idx="20">
                  <c:v>11664.68359375</c:v>
                </c:pt>
                <c:pt idx="21">
                  <c:v>14915.0517578125</c:v>
                </c:pt>
                <c:pt idx="22">
                  <c:v>21029.640625</c:v>
                </c:pt>
                <c:pt idx="23">
                  <c:v>19284.419921875</c:v>
                </c:pt>
                <c:pt idx="24">
                  <c:v>20398.673828125</c:v>
                </c:pt>
                <c:pt idx="25">
                  <c:v>19173.89453125</c:v>
                </c:pt>
                <c:pt idx="26">
                  <c:v>14935.5478515625</c:v>
                </c:pt>
                <c:pt idx="27">
                  <c:v>21539.568359375</c:v>
                </c:pt>
                <c:pt idx="28">
                  <c:v>14971.6396484375</c:v>
                </c:pt>
                <c:pt idx="29">
                  <c:v>14387.8984375</c:v>
                </c:pt>
                <c:pt idx="30">
                  <c:v>19165.95703125</c:v>
                </c:pt>
                <c:pt idx="31">
                  <c:v>12351.8671875</c:v>
                </c:pt>
                <c:pt idx="32">
                  <c:v>15141.6357421875</c:v>
                </c:pt>
                <c:pt idx="33">
                  <c:v>20797.646484375</c:v>
                </c:pt>
                <c:pt idx="34">
                  <c:v>17435.1328125</c:v>
                </c:pt>
                <c:pt idx="35">
                  <c:v>15855.6787109375</c:v>
                </c:pt>
                <c:pt idx="36">
                  <c:v>17351.5</c:v>
                </c:pt>
                <c:pt idx="37">
                  <c:v>14414.22265625</c:v>
                </c:pt>
                <c:pt idx="38">
                  <c:v>17099.828125</c:v>
                </c:pt>
                <c:pt idx="39">
                  <c:v>20916.65234375</c:v>
                </c:pt>
                <c:pt idx="40">
                  <c:v>14929.6806640625</c:v>
                </c:pt>
                <c:pt idx="41">
                  <c:v>19076.400390625</c:v>
                </c:pt>
                <c:pt idx="42">
                  <c:v>20940.71875</c:v>
                </c:pt>
                <c:pt idx="43">
                  <c:v>14238.5263671875</c:v>
                </c:pt>
                <c:pt idx="44">
                  <c:v>13016.158203125</c:v>
                </c:pt>
                <c:pt idx="45">
                  <c:v>24101.697265625</c:v>
                </c:pt>
                <c:pt idx="46">
                  <c:v>14300.982421875</c:v>
                </c:pt>
                <c:pt idx="47">
                  <c:v>17697.353515625</c:v>
                </c:pt>
                <c:pt idx="48">
                  <c:v>14574.525390625</c:v>
                </c:pt>
                <c:pt idx="49">
                  <c:v>21032.59375</c:v>
                </c:pt>
                <c:pt idx="50">
                  <c:v>15380.638671875</c:v>
                </c:pt>
                <c:pt idx="51">
                  <c:v>13416.92578125</c:v>
                </c:pt>
                <c:pt idx="52">
                  <c:v>11622.0654296875</c:v>
                </c:pt>
                <c:pt idx="53">
                  <c:v>16179.5087890625</c:v>
                </c:pt>
                <c:pt idx="54">
                  <c:v>15599.9091796875</c:v>
                </c:pt>
                <c:pt idx="55">
                  <c:v>16484.517578125</c:v>
                </c:pt>
                <c:pt idx="56">
                  <c:v>15475.537109375</c:v>
                </c:pt>
                <c:pt idx="57">
                  <c:v>18354.46875</c:v>
                </c:pt>
                <c:pt idx="58">
                  <c:v>19728.8671875</c:v>
                </c:pt>
                <c:pt idx="59">
                  <c:v>18450.806640625</c:v>
                </c:pt>
                <c:pt idx="60">
                  <c:v>18988.703125</c:v>
                </c:pt>
                <c:pt idx="61">
                  <c:v>18625.14453125</c:v>
                </c:pt>
                <c:pt idx="62">
                  <c:v>18986.17578125</c:v>
                </c:pt>
                <c:pt idx="63">
                  <c:v>17515.6953125</c:v>
                </c:pt>
                <c:pt idx="64">
                  <c:v>17452.63671875</c:v>
                </c:pt>
                <c:pt idx="65">
                  <c:v>14837.94140625</c:v>
                </c:pt>
                <c:pt idx="66">
                  <c:v>18103.0859375</c:v>
                </c:pt>
                <c:pt idx="67">
                  <c:v>17728.17578125</c:v>
                </c:pt>
                <c:pt idx="68">
                  <c:v>14677.0390625</c:v>
                </c:pt>
                <c:pt idx="69">
                  <c:v>19058.38671875</c:v>
                </c:pt>
                <c:pt idx="70">
                  <c:v>17952.384765625</c:v>
                </c:pt>
                <c:pt idx="71">
                  <c:v>16719.603515625</c:v>
                </c:pt>
                <c:pt idx="72">
                  <c:v>15788.595703125</c:v>
                </c:pt>
                <c:pt idx="73">
                  <c:v>15490.6064453125</c:v>
                </c:pt>
                <c:pt idx="74">
                  <c:v>10871.318359375</c:v>
                </c:pt>
                <c:pt idx="75">
                  <c:v>19869.107421875</c:v>
                </c:pt>
                <c:pt idx="76">
                  <c:v>14929.1904296875</c:v>
                </c:pt>
                <c:pt idx="77">
                  <c:v>8231.8564453125</c:v>
                </c:pt>
                <c:pt idx="78">
                  <c:v>19089.654296875</c:v>
                </c:pt>
                <c:pt idx="79">
                  <c:v>16892.53515625</c:v>
                </c:pt>
              </c:numCache>
            </c:numRef>
          </c:yVal>
          <c:smooth val="0"/>
        </c:ser>
        <c:ser>
          <c:idx val="1"/>
          <c:order val="1"/>
          <c:tx>
            <c:strRef>
              <c:f>Sheet1!$B$83</c:f>
              <c:strCache>
                <c:ptCount val="1"/>
                <c:pt idx="0">
                  <c:v>셋째 단계 평가</c:v>
                </c:pt>
              </c:strCache>
            </c:strRef>
          </c:tx>
          <c:spPr>
            <a:ln w="19050">
              <a:solidFill>
                <a:srgbClr val="E97132"/>
              </a:solidFill>
            </a:ln>
          </c:spPr>
          <c:marker>
            <c:symbol val="none"/>
          </c:marker>
          <c:xVal>
            <c:numRef>
              <c:f>Sheet1!$A$84:$A$163</c:f>
              <c:numCache>
                <c:formatCode>General</c:formatCode>
                <c:ptCount val="80"/>
                <c:pt idx="0">
                  <c:v>80.253072</c:v>
                </c:pt>
                <c:pt idx="1">
                  <c:v>80.753072</c:v>
                </c:pt>
                <c:pt idx="2">
                  <c:v>81.253072</c:v>
                </c:pt>
                <c:pt idx="3">
                  <c:v>81.753072</c:v>
                </c:pt>
                <c:pt idx="4">
                  <c:v>82.253072</c:v>
                </c:pt>
                <c:pt idx="5">
                  <c:v>82.753072</c:v>
                </c:pt>
                <c:pt idx="6">
                  <c:v>83.253072</c:v>
                </c:pt>
                <c:pt idx="7">
                  <c:v>83.753072</c:v>
                </c:pt>
                <c:pt idx="8">
                  <c:v>84.253072</c:v>
                </c:pt>
                <c:pt idx="9">
                  <c:v>84.753072</c:v>
                </c:pt>
                <c:pt idx="10">
                  <c:v>85.253072</c:v>
                </c:pt>
                <c:pt idx="11">
                  <c:v>85.753072</c:v>
                </c:pt>
                <c:pt idx="12">
                  <c:v>86.253072</c:v>
                </c:pt>
                <c:pt idx="13">
                  <c:v>86.753072</c:v>
                </c:pt>
                <c:pt idx="14">
                  <c:v>87.253072</c:v>
                </c:pt>
                <c:pt idx="15">
                  <c:v>87.753072</c:v>
                </c:pt>
                <c:pt idx="16">
                  <c:v>88.253072</c:v>
                </c:pt>
                <c:pt idx="17">
                  <c:v>88.753072</c:v>
                </c:pt>
                <c:pt idx="18">
                  <c:v>89.253072</c:v>
                </c:pt>
                <c:pt idx="19">
                  <c:v>89.753072</c:v>
                </c:pt>
                <c:pt idx="20">
                  <c:v>90.253072</c:v>
                </c:pt>
                <c:pt idx="21">
                  <c:v>90.753072</c:v>
                </c:pt>
                <c:pt idx="22">
                  <c:v>91.253072</c:v>
                </c:pt>
                <c:pt idx="23">
                  <c:v>91.753072</c:v>
                </c:pt>
                <c:pt idx="24">
                  <c:v>92.253072</c:v>
                </c:pt>
                <c:pt idx="25">
                  <c:v>92.753072</c:v>
                </c:pt>
                <c:pt idx="26">
                  <c:v>93.253072</c:v>
                </c:pt>
                <c:pt idx="27">
                  <c:v>93.753072</c:v>
                </c:pt>
                <c:pt idx="28">
                  <c:v>94.253072</c:v>
                </c:pt>
                <c:pt idx="29">
                  <c:v>94.753072</c:v>
                </c:pt>
                <c:pt idx="30">
                  <c:v>95.253072</c:v>
                </c:pt>
                <c:pt idx="31">
                  <c:v>95.753072</c:v>
                </c:pt>
                <c:pt idx="32">
                  <c:v>96.253072</c:v>
                </c:pt>
                <c:pt idx="33">
                  <c:v>96.753072</c:v>
                </c:pt>
                <c:pt idx="34">
                  <c:v>97.253072</c:v>
                </c:pt>
                <c:pt idx="35">
                  <c:v>97.753072</c:v>
                </c:pt>
                <c:pt idx="36">
                  <c:v>98.253072</c:v>
                </c:pt>
                <c:pt idx="37">
                  <c:v>98.753072</c:v>
                </c:pt>
                <c:pt idx="38">
                  <c:v>99.253072</c:v>
                </c:pt>
                <c:pt idx="39">
                  <c:v>99.753072</c:v>
                </c:pt>
                <c:pt idx="40">
                  <c:v>100.253072</c:v>
                </c:pt>
                <c:pt idx="41">
                  <c:v>100.753072</c:v>
                </c:pt>
                <c:pt idx="42">
                  <c:v>101.253072</c:v>
                </c:pt>
                <c:pt idx="43">
                  <c:v>101.753072</c:v>
                </c:pt>
                <c:pt idx="44">
                  <c:v>102.253072</c:v>
                </c:pt>
                <c:pt idx="45">
                  <c:v>102.753072</c:v>
                </c:pt>
                <c:pt idx="46">
                  <c:v>103.253072</c:v>
                </c:pt>
                <c:pt idx="47">
                  <c:v>103.753072</c:v>
                </c:pt>
                <c:pt idx="48">
                  <c:v>104.253072</c:v>
                </c:pt>
                <c:pt idx="49">
                  <c:v>104.753072</c:v>
                </c:pt>
                <c:pt idx="50">
                  <c:v>105.253072</c:v>
                </c:pt>
                <c:pt idx="51">
                  <c:v>105.753072</c:v>
                </c:pt>
                <c:pt idx="52">
                  <c:v>106.253072</c:v>
                </c:pt>
                <c:pt idx="53">
                  <c:v>106.753072</c:v>
                </c:pt>
                <c:pt idx="54">
                  <c:v>107.253072</c:v>
                </c:pt>
                <c:pt idx="55">
                  <c:v>107.753072</c:v>
                </c:pt>
                <c:pt idx="56">
                  <c:v>108.253072</c:v>
                </c:pt>
                <c:pt idx="57">
                  <c:v>108.753072</c:v>
                </c:pt>
                <c:pt idx="58">
                  <c:v>109.253072</c:v>
                </c:pt>
                <c:pt idx="59">
                  <c:v>109.753072</c:v>
                </c:pt>
                <c:pt idx="60">
                  <c:v>110.253072</c:v>
                </c:pt>
                <c:pt idx="61">
                  <c:v>110.753072</c:v>
                </c:pt>
                <c:pt idx="62">
                  <c:v>111.253072</c:v>
                </c:pt>
                <c:pt idx="63">
                  <c:v>111.753072</c:v>
                </c:pt>
                <c:pt idx="64">
                  <c:v>112.253072</c:v>
                </c:pt>
                <c:pt idx="65">
                  <c:v>112.753072</c:v>
                </c:pt>
                <c:pt idx="66">
                  <c:v>113.253072</c:v>
                </c:pt>
                <c:pt idx="67">
                  <c:v>113.753072</c:v>
                </c:pt>
                <c:pt idx="68">
                  <c:v>114.253072</c:v>
                </c:pt>
                <c:pt idx="69">
                  <c:v>114.753072</c:v>
                </c:pt>
                <c:pt idx="70">
                  <c:v>115.253072</c:v>
                </c:pt>
                <c:pt idx="71">
                  <c:v>115.753072</c:v>
                </c:pt>
                <c:pt idx="72">
                  <c:v>116.253072</c:v>
                </c:pt>
                <c:pt idx="73">
                  <c:v>116.753072</c:v>
                </c:pt>
                <c:pt idx="74">
                  <c:v>117.253072</c:v>
                </c:pt>
                <c:pt idx="75">
                  <c:v>117.753072</c:v>
                </c:pt>
                <c:pt idx="76">
                  <c:v>118.253072</c:v>
                </c:pt>
                <c:pt idx="77">
                  <c:v>118.753072</c:v>
                </c:pt>
                <c:pt idx="78">
                  <c:v>119.253072</c:v>
                </c:pt>
                <c:pt idx="79">
                  <c:v>120.003072</c:v>
                </c:pt>
              </c:numCache>
            </c:numRef>
          </c:xVal>
          <c:yVal>
            <c:numRef>
              <c:f>Sheet1!$B$84:$B$163</c:f>
              <c:numCache>
                <c:formatCode>General</c:formatCode>
                <c:ptCount val="80"/>
                <c:pt idx="0">
                  <c:v>17134.685546875</c:v>
                </c:pt>
                <c:pt idx="1">
                  <c:v>18229.208984375</c:v>
                </c:pt>
                <c:pt idx="2">
                  <c:v>15258.1875</c:v>
                </c:pt>
                <c:pt idx="3">
                  <c:v>17500.9765625</c:v>
                </c:pt>
                <c:pt idx="4">
                  <c:v>10773.8291015625</c:v>
                </c:pt>
                <c:pt idx="5">
                  <c:v>20772.5703125</c:v>
                </c:pt>
                <c:pt idx="6">
                  <c:v>17570.75390625</c:v>
                </c:pt>
                <c:pt idx="7">
                  <c:v>21496.349609375</c:v>
                </c:pt>
                <c:pt idx="8">
                  <c:v>13980.794921875</c:v>
                </c:pt>
                <c:pt idx="9">
                  <c:v>18593.71484375</c:v>
                </c:pt>
                <c:pt idx="10">
                  <c:v>17569.3828125</c:v>
                </c:pt>
                <c:pt idx="11">
                  <c:v>20714.841796875</c:v>
                </c:pt>
                <c:pt idx="12">
                  <c:v>15381.939453125</c:v>
                </c:pt>
                <c:pt idx="13">
                  <c:v>19340.146484375</c:v>
                </c:pt>
                <c:pt idx="14">
                  <c:v>16663.818359375</c:v>
                </c:pt>
                <c:pt idx="15">
                  <c:v>15002.5537109375</c:v>
                </c:pt>
                <c:pt idx="16">
                  <c:v>15742.9736328125</c:v>
                </c:pt>
                <c:pt idx="17">
                  <c:v>17508.5234375</c:v>
                </c:pt>
                <c:pt idx="18">
                  <c:v>14354.1142578125</c:v>
                </c:pt>
                <c:pt idx="19">
                  <c:v>17010.94921875</c:v>
                </c:pt>
                <c:pt idx="20">
                  <c:v>15583.7998046875</c:v>
                </c:pt>
                <c:pt idx="21">
                  <c:v>11890.1103515625</c:v>
                </c:pt>
                <c:pt idx="22">
                  <c:v>11613.7919921875</c:v>
                </c:pt>
                <c:pt idx="23">
                  <c:v>17155.748046875</c:v>
                </c:pt>
                <c:pt idx="24">
                  <c:v>11295.708984375</c:v>
                </c:pt>
                <c:pt idx="25">
                  <c:v>15557.443359375</c:v>
                </c:pt>
                <c:pt idx="26">
                  <c:v>12201.1455078125</c:v>
                </c:pt>
                <c:pt idx="27">
                  <c:v>14269.5166015625</c:v>
                </c:pt>
                <c:pt idx="28">
                  <c:v>17687.216796875</c:v>
                </c:pt>
                <c:pt idx="29">
                  <c:v>16947.38671875</c:v>
                </c:pt>
                <c:pt idx="30">
                  <c:v>12384.732421875</c:v>
                </c:pt>
                <c:pt idx="31">
                  <c:v>20551.919921875</c:v>
                </c:pt>
                <c:pt idx="32">
                  <c:v>19059.650390625</c:v>
                </c:pt>
                <c:pt idx="33">
                  <c:v>21943.083984375</c:v>
                </c:pt>
                <c:pt idx="34">
                  <c:v>17430.009765625</c:v>
                </c:pt>
                <c:pt idx="35">
                  <c:v>16174.4189453125</c:v>
                </c:pt>
                <c:pt idx="36">
                  <c:v>15362.7099609375</c:v>
                </c:pt>
                <c:pt idx="37">
                  <c:v>19772.546875</c:v>
                </c:pt>
                <c:pt idx="38">
                  <c:v>18487.392578125</c:v>
                </c:pt>
                <c:pt idx="39">
                  <c:v>18941.3671875</c:v>
                </c:pt>
                <c:pt idx="40">
                  <c:v>12321.853515625</c:v>
                </c:pt>
                <c:pt idx="41">
                  <c:v>20518.80078125</c:v>
                </c:pt>
                <c:pt idx="42">
                  <c:v>19818.73828125</c:v>
                </c:pt>
                <c:pt idx="43">
                  <c:v>17890.736328125</c:v>
                </c:pt>
                <c:pt idx="44">
                  <c:v>18405.224609375</c:v>
                </c:pt>
                <c:pt idx="45">
                  <c:v>19175.2890625</c:v>
                </c:pt>
                <c:pt idx="46">
                  <c:v>13751.5791015625</c:v>
                </c:pt>
                <c:pt idx="47">
                  <c:v>13741.2236328125</c:v>
                </c:pt>
                <c:pt idx="48">
                  <c:v>17761.74609375</c:v>
                </c:pt>
                <c:pt idx="49">
                  <c:v>12460.958984375</c:v>
                </c:pt>
                <c:pt idx="50">
                  <c:v>19685.5546875</c:v>
                </c:pt>
                <c:pt idx="51">
                  <c:v>18220.955078125</c:v>
                </c:pt>
                <c:pt idx="52">
                  <c:v>18048.068359375</c:v>
                </c:pt>
                <c:pt idx="53">
                  <c:v>11418.1787109375</c:v>
                </c:pt>
                <c:pt idx="54">
                  <c:v>21807.96875</c:v>
                </c:pt>
                <c:pt idx="55">
                  <c:v>9987.0751953125</c:v>
                </c:pt>
                <c:pt idx="56">
                  <c:v>16193.267578125</c:v>
                </c:pt>
                <c:pt idx="57">
                  <c:v>15687.392578125</c:v>
                </c:pt>
                <c:pt idx="58">
                  <c:v>14449.224609375</c:v>
                </c:pt>
                <c:pt idx="59">
                  <c:v>15868.3759765625</c:v>
                </c:pt>
                <c:pt idx="60">
                  <c:v>15729.5126953125</c:v>
                </c:pt>
                <c:pt idx="61">
                  <c:v>18077.294921875</c:v>
                </c:pt>
                <c:pt idx="62">
                  <c:v>23100.919921875</c:v>
                </c:pt>
                <c:pt idx="63">
                  <c:v>18963.642578125</c:v>
                </c:pt>
                <c:pt idx="64">
                  <c:v>17745.07421875</c:v>
                </c:pt>
                <c:pt idx="65">
                  <c:v>14748.658203125</c:v>
                </c:pt>
                <c:pt idx="66">
                  <c:v>11249.859375</c:v>
                </c:pt>
                <c:pt idx="67">
                  <c:v>8862.171875</c:v>
                </c:pt>
                <c:pt idx="68">
                  <c:v>11455.6328125</c:v>
                </c:pt>
                <c:pt idx="69">
                  <c:v>15272.37890625</c:v>
                </c:pt>
                <c:pt idx="70">
                  <c:v>13555.4619140625</c:v>
                </c:pt>
                <c:pt idx="71">
                  <c:v>16456.080078125</c:v>
                </c:pt>
                <c:pt idx="72">
                  <c:v>19106.830078125</c:v>
                </c:pt>
                <c:pt idx="73">
                  <c:v>16197.2255859375</c:v>
                </c:pt>
                <c:pt idx="74">
                  <c:v>18521.3359375</c:v>
                </c:pt>
                <c:pt idx="75">
                  <c:v>18711.025390625</c:v>
                </c:pt>
                <c:pt idx="76">
                  <c:v>15318.5400390625</c:v>
                </c:pt>
                <c:pt idx="77">
                  <c:v>14439.9736328125</c:v>
                </c:pt>
                <c:pt idx="78">
                  <c:v>13833.775390625</c:v>
                </c:pt>
                <c:pt idx="79">
                  <c:v>13107.0888671875</c:v>
                </c:pt>
              </c:numCache>
            </c:numRef>
          </c:yVal>
          <c:smooth val="0"/>
        </c:ser>
        <c:ser>
          <c:idx val="2"/>
          <c:order val="2"/>
          <c:tx>
            <c:strRef>
              <c:f>Sheet1!$B$165</c:f>
              <c:strCache>
                <c:ptCount val="1"/>
                <c:pt idx="0">
                  <c:v>둘째 단계 학습 중</c:v>
                </c:pt>
              </c:strCache>
            </c:strRef>
          </c:tx>
          <c:spPr>
            <a:ln w="19050">
              <a:solidFill>
                <a:srgbClr val="203864"/>
              </a:solidFill>
            </a:ln>
          </c:spPr>
          <c:marker>
            <c:symbol val="none"/>
          </c:marker>
          <c:xVal>
            <c:numRef>
              <c:f>Sheet1!$A$166:$A$245</c:f>
              <c:numCache>
                <c:formatCode>General</c:formatCode>
                <c:ptCount val="80"/>
                <c:pt idx="0">
                  <c:v>40.083456</c:v>
                </c:pt>
                <c:pt idx="1">
                  <c:v>40.587264</c:v>
                </c:pt>
                <c:pt idx="2">
                  <c:v>41.091072</c:v>
                </c:pt>
                <c:pt idx="3">
                  <c:v>41.598976</c:v>
                </c:pt>
                <c:pt idx="4">
                  <c:v>42.102784</c:v>
                </c:pt>
                <c:pt idx="5">
                  <c:v>42.606592</c:v>
                </c:pt>
                <c:pt idx="6">
                  <c:v>43.114496</c:v>
                </c:pt>
                <c:pt idx="7">
                  <c:v>43.618304</c:v>
                </c:pt>
                <c:pt idx="8">
                  <c:v>44.122112</c:v>
                </c:pt>
                <c:pt idx="9">
                  <c:v>44.630016</c:v>
                </c:pt>
                <c:pt idx="10">
                  <c:v>45.133824</c:v>
                </c:pt>
                <c:pt idx="11">
                  <c:v>45.641728</c:v>
                </c:pt>
                <c:pt idx="12">
                  <c:v>46.145536</c:v>
                </c:pt>
                <c:pt idx="13">
                  <c:v>46.649344</c:v>
                </c:pt>
                <c:pt idx="14">
                  <c:v>47.157248</c:v>
                </c:pt>
                <c:pt idx="15">
                  <c:v>47.661056</c:v>
                </c:pt>
                <c:pt idx="16">
                  <c:v>48.164864</c:v>
                </c:pt>
                <c:pt idx="17">
                  <c:v>48.672768</c:v>
                </c:pt>
                <c:pt idx="18">
                  <c:v>49.176576</c:v>
                </c:pt>
                <c:pt idx="19">
                  <c:v>49.680384</c:v>
                </c:pt>
                <c:pt idx="20">
                  <c:v>50.188288</c:v>
                </c:pt>
                <c:pt idx="21">
                  <c:v>50.692096</c:v>
                </c:pt>
                <c:pt idx="22">
                  <c:v>51.2</c:v>
                </c:pt>
                <c:pt idx="23">
                  <c:v>51.703808</c:v>
                </c:pt>
                <c:pt idx="24">
                  <c:v>52.207616</c:v>
                </c:pt>
                <c:pt idx="25">
                  <c:v>52.71552</c:v>
                </c:pt>
                <c:pt idx="26">
                  <c:v>53.219328</c:v>
                </c:pt>
                <c:pt idx="27">
                  <c:v>53.723136</c:v>
                </c:pt>
                <c:pt idx="28">
                  <c:v>54.23104</c:v>
                </c:pt>
                <c:pt idx="29">
                  <c:v>54.734848</c:v>
                </c:pt>
                <c:pt idx="30">
                  <c:v>55.242752</c:v>
                </c:pt>
                <c:pt idx="31">
                  <c:v>55.74656</c:v>
                </c:pt>
                <c:pt idx="32">
                  <c:v>56.250368</c:v>
                </c:pt>
                <c:pt idx="33">
                  <c:v>56.758272</c:v>
                </c:pt>
                <c:pt idx="34">
                  <c:v>57.26208</c:v>
                </c:pt>
                <c:pt idx="35">
                  <c:v>57.765888</c:v>
                </c:pt>
                <c:pt idx="36">
                  <c:v>58.273792</c:v>
                </c:pt>
                <c:pt idx="37">
                  <c:v>58.7776</c:v>
                </c:pt>
                <c:pt idx="38">
                  <c:v>59.281408</c:v>
                </c:pt>
                <c:pt idx="39">
                  <c:v>59.789312</c:v>
                </c:pt>
                <c:pt idx="40">
                  <c:v>60.29312</c:v>
                </c:pt>
                <c:pt idx="41">
                  <c:v>60.801024</c:v>
                </c:pt>
                <c:pt idx="42">
                  <c:v>61.304832</c:v>
                </c:pt>
                <c:pt idx="43">
                  <c:v>61.80864</c:v>
                </c:pt>
                <c:pt idx="44">
                  <c:v>62.316544</c:v>
                </c:pt>
                <c:pt idx="45">
                  <c:v>62.820352</c:v>
                </c:pt>
                <c:pt idx="46">
                  <c:v>63.32416</c:v>
                </c:pt>
                <c:pt idx="47">
                  <c:v>63.832064</c:v>
                </c:pt>
                <c:pt idx="48">
                  <c:v>64.335872</c:v>
                </c:pt>
                <c:pt idx="49">
                  <c:v>64.83968</c:v>
                </c:pt>
                <c:pt idx="50">
                  <c:v>65.347584</c:v>
                </c:pt>
                <c:pt idx="51">
                  <c:v>65.851392</c:v>
                </c:pt>
                <c:pt idx="52">
                  <c:v>66.359296</c:v>
                </c:pt>
                <c:pt idx="53">
                  <c:v>66.863104</c:v>
                </c:pt>
                <c:pt idx="54">
                  <c:v>67.366912</c:v>
                </c:pt>
                <c:pt idx="55">
                  <c:v>67.874816</c:v>
                </c:pt>
                <c:pt idx="56">
                  <c:v>68.378624</c:v>
                </c:pt>
                <c:pt idx="57">
                  <c:v>68.882432</c:v>
                </c:pt>
                <c:pt idx="58">
                  <c:v>69.390336</c:v>
                </c:pt>
                <c:pt idx="59">
                  <c:v>69.894144</c:v>
                </c:pt>
                <c:pt idx="60">
                  <c:v>70.402048</c:v>
                </c:pt>
                <c:pt idx="61">
                  <c:v>70.905856</c:v>
                </c:pt>
                <c:pt idx="62">
                  <c:v>71.409664</c:v>
                </c:pt>
                <c:pt idx="63">
                  <c:v>71.917568</c:v>
                </c:pt>
                <c:pt idx="64">
                  <c:v>72.421376</c:v>
                </c:pt>
                <c:pt idx="65">
                  <c:v>72.925184</c:v>
                </c:pt>
                <c:pt idx="66">
                  <c:v>73.433088</c:v>
                </c:pt>
                <c:pt idx="67">
                  <c:v>73.936896</c:v>
                </c:pt>
                <c:pt idx="68">
                  <c:v>74.440704</c:v>
                </c:pt>
                <c:pt idx="69">
                  <c:v>74.948608</c:v>
                </c:pt>
                <c:pt idx="70">
                  <c:v>75.452416</c:v>
                </c:pt>
                <c:pt idx="71">
                  <c:v>75.96032</c:v>
                </c:pt>
                <c:pt idx="72">
                  <c:v>76.464128</c:v>
                </c:pt>
                <c:pt idx="73">
                  <c:v>76.967936</c:v>
                </c:pt>
                <c:pt idx="74">
                  <c:v>77.47584</c:v>
                </c:pt>
                <c:pt idx="75">
                  <c:v>77.979648</c:v>
                </c:pt>
                <c:pt idx="76">
                  <c:v>78.483456</c:v>
                </c:pt>
                <c:pt idx="77">
                  <c:v>78.99136</c:v>
                </c:pt>
                <c:pt idx="78">
                  <c:v>79.495168</c:v>
                </c:pt>
                <c:pt idx="79">
                  <c:v>80.003072</c:v>
                </c:pt>
              </c:numCache>
            </c:numRef>
          </c:xVal>
          <c:yVal>
            <c:numRef>
              <c:f>Sheet1!$B$166:$B$245</c:f>
              <c:numCache>
                <c:formatCode>General</c:formatCode>
                <c:ptCount val="80"/>
                <c:pt idx="0">
                  <c:v>14777.316796875</c:v>
                </c:pt>
                <c:pt idx="1">
                  <c:v>13191.895703125001</c:v>
                </c:pt>
                <c:pt idx="2">
                  <c:v>10125.449707031252</c:v>
                </c:pt>
                <c:pt idx="3">
                  <c:v>12606.928271484378</c:v>
                </c:pt>
                <c:pt idx="4">
                  <c:v>12030.752636718751</c:v>
                </c:pt>
                <c:pt idx="5">
                  <c:v>10550.88232421875</c:v>
                </c:pt>
                <c:pt idx="6">
                  <c:v>12956.49033203125</c:v>
                </c:pt>
                <c:pt idx="7">
                  <c:v>11548.945507812501</c:v>
                </c:pt>
                <c:pt idx="8">
                  <c:v>11121.169384765622</c:v>
                </c:pt>
                <c:pt idx="9">
                  <c:v>13265.968115234376</c:v>
                </c:pt>
                <c:pt idx="10">
                  <c:v>14767.570361328128</c:v>
                </c:pt>
                <c:pt idx="11">
                  <c:v>12661.349072265626</c:v>
                </c:pt>
                <c:pt idx="12">
                  <c:v>12898.024169921875</c:v>
                </c:pt>
                <c:pt idx="13">
                  <c:v>12274.215283203126</c:v>
                </c:pt>
                <c:pt idx="14">
                  <c:v>11391.598193359374</c:v>
                </c:pt>
                <c:pt idx="15">
                  <c:v>11333.271533203124</c:v>
                </c:pt>
                <c:pt idx="16">
                  <c:v>12801.0685546875</c:v>
                </c:pt>
                <c:pt idx="17">
                  <c:v>12953.223828125001</c:v>
                </c:pt>
                <c:pt idx="18">
                  <c:v>14716.25439453125</c:v>
                </c:pt>
                <c:pt idx="19">
                  <c:v>14366.11748046875</c:v>
                </c:pt>
                <c:pt idx="20">
                  <c:v>12884.434423828126</c:v>
                </c:pt>
                <c:pt idx="21">
                  <c:v>12530.015771484375</c:v>
                </c:pt>
                <c:pt idx="22">
                  <c:v>14438.4904296875</c:v>
                </c:pt>
                <c:pt idx="23">
                  <c:v>13765.616162109376</c:v>
                </c:pt>
                <c:pt idx="24">
                  <c:v>12851.369970703126</c:v>
                </c:pt>
                <c:pt idx="25">
                  <c:v>11800.301757812502</c:v>
                </c:pt>
                <c:pt idx="26">
                  <c:v>15276.112304687504</c:v>
                </c:pt>
                <c:pt idx="27">
                  <c:v>12651.568457031251</c:v>
                </c:pt>
                <c:pt idx="28">
                  <c:v>13847.227929687499</c:v>
                </c:pt>
                <c:pt idx="29">
                  <c:v>14607.919482421876</c:v>
                </c:pt>
                <c:pt idx="30">
                  <c:v>14163.580859375</c:v>
                </c:pt>
                <c:pt idx="31">
                  <c:v>15602.530468750003</c:v>
                </c:pt>
                <c:pt idx="32">
                  <c:v>15100.22666015625</c:v>
                </c:pt>
                <c:pt idx="33">
                  <c:v>13717.939355468752</c:v>
                </c:pt>
                <c:pt idx="34">
                  <c:v>14129.72578125</c:v>
                </c:pt>
                <c:pt idx="35">
                  <c:v>14518.924121093749</c:v>
                </c:pt>
                <c:pt idx="36">
                  <c:v>15346.3646484375</c:v>
                </c:pt>
                <c:pt idx="37">
                  <c:v>12093.487646484375</c:v>
                </c:pt>
                <c:pt idx="38">
                  <c:v>14095.777197265625</c:v>
                </c:pt>
                <c:pt idx="39">
                  <c:v>15765.402636718753</c:v>
                </c:pt>
                <c:pt idx="40">
                  <c:v>13523.579882812499</c:v>
                </c:pt>
                <c:pt idx="41">
                  <c:v>16137.190527343751</c:v>
                </c:pt>
                <c:pt idx="42">
                  <c:v>13784.42412109375</c:v>
                </c:pt>
                <c:pt idx="43">
                  <c:v>11762.059521484376</c:v>
                </c:pt>
                <c:pt idx="44">
                  <c:v>14273.527587890625</c:v>
                </c:pt>
                <c:pt idx="45">
                  <c:v>14521.4484375</c:v>
                </c:pt>
                <c:pt idx="46">
                  <c:v>15346.5099609375</c:v>
                </c:pt>
                <c:pt idx="47">
                  <c:v>13445.819384765628</c:v>
                </c:pt>
                <c:pt idx="48">
                  <c:v>11792.790234375</c:v>
                </c:pt>
                <c:pt idx="49">
                  <c:v>13431.747167968751</c:v>
                </c:pt>
                <c:pt idx="50">
                  <c:v>13494.695166015626</c:v>
                </c:pt>
                <c:pt idx="51">
                  <c:v>14852.986621093753</c:v>
                </c:pt>
                <c:pt idx="52">
                  <c:v>16707.939697265625</c:v>
                </c:pt>
                <c:pt idx="53">
                  <c:v>14547.590722656252</c:v>
                </c:pt>
                <c:pt idx="54">
                  <c:v>14591.583154296875</c:v>
                </c:pt>
                <c:pt idx="55">
                  <c:v>14319.038916015626</c:v>
                </c:pt>
                <c:pt idx="56">
                  <c:v>15231.81171875</c:v>
                </c:pt>
                <c:pt idx="57">
                  <c:v>13625.436621093751</c:v>
                </c:pt>
                <c:pt idx="58">
                  <c:v>14833.8625</c:v>
                </c:pt>
                <c:pt idx="59">
                  <c:v>13669.727490234374</c:v>
                </c:pt>
                <c:pt idx="60">
                  <c:v>14482.544482421876</c:v>
                </c:pt>
                <c:pt idx="61">
                  <c:v>13641.519042968752</c:v>
                </c:pt>
                <c:pt idx="62">
                  <c:v>16209.882714843752</c:v>
                </c:pt>
                <c:pt idx="63">
                  <c:v>15588.91630859375</c:v>
                </c:pt>
                <c:pt idx="64">
                  <c:v>13336.824609375</c:v>
                </c:pt>
                <c:pt idx="65">
                  <c:v>15755.120800781251</c:v>
                </c:pt>
                <c:pt idx="66">
                  <c:v>16199.527978515625</c:v>
                </c:pt>
                <c:pt idx="67">
                  <c:v>15814.438574218755</c:v>
                </c:pt>
                <c:pt idx="68">
                  <c:v>14639.37490234375</c:v>
                </c:pt>
                <c:pt idx="69">
                  <c:v>11658.57548828125</c:v>
                </c:pt>
                <c:pt idx="70">
                  <c:v>16799.118994140626</c:v>
                </c:pt>
                <c:pt idx="71">
                  <c:v>13843.239013671875</c:v>
                </c:pt>
                <c:pt idx="72">
                  <c:v>14125.865625</c:v>
                </c:pt>
                <c:pt idx="73">
                  <c:v>14784.08330078125</c:v>
                </c:pt>
                <c:pt idx="74">
                  <c:v>13846.546386718748</c:v>
                </c:pt>
                <c:pt idx="75">
                  <c:v>12747.219189453126</c:v>
                </c:pt>
                <c:pt idx="76">
                  <c:v>15006.667822265625</c:v>
                </c:pt>
                <c:pt idx="77">
                  <c:v>13299.902685546876</c:v>
                </c:pt>
                <c:pt idx="78">
                  <c:v>14598.559082031252</c:v>
                </c:pt>
                <c:pt idx="79">
                  <c:v>14637.547851562502</c:v>
                </c:pt>
              </c:numCache>
            </c:numRef>
          </c:yVal>
          <c:smooth val="0"/>
        </c:ser>
        <c:ser>
          <c:idx val="3"/>
          <c:order val="3"/>
          <c:tx>
            <c:strRef>
              <c:f>Sheet1!$B$247</c:f>
              <c:strCache>
                <c:ptCount val="1"/>
                <c:pt idx="0">
                  <c:v>셋째 단계 학습 중</c:v>
                </c:pt>
              </c:strCache>
            </c:strRef>
          </c:tx>
          <c:spPr>
            <a:ln w="19050">
              <a:solidFill>
                <a:srgbClr val="8E44AD"/>
              </a:solidFill>
            </a:ln>
          </c:spPr>
          <c:marker>
            <c:symbol val="none"/>
          </c:marker>
          <c:xVal>
            <c:numRef>
              <c:f>Sheet1!$A$248:$A$327</c:f>
              <c:numCache>
                <c:formatCode>General</c:formatCode>
                <c:ptCount val="80"/>
                <c:pt idx="0">
                  <c:v>80.084992</c:v>
                </c:pt>
                <c:pt idx="1">
                  <c:v>80.5888</c:v>
                </c:pt>
                <c:pt idx="2">
                  <c:v>81.092608</c:v>
                </c:pt>
                <c:pt idx="3">
                  <c:v>81.600512</c:v>
                </c:pt>
                <c:pt idx="4">
                  <c:v>82.10432</c:v>
                </c:pt>
                <c:pt idx="5">
                  <c:v>82.608128</c:v>
                </c:pt>
                <c:pt idx="6">
                  <c:v>83.116032</c:v>
                </c:pt>
                <c:pt idx="7">
                  <c:v>83.61984</c:v>
                </c:pt>
                <c:pt idx="8">
                  <c:v>84.123648</c:v>
                </c:pt>
                <c:pt idx="9">
                  <c:v>84.631552</c:v>
                </c:pt>
                <c:pt idx="10">
                  <c:v>85.13536</c:v>
                </c:pt>
                <c:pt idx="11">
                  <c:v>85.643264</c:v>
                </c:pt>
                <c:pt idx="12">
                  <c:v>86.147072</c:v>
                </c:pt>
                <c:pt idx="13">
                  <c:v>86.65088</c:v>
                </c:pt>
                <c:pt idx="14">
                  <c:v>87.158784</c:v>
                </c:pt>
                <c:pt idx="15">
                  <c:v>87.662592</c:v>
                </c:pt>
                <c:pt idx="16">
                  <c:v>88.1664</c:v>
                </c:pt>
                <c:pt idx="17">
                  <c:v>88.674304</c:v>
                </c:pt>
                <c:pt idx="18">
                  <c:v>89.178112</c:v>
                </c:pt>
                <c:pt idx="19">
                  <c:v>89.68192</c:v>
                </c:pt>
                <c:pt idx="20">
                  <c:v>90.189824</c:v>
                </c:pt>
                <c:pt idx="21">
                  <c:v>90.693632</c:v>
                </c:pt>
                <c:pt idx="22">
                  <c:v>91.201536</c:v>
                </c:pt>
                <c:pt idx="23">
                  <c:v>91.705344</c:v>
                </c:pt>
                <c:pt idx="24">
                  <c:v>92.209152</c:v>
                </c:pt>
                <c:pt idx="25">
                  <c:v>92.717056</c:v>
                </c:pt>
                <c:pt idx="26">
                  <c:v>93.220864</c:v>
                </c:pt>
                <c:pt idx="27">
                  <c:v>93.724672</c:v>
                </c:pt>
                <c:pt idx="28">
                  <c:v>94.232576</c:v>
                </c:pt>
                <c:pt idx="29">
                  <c:v>94.736384</c:v>
                </c:pt>
                <c:pt idx="30">
                  <c:v>95.244288</c:v>
                </c:pt>
                <c:pt idx="31">
                  <c:v>95.748096</c:v>
                </c:pt>
                <c:pt idx="32">
                  <c:v>96.251904</c:v>
                </c:pt>
                <c:pt idx="33">
                  <c:v>96.759808</c:v>
                </c:pt>
                <c:pt idx="34">
                  <c:v>97.263616</c:v>
                </c:pt>
                <c:pt idx="35">
                  <c:v>97.767424</c:v>
                </c:pt>
                <c:pt idx="36">
                  <c:v>98.275328</c:v>
                </c:pt>
                <c:pt idx="37">
                  <c:v>98.779136</c:v>
                </c:pt>
                <c:pt idx="38">
                  <c:v>99.282944</c:v>
                </c:pt>
                <c:pt idx="39">
                  <c:v>99.790848</c:v>
                </c:pt>
                <c:pt idx="40">
                  <c:v>100.294656</c:v>
                </c:pt>
                <c:pt idx="41">
                  <c:v>100.80256</c:v>
                </c:pt>
                <c:pt idx="42">
                  <c:v>101.306368</c:v>
                </c:pt>
                <c:pt idx="43">
                  <c:v>101.810176</c:v>
                </c:pt>
                <c:pt idx="44">
                  <c:v>102.31808</c:v>
                </c:pt>
                <c:pt idx="45">
                  <c:v>102.821888</c:v>
                </c:pt>
                <c:pt idx="46">
                  <c:v>103.325696</c:v>
                </c:pt>
                <c:pt idx="47">
                  <c:v>103.8336</c:v>
                </c:pt>
                <c:pt idx="48">
                  <c:v>104.337408</c:v>
                </c:pt>
                <c:pt idx="49">
                  <c:v>104.841216</c:v>
                </c:pt>
                <c:pt idx="50">
                  <c:v>105.34912</c:v>
                </c:pt>
                <c:pt idx="51">
                  <c:v>105.852928</c:v>
                </c:pt>
                <c:pt idx="52">
                  <c:v>106.360832</c:v>
                </c:pt>
                <c:pt idx="53">
                  <c:v>106.86464</c:v>
                </c:pt>
                <c:pt idx="54">
                  <c:v>107.368448</c:v>
                </c:pt>
                <c:pt idx="55">
                  <c:v>107.876352</c:v>
                </c:pt>
                <c:pt idx="56">
                  <c:v>108.38016</c:v>
                </c:pt>
                <c:pt idx="57">
                  <c:v>108.883968</c:v>
                </c:pt>
                <c:pt idx="58">
                  <c:v>109.391872</c:v>
                </c:pt>
                <c:pt idx="59">
                  <c:v>109.89568</c:v>
                </c:pt>
                <c:pt idx="60">
                  <c:v>110.403584</c:v>
                </c:pt>
                <c:pt idx="61">
                  <c:v>110.907392</c:v>
                </c:pt>
                <c:pt idx="62">
                  <c:v>111.4112</c:v>
                </c:pt>
                <c:pt idx="63">
                  <c:v>111.919104</c:v>
                </c:pt>
                <c:pt idx="64">
                  <c:v>112.422912</c:v>
                </c:pt>
                <c:pt idx="65">
                  <c:v>112.92672</c:v>
                </c:pt>
                <c:pt idx="66">
                  <c:v>113.434624</c:v>
                </c:pt>
                <c:pt idx="67">
                  <c:v>113.938432</c:v>
                </c:pt>
                <c:pt idx="68">
                  <c:v>114.44224</c:v>
                </c:pt>
                <c:pt idx="69">
                  <c:v>114.950144</c:v>
                </c:pt>
                <c:pt idx="70">
                  <c:v>115.453952</c:v>
                </c:pt>
                <c:pt idx="71">
                  <c:v>115.961856</c:v>
                </c:pt>
                <c:pt idx="72">
                  <c:v>116.465664</c:v>
                </c:pt>
                <c:pt idx="73">
                  <c:v>116.969472</c:v>
                </c:pt>
                <c:pt idx="74">
                  <c:v>117.477376</c:v>
                </c:pt>
                <c:pt idx="75">
                  <c:v>117.981184</c:v>
                </c:pt>
                <c:pt idx="76">
                  <c:v>118.484992</c:v>
                </c:pt>
                <c:pt idx="77">
                  <c:v>118.992896</c:v>
                </c:pt>
                <c:pt idx="78">
                  <c:v>119.496704</c:v>
                </c:pt>
                <c:pt idx="79">
                  <c:v>120.004608</c:v>
                </c:pt>
              </c:numCache>
            </c:numRef>
          </c:xVal>
          <c:yVal>
            <c:numRef>
              <c:f>Sheet1!$B$248:$B$327</c:f>
              <c:numCache>
                <c:formatCode>General</c:formatCode>
                <c:ptCount val="80"/>
                <c:pt idx="0">
                  <c:v>16514.376562499998</c:v>
                </c:pt>
                <c:pt idx="1">
                  <c:v>15830.785693359376</c:v>
                </c:pt>
                <c:pt idx="2">
                  <c:v>14427.689013671876</c:v>
                </c:pt>
                <c:pt idx="3">
                  <c:v>14320.709912109378</c:v>
                </c:pt>
                <c:pt idx="4">
                  <c:v>15612.146289062499</c:v>
                </c:pt>
                <c:pt idx="5">
                  <c:v>15692.189111328127</c:v>
                </c:pt>
                <c:pt idx="6">
                  <c:v>16595.174511718753</c:v>
                </c:pt>
                <c:pt idx="7">
                  <c:v>17898.686083984376</c:v>
                </c:pt>
                <c:pt idx="8">
                  <c:v>14425.7044921875</c:v>
                </c:pt>
                <c:pt idx="9">
                  <c:v>15439.491406250003</c:v>
                </c:pt>
                <c:pt idx="10">
                  <c:v>14426.070654296876</c:v>
                </c:pt>
                <c:pt idx="11">
                  <c:v>14848.503271484375</c:v>
                </c:pt>
                <c:pt idx="12">
                  <c:v>15391.35927734375</c:v>
                </c:pt>
                <c:pt idx="13">
                  <c:v>15388.135449218753</c:v>
                </c:pt>
                <c:pt idx="14">
                  <c:v>12561.96875</c:v>
                </c:pt>
                <c:pt idx="15">
                  <c:v>14658.642578125</c:v>
                </c:pt>
                <c:pt idx="16">
                  <c:v>16310.598925781249</c:v>
                </c:pt>
                <c:pt idx="17">
                  <c:v>13782.632666015626</c:v>
                </c:pt>
                <c:pt idx="18">
                  <c:v>13573.008935546875</c:v>
                </c:pt>
                <c:pt idx="19">
                  <c:v>15664.213525390627</c:v>
                </c:pt>
                <c:pt idx="20">
                  <c:v>15988.622900390626</c:v>
                </c:pt>
                <c:pt idx="21">
                  <c:v>14699.454687500001</c:v>
                </c:pt>
                <c:pt idx="22">
                  <c:v>13409.011083984378</c:v>
                </c:pt>
                <c:pt idx="23">
                  <c:v>14633.939892578126</c:v>
                </c:pt>
                <c:pt idx="24">
                  <c:v>13356.280615234375</c:v>
                </c:pt>
                <c:pt idx="25">
                  <c:v>15086.013574218749</c:v>
                </c:pt>
                <c:pt idx="26">
                  <c:v>13947.995312500001</c:v>
                </c:pt>
                <c:pt idx="27">
                  <c:v>17008.151123046875</c:v>
                </c:pt>
                <c:pt idx="28">
                  <c:v>15006.018798828125</c:v>
                </c:pt>
                <c:pt idx="29">
                  <c:v>14528.003125000001</c:v>
                </c:pt>
                <c:pt idx="30">
                  <c:v>11876.728613281251</c:v>
                </c:pt>
                <c:pt idx="31">
                  <c:v>13947.69482421875</c:v>
                </c:pt>
                <c:pt idx="32">
                  <c:v>15127.480859375002</c:v>
                </c:pt>
                <c:pt idx="33">
                  <c:v>15700.295507812501</c:v>
                </c:pt>
                <c:pt idx="34">
                  <c:v>14698.697119140626</c:v>
                </c:pt>
                <c:pt idx="35">
                  <c:v>15799.98798828125</c:v>
                </c:pt>
                <c:pt idx="36">
                  <c:v>15202.49052734375</c:v>
                </c:pt>
                <c:pt idx="37">
                  <c:v>14137.814257812503</c:v>
                </c:pt>
                <c:pt idx="38">
                  <c:v>14594.069873046876</c:v>
                </c:pt>
                <c:pt idx="39">
                  <c:v>15576.388378906251</c:v>
                </c:pt>
                <c:pt idx="40">
                  <c:v>12365.24033203125</c:v>
                </c:pt>
                <c:pt idx="41">
                  <c:v>13524.366992187499</c:v>
                </c:pt>
                <c:pt idx="42">
                  <c:v>13952.855810546875</c:v>
                </c:pt>
                <c:pt idx="43">
                  <c:v>15040.8810546875</c:v>
                </c:pt>
                <c:pt idx="44">
                  <c:v>13729.805615234374</c:v>
                </c:pt>
                <c:pt idx="45">
                  <c:v>14939.209423828124</c:v>
                </c:pt>
                <c:pt idx="46">
                  <c:v>13306.614990234377</c:v>
                </c:pt>
                <c:pt idx="47">
                  <c:v>15395.087988281251</c:v>
                </c:pt>
                <c:pt idx="48">
                  <c:v>14511.970068359376</c:v>
                </c:pt>
                <c:pt idx="49">
                  <c:v>13526.382763671874</c:v>
                </c:pt>
                <c:pt idx="50">
                  <c:v>16384.69638671875</c:v>
                </c:pt>
                <c:pt idx="51">
                  <c:v>15720.2630859375</c:v>
                </c:pt>
                <c:pt idx="52">
                  <c:v>14516.886914062501</c:v>
                </c:pt>
                <c:pt idx="53">
                  <c:v>17224.43994140625</c:v>
                </c:pt>
                <c:pt idx="54">
                  <c:v>12261.01201171875</c:v>
                </c:pt>
                <c:pt idx="55">
                  <c:v>15112.032177734376</c:v>
                </c:pt>
                <c:pt idx="56">
                  <c:v>16191.139746093751</c:v>
                </c:pt>
                <c:pt idx="57">
                  <c:v>13970.673632812499</c:v>
                </c:pt>
                <c:pt idx="58">
                  <c:v>15241.811181640627</c:v>
                </c:pt>
                <c:pt idx="59">
                  <c:v>13325.54482421875</c:v>
                </c:pt>
                <c:pt idx="60">
                  <c:v>13100.570751953126</c:v>
                </c:pt>
                <c:pt idx="61">
                  <c:v>14025.496875000003</c:v>
                </c:pt>
                <c:pt idx="62">
                  <c:v>15766.051513671877</c:v>
                </c:pt>
                <c:pt idx="63">
                  <c:v>14276.184033203126</c:v>
                </c:pt>
                <c:pt idx="64">
                  <c:v>16583.60180664063</c:v>
                </c:pt>
                <c:pt idx="65">
                  <c:v>16327.768603515626</c:v>
                </c:pt>
                <c:pt idx="66">
                  <c:v>15758.31357421875</c:v>
                </c:pt>
                <c:pt idx="67">
                  <c:v>13416.359082031251</c:v>
                </c:pt>
                <c:pt idx="68">
                  <c:v>15715.417236328127</c:v>
                </c:pt>
                <c:pt idx="69">
                  <c:v>13490.409570312499</c:v>
                </c:pt>
                <c:pt idx="70">
                  <c:v>15196.997167968751</c:v>
                </c:pt>
                <c:pt idx="71">
                  <c:v>15551.164453125</c:v>
                </c:pt>
                <c:pt idx="72">
                  <c:v>15554.4080078125</c:v>
                </c:pt>
                <c:pt idx="73">
                  <c:v>15511.840625000003</c:v>
                </c:pt>
                <c:pt idx="74">
                  <c:v>15318.320458984375</c:v>
                </c:pt>
                <c:pt idx="75">
                  <c:v>16274.824072265626</c:v>
                </c:pt>
                <c:pt idx="76">
                  <c:v>13607.499462890626</c:v>
                </c:pt>
                <c:pt idx="77">
                  <c:v>12915.383300781252</c:v>
                </c:pt>
                <c:pt idx="78">
                  <c:v>15343.581201171874</c:v>
                </c:pt>
                <c:pt idx="79">
                  <c:v>15083.850683593751</c:v>
                </c:pt>
              </c:numCache>
            </c:numRef>
          </c:yVal>
          <c:smooth val="0"/>
        </c:ser>
        <c:axId val="-2128940872"/>
        <c:axId val="-2129643912"/>
      </c:scatterChart>
      <c:valAx>
        <c:axId val="-2128940872"/>
        <c:scaling>
          <c:orientation val="minMax"/>
        </c:scaling>
        <c:delete val="0"/>
        <c:axPos val="b"/>
        <c:title>
          <c:tx>
            <c:rich>
              <a:bodyPr/>
              <a:lstStyle/>
              <a:p>
                <a:r>
                  <a:rPr sz="800"/>
                  <a:t>학습 스텝 (백만)</a:t>
                </a:r>
              </a:p>
            </c:rich>
          </c:tx>
          <c:layout/>
          <c:overlay val="0"/>
        </c:title>
        <c:numFmt formatCode="General" sourceLinked="1"/>
        <c:majorTickMark val="out"/>
        <c:minorTickMark val="none"/>
        <c:tickLblPos val="nextTo"/>
        <c:spPr>
          <a:ln>
            <a:solidFill>
              <a:srgbClr val="C7D3E3"/>
            </a:solidFill>
          </a:ln>
        </c:spPr>
        <c:txPr>
          <a:bodyPr/>
          <a:lstStyle/>
          <a:p>
            <a:pPr>
              <a:defRPr sz="800"/>
            </a:pPr>
          </a:p>
        </c:txPr>
        <c:crossAx val="-2129643912"/>
        <c:crosses val="autoZero"/>
        <c:crossBetween val="midCat"/>
      </c:valAx>
      <c:valAx>
        <c:axId val="-2129643912"/>
        <c:scaling>
          <c:orientation val="minMax"/>
        </c:scaling>
        <c:delete val="0"/>
        <c:axPos val="l"/>
        <c:majorGridlines>
          <c:spPr>
            <a:ln>
              <a:solidFill>
                <a:srgbClr val="E1E6EC"/>
              </a:solidFill>
            </a:ln>
          </c:spPr>
        </c:majorGridlines>
        <c:numFmt formatCode="#,##0" sourceLinked="0"/>
        <c:majorTickMark val="out"/>
        <c:minorTickMark val="none"/>
        <c:tickLblPos val="nextTo"/>
        <c:spPr>
          <a:ln>
            <a:solidFill>
              <a:srgbClr val="C7D3E3"/>
            </a:solidFill>
          </a:ln>
        </c:spPr>
        <c:txPr>
          <a:bodyPr/>
          <a:lstStyle/>
          <a:p>
            <a:pPr>
              <a:defRPr sz="800"/>
            </a:pPr>
          </a:p>
        </c:txPr>
        <c:crossAx val="-2128940872"/>
        <c:crosses val="autoZero"/>
        <c:crossBetween val="midCat"/>
      </c:valAx>
    </c:plotArea>
    <c:legend>
      <c:legendPos val="b"/>
      <c:layout/>
      <c:overlay val="0"/>
      <c:txPr>
        <a:bodyPr/>
        <a:lstStyle/>
        <a:p>
          <a:pPr>
            <a:defRPr sz="800"/>
          </a:pPr>
        </a:p>
      </c:txPr>
    </c:legend>
    <c:plotVisOnly val="1"/>
    <c:dispBlanksAs val="gap"/>
    <c:showDLblsOverMax val="0"/>
  </c:chart>
  <c:txPr>
    <a:bodyPr/>
    <a:lstStyle/>
    <a:p>
      <a:pPr>
        <a:defRPr sz="800">
          <a:latin typeface="맑은 고딕"/>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chart>
    <c:title>
      <c:tx>
        <c:rich>
          <a:bodyPr/>
          <a:lstStyle/>
          <a:p>
            <a:r>
              <a:rPr sz="950" b="1">
                <a:solidFill>
                  <a:srgbClr val="203864"/>
                </a:solidFill>
              </a:rPr>
              <a:t>정책이 한 번에 얼마나 바뀌는가 (KL, 한도 0.04)</a:t>
            </a:r>
          </a:p>
        </c:rich>
      </c:tx>
      <c:layout/>
      <c:overlay val="0"/>
    </c:title>
    <c:plotArea>
      <c:scatterChart>
        <c:scatterStyle val="lineMarker"/>
        <c:varyColors val="0"/>
        <c:ser>
          <c:idx val="0"/>
          <c:order val="0"/>
          <c:tx>
            <c:strRef>
              <c:f>Sheet1!$B$1</c:f>
              <c:strCache>
                <c:ptCount val="1"/>
                <c:pt idx="0">
                  <c:v>둘째 단계</c:v>
                </c:pt>
              </c:strCache>
            </c:strRef>
          </c:tx>
          <c:spPr>
            <a:ln w="19050">
              <a:solidFill>
                <a:srgbClr val="2E75B6"/>
              </a:solidFill>
            </a:ln>
          </c:spPr>
          <c:marker>
            <c:symbol val="none"/>
          </c:marker>
          <c:xVal>
            <c:numRef>
              <c:f>Sheet1!$A$2:$A$81</c:f>
              <c:numCache>
                <c:formatCode>General</c:formatCode>
                <c:ptCount val="80"/>
                <c:pt idx="0">
                  <c:v>40.046592</c:v>
                </c:pt>
                <c:pt idx="1">
                  <c:v>40.5504</c:v>
                </c:pt>
                <c:pt idx="2">
                  <c:v>41.054208</c:v>
                </c:pt>
                <c:pt idx="3">
                  <c:v>41.562112</c:v>
                </c:pt>
                <c:pt idx="4">
                  <c:v>42.06592</c:v>
                </c:pt>
                <c:pt idx="5">
                  <c:v>42.573824</c:v>
                </c:pt>
                <c:pt idx="6">
                  <c:v>43.077632</c:v>
                </c:pt>
                <c:pt idx="7">
                  <c:v>43.585536</c:v>
                </c:pt>
                <c:pt idx="8">
                  <c:v>44.089344</c:v>
                </c:pt>
                <c:pt idx="9">
                  <c:v>44.597248</c:v>
                </c:pt>
                <c:pt idx="10">
                  <c:v>45.101056</c:v>
                </c:pt>
                <c:pt idx="11">
                  <c:v>45.60896</c:v>
                </c:pt>
                <c:pt idx="12">
                  <c:v>46.112768</c:v>
                </c:pt>
                <c:pt idx="13">
                  <c:v>46.620672</c:v>
                </c:pt>
                <c:pt idx="14">
                  <c:v>47.12448</c:v>
                </c:pt>
                <c:pt idx="15">
                  <c:v>47.632384</c:v>
                </c:pt>
                <c:pt idx="16">
                  <c:v>48.136192</c:v>
                </c:pt>
                <c:pt idx="17">
                  <c:v>48.644096</c:v>
                </c:pt>
                <c:pt idx="18">
                  <c:v>49.147904</c:v>
                </c:pt>
                <c:pt idx="19">
                  <c:v>49.655808</c:v>
                </c:pt>
                <c:pt idx="20">
                  <c:v>50.159616</c:v>
                </c:pt>
                <c:pt idx="21">
                  <c:v>50.66752</c:v>
                </c:pt>
                <c:pt idx="22">
                  <c:v>51.171328</c:v>
                </c:pt>
                <c:pt idx="23">
                  <c:v>51.679232</c:v>
                </c:pt>
                <c:pt idx="24">
                  <c:v>52.18304</c:v>
                </c:pt>
                <c:pt idx="25">
                  <c:v>52.690944</c:v>
                </c:pt>
                <c:pt idx="26">
                  <c:v>53.194752</c:v>
                </c:pt>
                <c:pt idx="27">
                  <c:v>53.69856</c:v>
                </c:pt>
                <c:pt idx="28">
                  <c:v>54.206464</c:v>
                </c:pt>
                <c:pt idx="29">
                  <c:v>54.710272</c:v>
                </c:pt>
                <c:pt idx="30">
                  <c:v>55.218176</c:v>
                </c:pt>
                <c:pt idx="31">
                  <c:v>55.721984</c:v>
                </c:pt>
                <c:pt idx="32">
                  <c:v>56.229888</c:v>
                </c:pt>
                <c:pt idx="33">
                  <c:v>56.733696</c:v>
                </c:pt>
                <c:pt idx="34">
                  <c:v>57.2416</c:v>
                </c:pt>
                <c:pt idx="35">
                  <c:v>57.745408</c:v>
                </c:pt>
                <c:pt idx="36">
                  <c:v>58.251536</c:v>
                </c:pt>
                <c:pt idx="37">
                  <c:v>58.75712</c:v>
                </c:pt>
                <c:pt idx="38">
                  <c:v>59.265024</c:v>
                </c:pt>
                <c:pt idx="39">
                  <c:v>59.768832</c:v>
                </c:pt>
                <c:pt idx="40">
                  <c:v>60.276736</c:v>
                </c:pt>
                <c:pt idx="41">
                  <c:v>60.780544</c:v>
                </c:pt>
                <c:pt idx="42">
                  <c:v>61.288448</c:v>
                </c:pt>
                <c:pt idx="43">
                  <c:v>61.792256</c:v>
                </c:pt>
                <c:pt idx="44">
                  <c:v>62.30016</c:v>
                </c:pt>
                <c:pt idx="45">
                  <c:v>62.803968</c:v>
                </c:pt>
                <c:pt idx="46">
                  <c:v>63.311872</c:v>
                </c:pt>
                <c:pt idx="47">
                  <c:v>63.81568</c:v>
                </c:pt>
                <c:pt idx="48">
                  <c:v>64.323584</c:v>
                </c:pt>
                <c:pt idx="49">
                  <c:v>64.827392</c:v>
                </c:pt>
                <c:pt idx="50">
                  <c:v>65.335296</c:v>
                </c:pt>
                <c:pt idx="51">
                  <c:v>65.839104</c:v>
                </c:pt>
                <c:pt idx="52">
                  <c:v>66.347008</c:v>
                </c:pt>
                <c:pt idx="53">
                  <c:v>66.850816</c:v>
                </c:pt>
                <c:pt idx="54">
                  <c:v>67.354624</c:v>
                </c:pt>
                <c:pt idx="55">
                  <c:v>67.862528</c:v>
                </c:pt>
                <c:pt idx="56">
                  <c:v>68.366336</c:v>
                </c:pt>
                <c:pt idx="57">
                  <c:v>68.87424</c:v>
                </c:pt>
                <c:pt idx="58">
                  <c:v>69.378048</c:v>
                </c:pt>
                <c:pt idx="59">
                  <c:v>69.885952</c:v>
                </c:pt>
                <c:pt idx="60">
                  <c:v>70.38976</c:v>
                </c:pt>
                <c:pt idx="61">
                  <c:v>70.897664</c:v>
                </c:pt>
                <c:pt idx="62">
                  <c:v>71.401472</c:v>
                </c:pt>
                <c:pt idx="63">
                  <c:v>71.909376</c:v>
                </c:pt>
                <c:pt idx="64">
                  <c:v>72.413184</c:v>
                </c:pt>
                <c:pt idx="65">
                  <c:v>72.921088</c:v>
                </c:pt>
                <c:pt idx="66">
                  <c:v>73.424896</c:v>
                </c:pt>
                <c:pt idx="67">
                  <c:v>73.9328</c:v>
                </c:pt>
                <c:pt idx="68">
                  <c:v>74.436608</c:v>
                </c:pt>
                <c:pt idx="69">
                  <c:v>74.944512</c:v>
                </c:pt>
                <c:pt idx="70">
                  <c:v>75.44832</c:v>
                </c:pt>
                <c:pt idx="71">
                  <c:v>75.956224</c:v>
                </c:pt>
                <c:pt idx="72">
                  <c:v>76.460032</c:v>
                </c:pt>
                <c:pt idx="73">
                  <c:v>76.967936</c:v>
                </c:pt>
                <c:pt idx="74">
                  <c:v>77.471744</c:v>
                </c:pt>
                <c:pt idx="75">
                  <c:v>77.979648</c:v>
                </c:pt>
                <c:pt idx="76">
                  <c:v>78.483456</c:v>
                </c:pt>
                <c:pt idx="77">
                  <c:v>78.99136</c:v>
                </c:pt>
                <c:pt idx="78">
                  <c:v>79.495168</c:v>
                </c:pt>
                <c:pt idx="79">
                  <c:v>80.001536</c:v>
                </c:pt>
              </c:numCache>
            </c:numRef>
          </c:xVal>
          <c:yVal>
            <c:numRef>
              <c:f>Sheet1!$B$2:$B$81</c:f>
              <c:numCache>
                <c:formatCode>General</c:formatCode>
                <c:ptCount val="80"/>
                <c:pt idx="0">
                  <c:v>0.0023147298372350636</c:v>
                </c:pt>
                <c:pt idx="1">
                  <c:v>0.0030863128136843446</c:v>
                </c:pt>
                <c:pt idx="2">
                  <c:v>0.0011020482459571214</c:v>
                </c:pt>
                <c:pt idx="3">
                  <c:v>0.002607492939569056</c:v>
                </c:pt>
                <c:pt idx="4">
                  <c:v>0.0043411139165982614</c:v>
                </c:pt>
                <c:pt idx="5">
                  <c:v>0.001465871575055644</c:v>
                </c:pt>
                <c:pt idx="6">
                  <c:v>0.0022006373037584126</c:v>
                </c:pt>
                <c:pt idx="7">
                  <c:v>0.0022968814591877167</c:v>
                </c:pt>
                <c:pt idx="8">
                  <c:v>0.002567219419870526</c:v>
                </c:pt>
                <c:pt idx="9">
                  <c:v>0.0016895419103093445</c:v>
                </c:pt>
                <c:pt idx="10">
                  <c:v>0.0030586249311454596</c:v>
                </c:pt>
                <c:pt idx="11">
                  <c:v>0.002639303280739114</c:v>
                </c:pt>
                <c:pt idx="12">
                  <c:v>0.0029263365606311707</c:v>
                </c:pt>
                <c:pt idx="13">
                  <c:v>0.001229511870769784</c:v>
                </c:pt>
                <c:pt idx="14">
                  <c:v>0.0014651466684881599</c:v>
                </c:pt>
                <c:pt idx="15">
                  <c:v>0.0016606480377959088</c:v>
                </c:pt>
                <c:pt idx="16">
                  <c:v>0.0013889405119698495</c:v>
                </c:pt>
                <c:pt idx="17">
                  <c:v>0.0019939112244173884</c:v>
                </c:pt>
                <c:pt idx="18">
                  <c:v>0.002420323708793148</c:v>
                </c:pt>
                <c:pt idx="19">
                  <c:v>0.0031661982531659308</c:v>
                </c:pt>
                <c:pt idx="20">
                  <c:v>0.0018723313754890117</c:v>
                </c:pt>
                <c:pt idx="21">
                  <c:v>0.0017857913044281304</c:v>
                </c:pt>
                <c:pt idx="22">
                  <c:v>0.002827581251040101</c:v>
                </c:pt>
                <c:pt idx="23">
                  <c:v>0.002280665352009237</c:v>
                </c:pt>
                <c:pt idx="24">
                  <c:v>0.0018704656977206469</c:v>
                </c:pt>
                <c:pt idx="25">
                  <c:v>0.0022396233049221336</c:v>
                </c:pt>
                <c:pt idx="26">
                  <c:v>0.0027429489768110217</c:v>
                </c:pt>
                <c:pt idx="27">
                  <c:v>0.001601136848330498</c:v>
                </c:pt>
                <c:pt idx="28">
                  <c:v>0.004508838546462357</c:v>
                </c:pt>
                <c:pt idx="29">
                  <c:v>0.0021505536860786383</c:v>
                </c:pt>
                <c:pt idx="30">
                  <c:v>0.0036927314591594044</c:v>
                </c:pt>
                <c:pt idx="31">
                  <c:v>0.0017453339358326047</c:v>
                </c:pt>
                <c:pt idx="32">
                  <c:v>0.0015784267045091836</c:v>
                </c:pt>
                <c:pt idx="33">
                  <c:v>0.0036560789565555753</c:v>
                </c:pt>
                <c:pt idx="34">
                  <c:v>0.0015690374071709813</c:v>
                </c:pt>
                <c:pt idx="35">
                  <c:v>0.004004820011323318</c:v>
                </c:pt>
                <c:pt idx="36">
                  <c:v>0.003943793848156929</c:v>
                </c:pt>
                <c:pt idx="37">
                  <c:v>0.0011321843776386233</c:v>
                </c:pt>
                <c:pt idx="38">
                  <c:v>0.0032454768894240255</c:v>
                </c:pt>
                <c:pt idx="39">
                  <c:v>0.002863716066349298</c:v>
                </c:pt>
                <c:pt idx="40">
                  <c:v>0.0018602752767037602</c:v>
                </c:pt>
                <c:pt idx="41">
                  <c:v>0.0038664958556182683</c:v>
                </c:pt>
                <c:pt idx="42">
                  <c:v>0.0036133908899500973</c:v>
                </c:pt>
                <c:pt idx="43">
                  <c:v>0.0016719245293643327</c:v>
                </c:pt>
                <c:pt idx="44">
                  <c:v>0.0020100571331568063</c:v>
                </c:pt>
                <c:pt idx="45">
                  <c:v>0.0017072742921300232</c:v>
                </c:pt>
                <c:pt idx="46">
                  <c:v>0.00393352002138272</c:v>
                </c:pt>
                <c:pt idx="47">
                  <c:v>0.001672379212686792</c:v>
                </c:pt>
                <c:pt idx="48">
                  <c:v>0.0014656569343060256</c:v>
                </c:pt>
                <c:pt idx="49">
                  <c:v>0.0011669820698443798</c:v>
                </c:pt>
                <c:pt idx="50">
                  <c:v>0.0018720323918387297</c:v>
                </c:pt>
                <c:pt idx="51">
                  <c:v>0.0018520023324526845</c:v>
                </c:pt>
                <c:pt idx="52">
                  <c:v>0.0015643357241060583</c:v>
                </c:pt>
                <c:pt idx="53">
                  <c:v>0.0029730784124694766</c:v>
                </c:pt>
                <c:pt idx="54">
                  <c:v>0.0017906425753608346</c:v>
                </c:pt>
                <c:pt idx="55">
                  <c:v>0.001898060747771524</c:v>
                </c:pt>
                <c:pt idx="56">
                  <c:v>0.0032250195014057684</c:v>
                </c:pt>
                <c:pt idx="57">
                  <c:v>0.0027269796817563476</c:v>
                </c:pt>
                <c:pt idx="58">
                  <c:v>0.000903281121281907</c:v>
                </c:pt>
                <c:pt idx="59">
                  <c:v>0.001345826731994748</c:v>
                </c:pt>
                <c:pt idx="60">
                  <c:v>0.0021850384946446866</c:v>
                </c:pt>
                <c:pt idx="61">
                  <c:v>0.002831999666523188</c:v>
                </c:pt>
                <c:pt idx="62">
                  <c:v>0.0028723657829687007</c:v>
                </c:pt>
                <c:pt idx="63">
                  <c:v>0.0021134315000381322</c:v>
                </c:pt>
                <c:pt idx="64">
                  <c:v>0.0019437345821643251</c:v>
                </c:pt>
                <c:pt idx="65">
                  <c:v>0.004773204668890685</c:v>
                </c:pt>
                <c:pt idx="66">
                  <c:v>0.003178482560906559</c:v>
                </c:pt>
                <c:pt idx="67">
                  <c:v>0.0028410950966645033</c:v>
                </c:pt>
                <c:pt idx="68">
                  <c:v>0.002206527785165236</c:v>
                </c:pt>
                <c:pt idx="69">
                  <c:v>0.002761222643312067</c:v>
                </c:pt>
                <c:pt idx="70">
                  <c:v>0.00269305725232698</c:v>
                </c:pt>
                <c:pt idx="71">
                  <c:v>0.002543100877664983</c:v>
                </c:pt>
                <c:pt idx="72">
                  <c:v>0.0017279336316278206</c:v>
                </c:pt>
                <c:pt idx="73">
                  <c:v>0.003172227705363184</c:v>
                </c:pt>
                <c:pt idx="74">
                  <c:v>0.0036100557539612056</c:v>
                </c:pt>
                <c:pt idx="75">
                  <c:v>0.0016227541316766294</c:v>
                </c:pt>
                <c:pt idx="76">
                  <c:v>0.0028899124619783836</c:v>
                </c:pt>
                <c:pt idx="77">
                  <c:v>0.0029927524388767782</c:v>
                </c:pt>
                <c:pt idx="78">
                  <c:v>0.0020526196982245896</c:v>
                </c:pt>
                <c:pt idx="79">
                  <c:v>0.004433469130890444</c:v>
                </c:pt>
              </c:numCache>
            </c:numRef>
          </c:yVal>
          <c:smooth val="0"/>
        </c:ser>
        <c:ser>
          <c:idx val="1"/>
          <c:order val="1"/>
          <c:tx>
            <c:strRef>
              <c:f>Sheet1!$B$83</c:f>
              <c:strCache>
                <c:ptCount val="1"/>
                <c:pt idx="0">
                  <c:v>셋째 단계</c:v>
                </c:pt>
              </c:strCache>
            </c:strRef>
          </c:tx>
          <c:spPr>
            <a:ln w="19050">
              <a:solidFill>
                <a:srgbClr val="E97132"/>
              </a:solidFill>
            </a:ln>
          </c:spPr>
          <c:marker>
            <c:symbol val="none"/>
          </c:marker>
          <c:xVal>
            <c:numRef>
              <c:f>Sheet1!$A$84:$A$163</c:f>
              <c:numCache>
                <c:formatCode>General</c:formatCode>
                <c:ptCount val="80"/>
                <c:pt idx="0">
                  <c:v>80.048128</c:v>
                </c:pt>
                <c:pt idx="1">
                  <c:v>80.551936</c:v>
                </c:pt>
                <c:pt idx="2">
                  <c:v>81.055744</c:v>
                </c:pt>
                <c:pt idx="3">
                  <c:v>81.563648</c:v>
                </c:pt>
                <c:pt idx="4">
                  <c:v>82.067456</c:v>
                </c:pt>
                <c:pt idx="5">
                  <c:v>82.57536</c:v>
                </c:pt>
                <c:pt idx="6">
                  <c:v>83.079168</c:v>
                </c:pt>
                <c:pt idx="7">
                  <c:v>83.587072</c:v>
                </c:pt>
                <c:pt idx="8">
                  <c:v>84.09088</c:v>
                </c:pt>
                <c:pt idx="9">
                  <c:v>84.598784</c:v>
                </c:pt>
                <c:pt idx="10">
                  <c:v>85.102592</c:v>
                </c:pt>
                <c:pt idx="11">
                  <c:v>85.610496</c:v>
                </c:pt>
                <c:pt idx="12">
                  <c:v>86.114304</c:v>
                </c:pt>
                <c:pt idx="13">
                  <c:v>86.622208</c:v>
                </c:pt>
                <c:pt idx="14">
                  <c:v>87.126016</c:v>
                </c:pt>
                <c:pt idx="15">
                  <c:v>87.63392</c:v>
                </c:pt>
                <c:pt idx="16">
                  <c:v>88.137728</c:v>
                </c:pt>
                <c:pt idx="17">
                  <c:v>88.645632</c:v>
                </c:pt>
                <c:pt idx="18">
                  <c:v>89.14944</c:v>
                </c:pt>
                <c:pt idx="19">
                  <c:v>89.657344</c:v>
                </c:pt>
                <c:pt idx="20">
                  <c:v>90.161152</c:v>
                </c:pt>
                <c:pt idx="21">
                  <c:v>90.669056</c:v>
                </c:pt>
                <c:pt idx="22">
                  <c:v>91.172864</c:v>
                </c:pt>
                <c:pt idx="23">
                  <c:v>91.680768</c:v>
                </c:pt>
                <c:pt idx="24">
                  <c:v>92.184576</c:v>
                </c:pt>
                <c:pt idx="25">
                  <c:v>92.69248</c:v>
                </c:pt>
                <c:pt idx="26">
                  <c:v>93.196288</c:v>
                </c:pt>
                <c:pt idx="27">
                  <c:v>93.700096</c:v>
                </c:pt>
                <c:pt idx="28">
                  <c:v>94.208</c:v>
                </c:pt>
                <c:pt idx="29">
                  <c:v>94.711808</c:v>
                </c:pt>
                <c:pt idx="30">
                  <c:v>95.219712</c:v>
                </c:pt>
                <c:pt idx="31">
                  <c:v>95.72352</c:v>
                </c:pt>
                <c:pt idx="32">
                  <c:v>96.231424</c:v>
                </c:pt>
                <c:pt idx="33">
                  <c:v>96.735232</c:v>
                </c:pt>
                <c:pt idx="34">
                  <c:v>97.243136</c:v>
                </c:pt>
                <c:pt idx="35">
                  <c:v>97.746944</c:v>
                </c:pt>
                <c:pt idx="36">
                  <c:v>98.253072</c:v>
                </c:pt>
                <c:pt idx="37">
                  <c:v>98.758656</c:v>
                </c:pt>
                <c:pt idx="38">
                  <c:v>99.26656</c:v>
                </c:pt>
                <c:pt idx="39">
                  <c:v>99.770368</c:v>
                </c:pt>
                <c:pt idx="40">
                  <c:v>100.278272</c:v>
                </c:pt>
                <c:pt idx="41">
                  <c:v>100.78208</c:v>
                </c:pt>
                <c:pt idx="42">
                  <c:v>101.289984</c:v>
                </c:pt>
                <c:pt idx="43">
                  <c:v>101.793792</c:v>
                </c:pt>
                <c:pt idx="44">
                  <c:v>102.301696</c:v>
                </c:pt>
                <c:pt idx="45">
                  <c:v>102.805504</c:v>
                </c:pt>
                <c:pt idx="46">
                  <c:v>103.313408</c:v>
                </c:pt>
                <c:pt idx="47">
                  <c:v>103.817216</c:v>
                </c:pt>
                <c:pt idx="48">
                  <c:v>104.32512</c:v>
                </c:pt>
                <c:pt idx="49">
                  <c:v>104.828928</c:v>
                </c:pt>
                <c:pt idx="50">
                  <c:v>105.336832</c:v>
                </c:pt>
                <c:pt idx="51">
                  <c:v>105.84064</c:v>
                </c:pt>
                <c:pt idx="52">
                  <c:v>106.348544</c:v>
                </c:pt>
                <c:pt idx="53">
                  <c:v>106.852352</c:v>
                </c:pt>
                <c:pt idx="54">
                  <c:v>107.35616</c:v>
                </c:pt>
                <c:pt idx="55">
                  <c:v>107.864064</c:v>
                </c:pt>
                <c:pt idx="56">
                  <c:v>108.367872</c:v>
                </c:pt>
                <c:pt idx="57">
                  <c:v>108.875776</c:v>
                </c:pt>
                <c:pt idx="58">
                  <c:v>109.379584</c:v>
                </c:pt>
                <c:pt idx="59">
                  <c:v>109.887488</c:v>
                </c:pt>
                <c:pt idx="60">
                  <c:v>110.391296</c:v>
                </c:pt>
                <c:pt idx="61">
                  <c:v>110.8992</c:v>
                </c:pt>
                <c:pt idx="62">
                  <c:v>111.403008</c:v>
                </c:pt>
                <c:pt idx="63">
                  <c:v>111.910912</c:v>
                </c:pt>
                <c:pt idx="64">
                  <c:v>112.41472</c:v>
                </c:pt>
                <c:pt idx="65">
                  <c:v>112.922624</c:v>
                </c:pt>
                <c:pt idx="66">
                  <c:v>113.426432</c:v>
                </c:pt>
                <c:pt idx="67">
                  <c:v>113.934336</c:v>
                </c:pt>
                <c:pt idx="68">
                  <c:v>114.438144</c:v>
                </c:pt>
                <c:pt idx="69">
                  <c:v>114.946048</c:v>
                </c:pt>
                <c:pt idx="70">
                  <c:v>115.449856</c:v>
                </c:pt>
                <c:pt idx="71">
                  <c:v>115.95776</c:v>
                </c:pt>
                <c:pt idx="72">
                  <c:v>116.461568</c:v>
                </c:pt>
                <c:pt idx="73">
                  <c:v>116.969472</c:v>
                </c:pt>
                <c:pt idx="74">
                  <c:v>117.47328</c:v>
                </c:pt>
                <c:pt idx="75">
                  <c:v>117.981184</c:v>
                </c:pt>
                <c:pt idx="76">
                  <c:v>118.484992</c:v>
                </c:pt>
                <c:pt idx="77">
                  <c:v>118.992896</c:v>
                </c:pt>
                <c:pt idx="78">
                  <c:v>119.496704</c:v>
                </c:pt>
                <c:pt idx="79">
                  <c:v>120.003072</c:v>
                </c:pt>
              </c:numCache>
            </c:numRef>
          </c:xVal>
          <c:yVal>
            <c:numRef>
              <c:f>Sheet1!$B$84:$B$163</c:f>
              <c:numCache>
                <c:formatCode>General</c:formatCode>
                <c:ptCount val="80"/>
                <c:pt idx="0">
                  <c:v>0.007476437324658036</c:v>
                </c:pt>
                <c:pt idx="1">
                  <c:v>0.010656687826849521</c:v>
                </c:pt>
                <c:pt idx="2">
                  <c:v>0.006617961055599153</c:v>
                </c:pt>
                <c:pt idx="3">
                  <c:v>0.0091156046371907</c:v>
                </c:pt>
                <c:pt idx="4">
                  <c:v>0.006791584240272641</c:v>
                </c:pt>
                <c:pt idx="5">
                  <c:v>0.008215642836876213</c:v>
                </c:pt>
                <c:pt idx="6">
                  <c:v>0.008514669956639409</c:v>
                </c:pt>
                <c:pt idx="7">
                  <c:v>0.012595246825367213</c:v>
                </c:pt>
                <c:pt idx="8">
                  <c:v>0.008302068477496505</c:v>
                </c:pt>
                <c:pt idx="9">
                  <c:v>0.006780068250373007</c:v>
                </c:pt>
                <c:pt idx="10">
                  <c:v>0.008695910684764385</c:v>
                </c:pt>
                <c:pt idx="11">
                  <c:v>0.008038193942047656</c:v>
                </c:pt>
                <c:pt idx="12">
                  <c:v>0.009067247575148941</c:v>
                </c:pt>
                <c:pt idx="13">
                  <c:v>0.010978508554399014</c:v>
                </c:pt>
                <c:pt idx="14">
                  <c:v>0.00792753326240927</c:v>
                </c:pt>
                <c:pt idx="15">
                  <c:v>0.007135047088377178</c:v>
                </c:pt>
                <c:pt idx="16">
                  <c:v>0.00950496904551983</c:v>
                </c:pt>
                <c:pt idx="17">
                  <c:v>0.005065478687174618</c:v>
                </c:pt>
                <c:pt idx="18">
                  <c:v>0.0074261844158172614</c:v>
                </c:pt>
                <c:pt idx="19">
                  <c:v>0.008122476330026985</c:v>
                </c:pt>
                <c:pt idx="20">
                  <c:v>0.012159040290862322</c:v>
                </c:pt>
                <c:pt idx="21">
                  <c:v>0.011668447451665998</c:v>
                </c:pt>
                <c:pt idx="22">
                  <c:v>0.00632770168595016</c:v>
                </c:pt>
                <c:pt idx="23">
                  <c:v>0.01025279830209911</c:v>
                </c:pt>
                <c:pt idx="24">
                  <c:v>0.0059492778964340695</c:v>
                </c:pt>
                <c:pt idx="25">
                  <c:v>0.006166444998234511</c:v>
                </c:pt>
                <c:pt idx="26">
                  <c:v>0.009361416613683105</c:v>
                </c:pt>
                <c:pt idx="27">
                  <c:v>0.012374273734167218</c:v>
                </c:pt>
                <c:pt idx="28">
                  <c:v>0.007077759108506144</c:v>
                </c:pt>
                <c:pt idx="29">
                  <c:v>0.007604654645547271</c:v>
                </c:pt>
                <c:pt idx="30">
                  <c:v>0.006637161178514362</c:v>
                </c:pt>
                <c:pt idx="31">
                  <c:v>0.00622990457341075</c:v>
                </c:pt>
                <c:pt idx="32">
                  <c:v>0.010639161290600897</c:v>
                </c:pt>
                <c:pt idx="33">
                  <c:v>0.008574441820383074</c:v>
                </c:pt>
                <c:pt idx="34">
                  <c:v>0.0094013050198555</c:v>
                </c:pt>
                <c:pt idx="35">
                  <c:v>0.007166201772633941</c:v>
                </c:pt>
                <c:pt idx="36">
                  <c:v>0.007757505751214922</c:v>
                </c:pt>
                <c:pt idx="37">
                  <c:v>0.007094465824775398</c:v>
                </c:pt>
                <c:pt idx="38">
                  <c:v>0.004849862097762525</c:v>
                </c:pt>
                <c:pt idx="39">
                  <c:v>0.01195486639626324</c:v>
                </c:pt>
                <c:pt idx="40">
                  <c:v>0.006617830577306449</c:v>
                </c:pt>
                <c:pt idx="41">
                  <c:v>0.005363187892362475</c:v>
                </c:pt>
                <c:pt idx="42">
                  <c:v>0.0076642827829346075</c:v>
                </c:pt>
                <c:pt idx="43">
                  <c:v>0.008081075991503895</c:v>
                </c:pt>
                <c:pt idx="44">
                  <c:v>0.009956363588571548</c:v>
                </c:pt>
                <c:pt idx="45">
                  <c:v>0.0067036968888714915</c:v>
                </c:pt>
                <c:pt idx="46">
                  <c:v>0.006615365808829666</c:v>
                </c:pt>
                <c:pt idx="47">
                  <c:v>0.009322978742420674</c:v>
                </c:pt>
                <c:pt idx="48">
                  <c:v>0.010046853520907463</c:v>
                </c:pt>
                <c:pt idx="49">
                  <c:v>0.00970456653740257</c:v>
                </c:pt>
                <c:pt idx="50">
                  <c:v>0.012518038041889668</c:v>
                </c:pt>
                <c:pt idx="51">
                  <c:v>0.009788702195510271</c:v>
                </c:pt>
                <c:pt idx="52">
                  <c:v>0.00772235062904656</c:v>
                </c:pt>
                <c:pt idx="53">
                  <c:v>0.011860201344825327</c:v>
                </c:pt>
                <c:pt idx="54">
                  <c:v>0.010547460825182497</c:v>
                </c:pt>
                <c:pt idx="55">
                  <c:v>0.01064468026161194</c:v>
                </c:pt>
                <c:pt idx="56">
                  <c:v>0.007044842233881355</c:v>
                </c:pt>
                <c:pt idx="57">
                  <c:v>0.007869638223201037</c:v>
                </c:pt>
                <c:pt idx="58">
                  <c:v>0.011658716667443513</c:v>
                </c:pt>
                <c:pt idx="59">
                  <c:v>0.00997797902673483</c:v>
                </c:pt>
                <c:pt idx="60">
                  <c:v>0.008919654833152891</c:v>
                </c:pt>
                <c:pt idx="61">
                  <c:v>0.010448577720671894</c:v>
                </c:pt>
                <c:pt idx="62">
                  <c:v>0.009666572394780816</c:v>
                </c:pt>
                <c:pt idx="63">
                  <c:v>0.011978049203753472</c:v>
                </c:pt>
                <c:pt idx="64">
                  <c:v>0.013279822561889889</c:v>
                </c:pt>
                <c:pt idx="65">
                  <c:v>0.014145454159006478</c:v>
                </c:pt>
                <c:pt idx="66">
                  <c:v>0.016463710507377983</c:v>
                </c:pt>
                <c:pt idx="67">
                  <c:v>0.011937523353844882</c:v>
                </c:pt>
                <c:pt idx="68">
                  <c:v>0.01141598185058683</c:v>
                </c:pt>
                <c:pt idx="69">
                  <c:v>0.006786734331399204</c:v>
                </c:pt>
                <c:pt idx="70">
                  <c:v>0.012065243721008303</c:v>
                </c:pt>
                <c:pt idx="71">
                  <c:v>0.014149269554764034</c:v>
                </c:pt>
                <c:pt idx="72">
                  <c:v>0.008877936471253635</c:v>
                </c:pt>
                <c:pt idx="73">
                  <c:v>0.009928180556744338</c:v>
                </c:pt>
                <c:pt idx="74">
                  <c:v>0.010741154267452658</c:v>
                </c:pt>
                <c:pt idx="75">
                  <c:v>0.010048597864806651</c:v>
                </c:pt>
                <c:pt idx="76">
                  <c:v>0.009414241509512066</c:v>
                </c:pt>
                <c:pt idx="77">
                  <c:v>0.008565865666605534</c:v>
                </c:pt>
                <c:pt idx="78">
                  <c:v>0.011389255477115511</c:v>
                </c:pt>
                <c:pt idx="79">
                  <c:v>0.013418200565502048</c:v>
                </c:pt>
              </c:numCache>
            </c:numRef>
          </c:yVal>
          <c:smooth val="0"/>
        </c:ser>
        <c:axId val="-2128940872"/>
        <c:axId val="-2129643912"/>
      </c:scatterChart>
      <c:valAx>
        <c:axId val="-2128940872"/>
        <c:scaling>
          <c:orientation val="minMax"/>
        </c:scaling>
        <c:delete val="0"/>
        <c:axPos val="b"/>
        <c:title>
          <c:tx>
            <c:rich>
              <a:bodyPr/>
              <a:lstStyle/>
              <a:p>
                <a:r>
                  <a:rPr sz="800"/>
                  <a:t>학습 스텝 (백만)</a:t>
                </a:r>
              </a:p>
            </c:rich>
          </c:tx>
          <c:layout/>
          <c:overlay val="0"/>
        </c:title>
        <c:numFmt formatCode="General" sourceLinked="1"/>
        <c:majorTickMark val="out"/>
        <c:minorTickMark val="none"/>
        <c:tickLblPos val="nextTo"/>
        <c:spPr>
          <a:ln>
            <a:solidFill>
              <a:srgbClr val="C7D3E3"/>
            </a:solidFill>
          </a:ln>
        </c:spPr>
        <c:txPr>
          <a:bodyPr/>
          <a:lstStyle/>
          <a:p>
            <a:pPr>
              <a:defRPr sz="800"/>
            </a:pPr>
          </a:p>
        </c:txPr>
        <c:crossAx val="-2129643912"/>
        <c:crosses val="autoZero"/>
        <c:crossBetween val="midCat"/>
      </c:valAx>
      <c:valAx>
        <c:axId val="-2129643912"/>
        <c:scaling>
          <c:orientation val="minMax"/>
          <c:min val="0.0"/>
        </c:scaling>
        <c:delete val="0"/>
        <c:axPos val="l"/>
        <c:majorGridlines>
          <c:spPr>
            <a:ln>
              <a:solidFill>
                <a:srgbClr val="E1E6EC"/>
              </a:solidFill>
            </a:ln>
          </c:spPr>
        </c:majorGridlines>
        <c:numFmt formatCode="0.000" sourceLinked="0"/>
        <c:majorTickMark val="out"/>
        <c:minorTickMark val="none"/>
        <c:tickLblPos val="nextTo"/>
        <c:spPr>
          <a:ln>
            <a:solidFill>
              <a:srgbClr val="C7D3E3"/>
            </a:solidFill>
          </a:ln>
        </c:spPr>
        <c:txPr>
          <a:bodyPr/>
          <a:lstStyle/>
          <a:p>
            <a:pPr>
              <a:defRPr sz="800"/>
            </a:pPr>
          </a:p>
        </c:txPr>
        <c:crossAx val="-2128940872"/>
        <c:crosses val="autoZero"/>
        <c:crossBetween val="midCat"/>
      </c:valAx>
    </c:plotArea>
    <c:legend>
      <c:legendPos val="b"/>
      <c:layout/>
      <c:overlay val="0"/>
      <c:txPr>
        <a:bodyPr/>
        <a:lstStyle/>
        <a:p>
          <a:pPr>
            <a:defRPr sz="800"/>
          </a:pPr>
        </a:p>
      </c:txPr>
    </c:legend>
    <c:plotVisOnly val="1"/>
    <c:dispBlanksAs val="gap"/>
    <c:showDLblsOverMax val="0"/>
  </c:chart>
  <c:txPr>
    <a:bodyPr/>
    <a:lstStyle/>
    <a:p>
      <a:pPr>
        <a:defRPr sz="800">
          <a:latin typeface="맑은 고딕"/>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어떤 명령으로 바뀔 때 실패하는가</a:t>
            </a:r>
          </a:p>
        </c:rich>
      </c:tx>
      <c:layout/>
      <c:overlay val="0"/>
    </c:title>
    <c:autoTitleDeleted val="0"/>
    <c:plotArea>
      <c:barChart>
        <c:barDir val="col"/>
        <c:grouping val="clustered"/>
        <c:ser>
          <c:idx val="0"/>
          <c:order val="0"/>
          <c:tx>
            <c:strRef>
              <c:f>Sheet1!$B$1</c:f>
              <c:strCache>
                <c:ptCount val="1"/>
                <c:pt idx="0">
                  <c:v>둘째 단계 끝</c:v>
                </c:pt>
              </c:strCache>
            </c:strRef>
          </c:tx>
          <c:spPr>
            <a:solidFill>
              <a:srgbClr val="2E75B6"/>
            </a:solidFill>
          </c:spPr>
          <c:cat>
            <c:strRef>
              <c:f>Sheet1!$A$2:$A$11</c:f>
              <c:strCache>
                <c:ptCount val="10"/>
                <c:pt idx="0">
                  <c:v>forward</c:v>
                </c:pt>
                <c:pt idx="1">
                  <c:v>left</c:v>
                </c:pt>
                <c:pt idx="2">
                  <c:v>right</c:v>
                </c:pt>
                <c:pt idx="3">
                  <c:v>diag_fl</c:v>
                </c:pt>
                <c:pt idx="4">
                  <c:v>diag_fr</c:v>
                </c:pt>
                <c:pt idx="5">
                  <c:v>backward</c:v>
                </c:pt>
                <c:pt idx="6">
                  <c:v>diag_bl</c:v>
                </c:pt>
                <c:pt idx="7">
                  <c:v>diag_br</c:v>
                </c:pt>
                <c:pt idx="8">
                  <c:v>ccw</c:v>
                </c:pt>
                <c:pt idx="9">
                  <c:v>cw</c:v>
                </c:pt>
              </c:strCache>
            </c:strRef>
          </c:cat>
          <c:val>
            <c:numRef>
              <c:f>Sheet1!$B$2:$B$11</c:f>
              <c:numCache>
                <c:formatCode>General</c:formatCode>
                <c:ptCount val="10"/>
                <c:pt idx="0">
                  <c:v>0.075</c:v>
                </c:pt>
                <c:pt idx="1">
                  <c:v>0.0</c:v>
                </c:pt>
                <c:pt idx="2">
                  <c:v>0.025</c:v>
                </c:pt>
                <c:pt idx="3">
                  <c:v>0.15</c:v>
                </c:pt>
                <c:pt idx="4">
                  <c:v>0.329</c:v>
                </c:pt>
                <c:pt idx="5">
                  <c:v>0.142</c:v>
                </c:pt>
                <c:pt idx="6">
                  <c:v>0.35</c:v>
                </c:pt>
                <c:pt idx="7">
                  <c:v>0.092</c:v>
                </c:pt>
                <c:pt idx="8">
                  <c:v>0.0</c:v>
                </c:pt>
                <c:pt idx="9">
                  <c:v>0.0</c:v>
                </c:pt>
              </c:numCache>
            </c:numRef>
          </c:val>
        </c:ser>
        <c:ser>
          <c:idx val="1"/>
          <c:order val="1"/>
          <c:tx>
            <c:strRef>
              <c:f>Sheet1!$C$1</c:f>
              <c:strCache>
                <c:ptCount val="1"/>
                <c:pt idx="0">
                  <c:v>셋째 단계 끝</c:v>
                </c:pt>
              </c:strCache>
            </c:strRef>
          </c:tx>
          <c:spPr>
            <a:solidFill>
              <a:srgbClr val="E97132"/>
            </a:solidFill>
          </c:spPr>
          <c:cat>
            <c:strRef>
              <c:f>Sheet1!$A$2:$A$11</c:f>
              <c:strCache>
                <c:ptCount val="10"/>
                <c:pt idx="0">
                  <c:v>forward</c:v>
                </c:pt>
                <c:pt idx="1">
                  <c:v>left</c:v>
                </c:pt>
                <c:pt idx="2">
                  <c:v>right</c:v>
                </c:pt>
                <c:pt idx="3">
                  <c:v>diag_fl</c:v>
                </c:pt>
                <c:pt idx="4">
                  <c:v>diag_fr</c:v>
                </c:pt>
                <c:pt idx="5">
                  <c:v>backward</c:v>
                </c:pt>
                <c:pt idx="6">
                  <c:v>diag_bl</c:v>
                </c:pt>
                <c:pt idx="7">
                  <c:v>diag_br</c:v>
                </c:pt>
                <c:pt idx="8">
                  <c:v>ccw</c:v>
                </c:pt>
                <c:pt idx="9">
                  <c:v>cw</c:v>
                </c:pt>
              </c:strCache>
            </c:strRef>
          </c:cat>
          <c:val>
            <c:numRef>
              <c:f>Sheet1!$C$2:$C$11</c:f>
              <c:numCache>
                <c:formatCode>General</c:formatCode>
                <c:ptCount val="10"/>
                <c:pt idx="0">
                  <c:v>0.075</c:v>
                </c:pt>
                <c:pt idx="1">
                  <c:v>0.05</c:v>
                </c:pt>
                <c:pt idx="2">
                  <c:v>0.0</c:v>
                </c:pt>
                <c:pt idx="3">
                  <c:v>0.1</c:v>
                </c:pt>
                <c:pt idx="4">
                  <c:v>0.258</c:v>
                </c:pt>
                <c:pt idx="5">
                  <c:v>0.125</c:v>
                </c:pt>
                <c:pt idx="6">
                  <c:v>0.117</c:v>
                </c:pt>
                <c:pt idx="7">
                  <c:v>0.1</c:v>
                </c:pt>
                <c:pt idx="8">
                  <c:v>0.125</c:v>
                </c:pt>
                <c:pt idx="9">
                  <c:v>0.0</c:v>
                </c:pt>
              </c:numCache>
            </c:numRef>
          </c:val>
        </c:ser>
        <c:dLbls>
          <c:numFmt formatCode="0.00" sourceLinked="0"/>
          <c:txPr>
            <a:bodyPr/>
            <a:lstStyle/>
            <a:p>
              <a:pPr>
                <a:defRPr sz="65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max val="0.5"/>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평균 오차 (미터)</a:t>
            </a:r>
          </a:p>
        </c:rich>
      </c:tx>
      <c:layout/>
      <c:overlay val="0"/>
    </c:title>
    <c:autoTitleDeleted val="0"/>
    <c:plotArea>
      <c:barChart>
        <c:barDir val="col"/>
        <c:grouping val="clustered"/>
        <c:ser>
          <c:idx val="0"/>
          <c:order val="0"/>
          <c:tx>
            <c:strRef>
              <c:f>Sheet1!$B$1</c:f>
              <c:strCache>
                <c:ptCount val="1"/>
                <c:pt idx="0">
                  <c:v>전문가 바꿔 끼우기</c:v>
                </c:pt>
              </c:strCache>
            </c:strRef>
          </c:tx>
          <c:spPr>
            <a:solidFill>
              <a:srgbClr val="203864"/>
            </a:solidFill>
          </c:spPr>
          <c:cat>
            <c:strRef>
              <c:f>Sheet1!$A$2:$A$4</c:f>
              <c:strCache>
                <c:ptCount val="3"/>
                <c:pt idx="0">
                  <c:v>네모</c:v>
                </c:pt>
                <c:pt idx="1">
                  <c:v>별</c:v>
                </c:pt>
                <c:pt idx="2">
                  <c:v>gauntlet</c:v>
                </c:pt>
              </c:strCache>
            </c:strRef>
          </c:cat>
          <c:val>
            <c:numRef>
              <c:f>Sheet1!$B$2:$B$4</c:f>
              <c:numCache>
                <c:formatCode>General</c:formatCode>
                <c:ptCount val="3"/>
                <c:pt idx="0">
                  <c:v>0.193</c:v>
                </c:pt>
                <c:pt idx="1">
                  <c:v>0.334</c:v>
                </c:pt>
                <c:pt idx="2">
                  <c:v>0.345</c:v>
                </c:pt>
              </c:numCache>
            </c:numRef>
          </c:val>
        </c:ser>
        <c:ser>
          <c:idx val="1"/>
          <c:order val="1"/>
          <c:tx>
            <c:strRef>
              <c:f>Sheet1!$C$1</c:f>
              <c:strCache>
                <c:ptCount val="1"/>
                <c:pt idx="0">
                  <c:v>합친 정책</c:v>
                </c:pt>
              </c:strCache>
            </c:strRef>
          </c:tx>
          <c:spPr>
            <a:solidFill>
              <a:srgbClr val="2E75B6"/>
            </a:solidFill>
          </c:spPr>
          <c:cat>
            <c:strRef>
              <c:f>Sheet1!$A$2:$A$4</c:f>
              <c:strCache>
                <c:ptCount val="3"/>
                <c:pt idx="0">
                  <c:v>네모</c:v>
                </c:pt>
                <c:pt idx="1">
                  <c:v>별</c:v>
                </c:pt>
                <c:pt idx="2">
                  <c:v>gauntlet</c:v>
                </c:pt>
              </c:strCache>
            </c:strRef>
          </c:cat>
          <c:val>
            <c:numRef>
              <c:f>Sheet1!$C$2:$C$4</c:f>
              <c:numCache>
                <c:formatCode>General</c:formatCode>
                <c:ptCount val="3"/>
                <c:pt idx="0">
                  <c:v>0.18</c:v>
                </c:pt>
                <c:pt idx="1">
                  <c:v>0.343</c:v>
                </c:pt>
                <c:pt idx="2">
                  <c:v>0.253</c:v>
                </c:pt>
              </c:numCache>
            </c:numRef>
          </c:val>
        </c:ser>
        <c:dLbls>
          <c:numFmt formatCode="0.000" sourceLinked="0"/>
          <c:txPr>
            <a:bodyPr/>
            <a:lstStyle/>
            <a:p>
              <a:pPr>
                <a:defRPr sz="70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203864"/>
                </a:solidFill>
              </a:rPr>
              <a:t>완주 시간 (초)</a:t>
            </a:r>
          </a:p>
        </c:rich>
      </c:tx>
      <c:layout/>
      <c:overlay val="0"/>
    </c:title>
    <c:autoTitleDeleted val="0"/>
    <c:plotArea>
      <c:barChart>
        <c:barDir val="col"/>
        <c:grouping val="clustered"/>
        <c:ser>
          <c:idx val="0"/>
          <c:order val="0"/>
          <c:tx>
            <c:strRef>
              <c:f>Sheet1!$B$1</c:f>
              <c:strCache>
                <c:ptCount val="1"/>
                <c:pt idx="0">
                  <c:v>전문가 바꿔 끼우기</c:v>
                </c:pt>
              </c:strCache>
            </c:strRef>
          </c:tx>
          <c:spPr>
            <a:solidFill>
              <a:srgbClr val="203864"/>
            </a:solidFill>
          </c:spPr>
          <c:cat>
            <c:strRef>
              <c:f>Sheet1!$A$2:$A$4</c:f>
              <c:strCache>
                <c:ptCount val="3"/>
                <c:pt idx="0">
                  <c:v>네모</c:v>
                </c:pt>
                <c:pt idx="1">
                  <c:v>별</c:v>
                </c:pt>
                <c:pt idx="2">
                  <c:v>gauntlet</c:v>
                </c:pt>
              </c:strCache>
            </c:strRef>
          </c:cat>
          <c:val>
            <c:numRef>
              <c:f>Sheet1!$B$2:$B$4</c:f>
              <c:numCache>
                <c:formatCode>General</c:formatCode>
                <c:ptCount val="3"/>
                <c:pt idx="0">
                  <c:v>20.0</c:v>
                </c:pt>
                <c:pt idx="1">
                  <c:v>42.5</c:v>
                </c:pt>
                <c:pt idx="2">
                  <c:v>128.8</c:v>
                </c:pt>
              </c:numCache>
            </c:numRef>
          </c:val>
        </c:ser>
        <c:ser>
          <c:idx val="1"/>
          <c:order val="1"/>
          <c:tx>
            <c:strRef>
              <c:f>Sheet1!$C$1</c:f>
              <c:strCache>
                <c:ptCount val="1"/>
                <c:pt idx="0">
                  <c:v>합친 정책</c:v>
                </c:pt>
              </c:strCache>
            </c:strRef>
          </c:tx>
          <c:spPr>
            <a:solidFill>
              <a:srgbClr val="2E75B6"/>
            </a:solidFill>
          </c:spPr>
          <c:cat>
            <c:strRef>
              <c:f>Sheet1!$A$2:$A$4</c:f>
              <c:strCache>
                <c:ptCount val="3"/>
                <c:pt idx="0">
                  <c:v>네모</c:v>
                </c:pt>
                <c:pt idx="1">
                  <c:v>별</c:v>
                </c:pt>
                <c:pt idx="2">
                  <c:v>gauntlet</c:v>
                </c:pt>
              </c:strCache>
            </c:strRef>
          </c:cat>
          <c:val>
            <c:numRef>
              <c:f>Sheet1!$C$2:$C$4</c:f>
              <c:numCache>
                <c:formatCode>General</c:formatCode>
                <c:ptCount val="3"/>
                <c:pt idx="0">
                  <c:v>37.5</c:v>
                </c:pt>
                <c:pt idx="1">
                  <c:v>58.8</c:v>
                </c:pt>
                <c:pt idx="2">
                  <c:v>58.8</c:v>
                </c:pt>
              </c:numCache>
            </c:numRef>
          </c:val>
        </c:ser>
        <c:dLbls>
          <c:numFmt formatCode="0.0" sourceLinked="0"/>
          <c:txPr>
            <a:bodyPr/>
            <a:lstStyle/>
            <a:p>
              <a:pPr>
                <a:defRPr sz="700">
                  <a:solidFill>
                    <a:srgbClr val="262626"/>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7D3E3"/>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1E6EC"/>
              </a:solidFill>
            </a:ln>
          </c:spPr>
        </c:majorGridlines>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800"/>
          </a:pPr>
        </a:p>
      </c:txPr>
    </c:legend>
    <c:dispBlanksAs val="gap"/>
  </c:chart>
  <c:txPr>
    <a:bodyPr/>
    <a:lstStyle/>
    <a:p>
      <a:pPr>
        <a:defRPr sz="800">
          <a:latin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2282BD-832C-455F-AC78-92AF63B11E47}" type="datetimeFigureOut">
              <a:rPr lang="ko-KR" altLang="en-US" smtClean="0"/>
              <a:t>2026-09-01</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EA618D-F7C7-4EEA-AC78-C3010980D227}" type="slidenum">
              <a:rPr lang="ko-KR" altLang="en-US" smtClean="0"/>
              <a:t>‹#›</a:t>
            </a:fld>
            <a:endParaRPr lang="ko-KR" altLang="en-US"/>
          </a:p>
        </p:txBody>
      </p:sp>
    </p:spTree>
    <p:extLst>
      <p:ext uri="{BB962C8B-B14F-4D97-AF65-F5344CB8AC3E}">
        <p14:creationId xmlns:p14="http://schemas.microsoft.com/office/powerpoint/2010/main" val="368754594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122363"/>
            <a:ext cx="7772400" cy="720000"/>
          </a:xfrm>
        </p:spPr>
        <p:txBody>
          <a:bodyPr anchor="b">
            <a:noAutofit/>
          </a:bodyPr>
          <a:lstStyle>
            <a:lvl1pPr algn="l">
              <a:defRPr sz="4400" b="0" u="none">
                <a:solidFill>
                  <a:srgbClr val="002060"/>
                </a:solidFill>
                <a:latin typeface="나눔고딕 ExtraBold" panose="020D0904000000000000" pitchFamily="50" charset="-127"/>
                <a:ea typeface="나눔고딕 ExtraBold" panose="020D0904000000000000" pitchFamily="50" charset="-127"/>
              </a:defRPr>
            </a:lvl1pPr>
          </a:lstStyle>
          <a:p>
            <a:r>
              <a:rPr lang="ko-KR" altLang="en-US" dirty="0"/>
              <a:t>제목을 입력하세요</a:t>
            </a:r>
            <a:r>
              <a:rPr lang="en-US" altLang="ko-KR" dirty="0"/>
              <a:t>.</a:t>
            </a:r>
            <a:endParaRPr lang="en-US" dirty="0"/>
          </a:p>
        </p:txBody>
      </p:sp>
      <p:sp>
        <p:nvSpPr>
          <p:cNvPr id="3" name="Subtitle 2"/>
          <p:cNvSpPr>
            <a:spLocks noGrp="1"/>
          </p:cNvSpPr>
          <p:nvPr>
            <p:ph type="subTitle" idx="1" hasCustomPrompt="1"/>
          </p:nvPr>
        </p:nvSpPr>
        <p:spPr>
          <a:xfrm>
            <a:off x="1143000" y="1924067"/>
            <a:ext cx="6858000" cy="612000"/>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부제목을 입력하세요</a:t>
            </a:r>
            <a:r>
              <a:rPr lang="en-US" altLang="ko-KR" dirty="0"/>
              <a:t>.</a:t>
            </a:r>
            <a:endParaRPr lang="en-US" dirty="0"/>
          </a:p>
        </p:txBody>
      </p:sp>
      <p:sp>
        <p:nvSpPr>
          <p:cNvPr id="4" name="Date Placeholder 3"/>
          <p:cNvSpPr>
            <a:spLocks noGrp="1"/>
          </p:cNvSpPr>
          <p:nvPr>
            <p:ph type="dt" sz="half" idx="10"/>
          </p:nvPr>
        </p:nvSpPr>
        <p:spPr/>
        <p:txBody>
          <a:bodyPr/>
          <a:lstStyle/>
          <a:p>
            <a:fld id="{6F05EBE1-83F8-4968-B4F8-F5C45C3D900E}" type="datetime1">
              <a:rPr lang="ko-KR" altLang="en-US" smtClean="0"/>
              <a:t>2026-09-01</a:t>
            </a:fld>
            <a:endParaRPr lang="ko-KR" altLang="en-US"/>
          </a:p>
        </p:txBody>
      </p:sp>
      <p:sp>
        <p:nvSpPr>
          <p:cNvPr id="5" name="Footer Placeholder 4"/>
          <p:cNvSpPr>
            <a:spLocks noGrp="1"/>
          </p:cNvSpPr>
          <p:nvPr>
            <p:ph type="ftr" sz="quarter" idx="11"/>
          </p:nvPr>
        </p:nvSpPr>
        <p:spPr/>
        <p:txBody>
          <a:bodyPr/>
          <a:lstStyle/>
          <a:p>
            <a:r>
              <a:rPr lang="ko-KR" altLang="en-US"/>
              <a:t>지능로봇시스템연구실</a:t>
            </a:r>
            <a:endParaRPr lang="ko-KR" altLang="en-US" dirty="0"/>
          </a:p>
        </p:txBody>
      </p:sp>
      <p:sp>
        <p:nvSpPr>
          <p:cNvPr id="6" name="Slide Number Placeholder 5"/>
          <p:cNvSpPr>
            <a:spLocks noGrp="1"/>
          </p:cNvSpPr>
          <p:nvPr>
            <p:ph type="sldNum" sz="quarter" idx="12"/>
          </p:nvPr>
        </p:nvSpPr>
        <p:spPr/>
        <p:txBody>
          <a:bodyPr/>
          <a:lstStyle/>
          <a:p>
            <a:fld id="{D4B7CBBB-CC29-439D-B481-ED9AB375DBD8}" type="slidenum">
              <a:rPr lang="ko-KR" altLang="en-US" smtClean="0"/>
              <a:t>‹#›</a:t>
            </a:fld>
            <a:endParaRPr lang="ko-KR" altLang="en-US"/>
          </a:p>
        </p:txBody>
      </p:sp>
    </p:spTree>
    <p:extLst>
      <p:ext uri="{BB962C8B-B14F-4D97-AF65-F5344CB8AC3E}">
        <p14:creationId xmlns:p14="http://schemas.microsoft.com/office/powerpoint/2010/main" val="999962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목차">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3" name="날짜 개체 틀 2">
            <a:extLst>
              <a:ext uri="{FF2B5EF4-FFF2-40B4-BE49-F238E27FC236}">
                <a16:creationId xmlns:a16="http://schemas.microsoft.com/office/drawing/2014/main" id="{292BE8F1-DB05-8C61-C2ED-62416299923D}"/>
              </a:ext>
            </a:extLst>
          </p:cNvPr>
          <p:cNvSpPr>
            <a:spLocks noGrp="1"/>
          </p:cNvSpPr>
          <p:nvPr>
            <p:ph type="dt" sz="half" idx="10"/>
          </p:nvPr>
        </p:nvSpPr>
        <p:spPr/>
        <p:txBody>
          <a:bodyPr/>
          <a:lstStyle/>
          <a:p>
            <a:fld id="{535E0778-E23E-447A-AF77-6E451A8F4442}" type="datetime1">
              <a:rPr lang="ko-KR" altLang="en-US" smtClean="0"/>
              <a:t>2026-09-01</a:t>
            </a:fld>
            <a:endParaRPr lang="ko-KR" altLang="en-US"/>
          </a:p>
        </p:txBody>
      </p:sp>
      <p:sp>
        <p:nvSpPr>
          <p:cNvPr id="4" name="바닥글 개체 틀 3">
            <a:extLst>
              <a:ext uri="{FF2B5EF4-FFF2-40B4-BE49-F238E27FC236}">
                <a16:creationId xmlns:a16="http://schemas.microsoft.com/office/drawing/2014/main" id="{5C6EBBFC-53A7-D35F-7228-773CA2FFBE33}"/>
              </a:ext>
            </a:extLst>
          </p:cNvPr>
          <p:cNvSpPr>
            <a:spLocks noGrp="1"/>
          </p:cNvSpPr>
          <p:nvPr>
            <p:ph type="ftr" sz="quarter" idx="11"/>
          </p:nvPr>
        </p:nvSpPr>
        <p:spPr/>
        <p:txBody>
          <a:bodyPr/>
          <a:lstStyle/>
          <a:p>
            <a:r>
              <a:rPr lang="ko-KR" altLang="en-US"/>
              <a:t>지능로봇시스템연구실</a:t>
            </a:r>
          </a:p>
        </p:txBody>
      </p:sp>
      <p:sp>
        <p:nvSpPr>
          <p:cNvPr id="5" name="슬라이드 번호 개체 틀 4">
            <a:extLst>
              <a:ext uri="{FF2B5EF4-FFF2-40B4-BE49-F238E27FC236}">
                <a16:creationId xmlns:a16="http://schemas.microsoft.com/office/drawing/2014/main" id="{48438411-E4FE-1160-8E87-F294D824E2A7}"/>
              </a:ext>
            </a:extLst>
          </p:cNvPr>
          <p:cNvSpPr>
            <a:spLocks noGrp="1"/>
          </p:cNvSpPr>
          <p:nvPr>
            <p:ph type="sldNum" sz="quarter" idx="12"/>
          </p:nvPr>
        </p:nvSpPr>
        <p:spPr/>
        <p:txBody>
          <a:bodyPr/>
          <a:lstStyle/>
          <a:p>
            <a:fld id="{D4B7CBBB-CC29-439D-B481-ED9AB375DBD8}" type="slidenum">
              <a:rPr lang="ko-KR" altLang="en-US" smtClean="0"/>
              <a:t>‹#›</a:t>
            </a:fld>
            <a:endParaRPr lang="ko-KR" altLang="en-US"/>
          </a:p>
        </p:txBody>
      </p:sp>
      <p:sp>
        <p:nvSpPr>
          <p:cNvPr id="6" name="Title 1">
            <a:extLst>
              <a:ext uri="{FF2B5EF4-FFF2-40B4-BE49-F238E27FC236}">
                <a16:creationId xmlns:a16="http://schemas.microsoft.com/office/drawing/2014/main" id="{AFC2F428-42EA-F0C0-8AC4-BEBCF19DB73E}"/>
              </a:ext>
            </a:extLst>
          </p:cNvPr>
          <p:cNvSpPr>
            <a:spLocks noGrp="1"/>
          </p:cNvSpPr>
          <p:nvPr>
            <p:ph type="ctrTitle" hasCustomPrompt="1"/>
          </p:nvPr>
        </p:nvSpPr>
        <p:spPr>
          <a:xfrm>
            <a:off x="1657350" y="283377"/>
            <a:ext cx="6459128" cy="720000"/>
          </a:xfrm>
        </p:spPr>
        <p:txBody>
          <a:bodyPr anchor="b">
            <a:noAutofit/>
          </a:bodyPr>
          <a:lstStyle>
            <a:lvl1pPr algn="ctr">
              <a:defRPr sz="4400" b="0" u="none">
                <a:solidFill>
                  <a:srgbClr val="002060"/>
                </a:solidFill>
                <a:latin typeface="나눔고딕 ExtraBold" panose="020D0904000000000000" pitchFamily="50" charset="-127"/>
                <a:ea typeface="나눔고딕 ExtraBold" panose="020D0904000000000000" pitchFamily="50" charset="-127"/>
              </a:defRPr>
            </a:lvl1pPr>
          </a:lstStyle>
          <a:p>
            <a:r>
              <a:rPr lang="ko-KR" altLang="en-US" dirty="0"/>
              <a:t>제목을 입력하세요</a:t>
            </a:r>
            <a:r>
              <a:rPr lang="en-US" altLang="ko-KR" dirty="0"/>
              <a:t>.</a:t>
            </a:r>
            <a:endParaRPr lang="en-US" dirty="0"/>
          </a:p>
        </p:txBody>
      </p:sp>
      <p:sp>
        <p:nvSpPr>
          <p:cNvPr id="7" name="Subtitle 2">
            <a:extLst>
              <a:ext uri="{FF2B5EF4-FFF2-40B4-BE49-F238E27FC236}">
                <a16:creationId xmlns:a16="http://schemas.microsoft.com/office/drawing/2014/main" id="{0484623C-BF48-26A0-4CA9-B33540FDBDE4}"/>
              </a:ext>
            </a:extLst>
          </p:cNvPr>
          <p:cNvSpPr>
            <a:spLocks noGrp="1"/>
          </p:cNvSpPr>
          <p:nvPr>
            <p:ph type="subTitle" idx="1" hasCustomPrompt="1"/>
          </p:nvPr>
        </p:nvSpPr>
        <p:spPr>
          <a:xfrm>
            <a:off x="1143000" y="1217057"/>
            <a:ext cx="6858000" cy="612000"/>
          </a:xfrm>
        </p:spPr>
        <p:txBody>
          <a:bodyPr anchor="ct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부제목을 입력하세요</a:t>
            </a:r>
            <a:r>
              <a:rPr lang="en-US" altLang="ko-KR" dirty="0"/>
              <a:t>.</a:t>
            </a:r>
            <a:endParaRPr lang="en-US" dirty="0"/>
          </a:p>
        </p:txBody>
      </p:sp>
      <p:sp>
        <p:nvSpPr>
          <p:cNvPr id="8" name="Text Box 4">
            <a:extLst>
              <a:ext uri="{FF2B5EF4-FFF2-40B4-BE49-F238E27FC236}">
                <a16:creationId xmlns:a16="http://schemas.microsoft.com/office/drawing/2014/main" id="{2D158E4F-9322-E7DA-A601-1342B0FBD45A}"/>
              </a:ext>
            </a:extLst>
          </p:cNvPr>
          <p:cNvSpPr txBox="1">
            <a:spLocks noChangeArrowheads="1"/>
          </p:cNvSpPr>
          <p:nvPr userDrawn="1"/>
        </p:nvSpPr>
        <p:spPr bwMode="auto">
          <a:xfrm>
            <a:off x="474663" y="1903689"/>
            <a:ext cx="2743200" cy="400050"/>
          </a:xfrm>
          <a:prstGeom prst="rect">
            <a:avLst/>
          </a:prstGeom>
          <a:noFill/>
          <a:ln w="9525">
            <a:noFill/>
            <a:miter lim="800000"/>
            <a:headEnd/>
            <a:tailEnd/>
          </a:ln>
        </p:spPr>
        <p:txBody>
          <a:bodyPr>
            <a:spAutoFit/>
          </a:bodyPr>
          <a:lstStyle/>
          <a:p>
            <a:pPr defTabSz="457200" fontAlgn="base" latinLnBrk="0">
              <a:spcBef>
                <a:spcPct val="0"/>
              </a:spcBef>
              <a:spcAft>
                <a:spcPct val="0"/>
              </a:spcAft>
            </a:pPr>
            <a:r>
              <a:rPr lang="en-US" altLang="ko-KR" sz="2000" dirty="0">
                <a:solidFill>
                  <a:srgbClr val="3B3838"/>
                </a:solidFill>
                <a:latin typeface="맑은 고딕" pitchFamily="50" charset="-127"/>
                <a:ea typeface="맑은 고딕" pitchFamily="50" charset="-127"/>
              </a:rPr>
              <a:t>CONTENTS</a:t>
            </a:r>
          </a:p>
        </p:txBody>
      </p:sp>
    </p:spTree>
    <p:extLst>
      <p:ext uri="{BB962C8B-B14F-4D97-AF65-F5344CB8AC3E}">
        <p14:creationId xmlns:p14="http://schemas.microsoft.com/office/powerpoint/2010/main" val="1414196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간지">
    <p:spTree>
      <p:nvGrpSpPr>
        <p:cNvPr id="1" name=""/>
        <p:cNvGrpSpPr/>
        <p:nvPr/>
      </p:nvGrpSpPr>
      <p:grpSpPr>
        <a:xfrm>
          <a:off x="0" y="0"/>
          <a:ext cx="0" cy="0"/>
          <a:chOff x="0" y="0"/>
          <a:chExt cx="0" cy="0"/>
        </a:xfrm>
      </p:grpSpPr>
      <p:pic>
        <p:nvPicPr>
          <p:cNvPr id="8" name="Picture 3">
            <a:extLst>
              <a:ext uri="{FF2B5EF4-FFF2-40B4-BE49-F238E27FC236}">
                <a16:creationId xmlns:a16="http://schemas.microsoft.com/office/drawing/2014/main" id="{2CE5537C-D061-8382-E4B3-2F4CEB02FDBB}"/>
              </a:ext>
            </a:extLst>
          </p:cNvPr>
          <p:cNvPicPr>
            <a:picLocks noChangeAspect="1" noChangeArrowheads="1"/>
          </p:cNvPicPr>
          <p:nvPr userDrawn="1"/>
        </p:nvPicPr>
        <p:blipFill>
          <a:blip r:embed="rId2" cstate="print"/>
          <a:srcRect/>
          <a:stretch>
            <a:fillRect/>
          </a:stretch>
        </p:blipFill>
        <p:spPr bwMode="auto">
          <a:xfrm>
            <a:off x="0" y="0"/>
            <a:ext cx="9143999" cy="6858000"/>
          </a:xfrm>
          <a:prstGeom prst="rect">
            <a:avLst/>
          </a:prstGeom>
          <a:noFill/>
        </p:spPr>
      </p:pic>
      <p:sp>
        <p:nvSpPr>
          <p:cNvPr id="2" name="Title 1"/>
          <p:cNvSpPr>
            <a:spLocks noGrp="1"/>
          </p:cNvSpPr>
          <p:nvPr>
            <p:ph type="title" hasCustomPrompt="1"/>
          </p:nvPr>
        </p:nvSpPr>
        <p:spPr>
          <a:xfrm>
            <a:off x="623888" y="1266680"/>
            <a:ext cx="7886700" cy="760083"/>
          </a:xfrm>
        </p:spPr>
        <p:txBody>
          <a:bodyPr anchor="b">
            <a:normAutofit/>
          </a:bodyPr>
          <a:lstStyle>
            <a:lvl1pPr algn="ctr">
              <a:defRPr sz="4800">
                <a:solidFill>
                  <a:schemeClr val="bg1"/>
                </a:solidFill>
              </a:defRPr>
            </a:lvl1pPr>
          </a:lstStyle>
          <a:p>
            <a:r>
              <a:rPr lang="ko-KR" altLang="en-US" dirty="0"/>
              <a:t>제목을 입력하세요</a:t>
            </a:r>
            <a:r>
              <a:rPr lang="en-US" altLang="ko-KR" dirty="0"/>
              <a:t>.</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dirty="0"/>
              <a:t>마스터 텍스트 스타일을 편집하려면 클릭</a:t>
            </a:r>
          </a:p>
        </p:txBody>
      </p:sp>
      <p:sp>
        <p:nvSpPr>
          <p:cNvPr id="4" name="Date Placeholder 3"/>
          <p:cNvSpPr>
            <a:spLocks noGrp="1"/>
          </p:cNvSpPr>
          <p:nvPr>
            <p:ph type="dt" sz="half" idx="10"/>
          </p:nvPr>
        </p:nvSpPr>
        <p:spPr/>
        <p:txBody>
          <a:bodyPr/>
          <a:lstStyle>
            <a:lvl1pPr>
              <a:defRPr>
                <a:solidFill>
                  <a:schemeClr val="bg1"/>
                </a:solidFill>
              </a:defRPr>
            </a:lvl1pPr>
          </a:lstStyle>
          <a:p>
            <a:fld id="{C7BFDF09-8894-4CA3-B2B6-992A4C184223}" type="datetime1">
              <a:rPr lang="ko-KR" altLang="en-US" smtClean="0"/>
              <a:t>2026-09-01</a:t>
            </a:fld>
            <a:endParaRPr lang="ko-KR" altLang="en-US"/>
          </a:p>
        </p:txBody>
      </p:sp>
      <p:sp>
        <p:nvSpPr>
          <p:cNvPr id="5" name="Footer Placeholder 4"/>
          <p:cNvSpPr>
            <a:spLocks noGrp="1"/>
          </p:cNvSpPr>
          <p:nvPr>
            <p:ph type="ftr" sz="quarter" idx="11"/>
          </p:nvPr>
        </p:nvSpPr>
        <p:spPr/>
        <p:txBody>
          <a:bodyPr/>
          <a:lstStyle>
            <a:lvl1pPr>
              <a:defRPr>
                <a:solidFill>
                  <a:schemeClr val="bg1"/>
                </a:solidFill>
              </a:defRPr>
            </a:lvl1pPr>
          </a:lstStyle>
          <a:p>
            <a:r>
              <a:rPr lang="ko-KR" altLang="en-US"/>
              <a:t>지능로봇시스템연구실</a:t>
            </a:r>
            <a:endParaRPr lang="ko-KR" alt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D4B7CBBB-CC29-439D-B481-ED9AB375DBD8}" type="slidenum">
              <a:rPr lang="ko-KR" altLang="en-US" smtClean="0"/>
              <a:pPr/>
              <a:t>‹#›</a:t>
            </a:fld>
            <a:endParaRPr lang="ko-KR" altLang="en-US"/>
          </a:p>
        </p:txBody>
      </p:sp>
    </p:spTree>
    <p:extLst>
      <p:ext uri="{BB962C8B-B14F-4D97-AF65-F5344CB8AC3E}">
        <p14:creationId xmlns:p14="http://schemas.microsoft.com/office/powerpoint/2010/main" val="1581295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속지-기본">
    <p:spTree>
      <p:nvGrpSpPr>
        <p:cNvPr id="1" name=""/>
        <p:cNvGrpSpPr/>
        <p:nvPr/>
      </p:nvGrpSpPr>
      <p:grpSpPr>
        <a:xfrm>
          <a:off x="0" y="0"/>
          <a:ext cx="0" cy="0"/>
          <a:chOff x="0" y="0"/>
          <a:chExt cx="0" cy="0"/>
        </a:xfrm>
      </p:grpSpPr>
      <p:pic>
        <p:nvPicPr>
          <p:cNvPr id="8" name="Picture 2" descr="5">
            <a:extLst>
              <a:ext uri="{FF2B5EF4-FFF2-40B4-BE49-F238E27FC236}">
                <a16:creationId xmlns:a16="http://schemas.microsoft.com/office/drawing/2014/main" id="{492497FE-5723-0CE5-34A2-07E622273670}"/>
              </a:ext>
            </a:extLst>
          </p:cNvPr>
          <p:cNvPicPr>
            <a:picLocks noChangeAspect="1" noChangeArrowheads="1"/>
          </p:cNvPicPr>
          <p:nvPr userDrawn="1"/>
        </p:nvPicPr>
        <p:blipFill>
          <a:blip r:embed="rId2" cstate="print"/>
          <a:srcRect/>
          <a:stretch>
            <a:fillRect/>
          </a:stretch>
        </p:blipFill>
        <p:spPr bwMode="auto">
          <a:xfrm>
            <a:off x="64294" y="0"/>
            <a:ext cx="9015413" cy="6858000"/>
          </a:xfrm>
          <a:prstGeom prst="rect">
            <a:avLst/>
          </a:prstGeom>
          <a:noFill/>
        </p:spPr>
      </p:pic>
      <p:sp>
        <p:nvSpPr>
          <p:cNvPr id="2" name="Title 1"/>
          <p:cNvSpPr>
            <a:spLocks noGrp="1"/>
          </p:cNvSpPr>
          <p:nvPr>
            <p:ph type="title" hasCustomPrompt="1"/>
          </p:nvPr>
        </p:nvSpPr>
        <p:spPr>
          <a:xfrm>
            <a:off x="2092752" y="292448"/>
            <a:ext cx="6422598" cy="504000"/>
          </a:xfrm>
        </p:spPr>
        <p:txBody>
          <a:bodyPr>
            <a:normAutofit/>
          </a:bodyPr>
          <a:lstStyle>
            <a:lvl1pPr algn="l">
              <a:defRPr sz="2800">
                <a:latin typeface="나눔고딕 ExtraBold" panose="020D0904000000000000" pitchFamily="50" charset="-127"/>
                <a:ea typeface="나눔고딕 ExtraBold" panose="020D0904000000000000" pitchFamily="50" charset="-127"/>
              </a:defRPr>
            </a:lvl1pPr>
          </a:lstStyle>
          <a:p>
            <a:r>
              <a:rPr lang="ko-KR" altLang="en-US" dirty="0"/>
              <a:t>제목을 입력하세요</a:t>
            </a:r>
            <a:r>
              <a:rPr lang="en-US" altLang="ko-KR" dirty="0"/>
              <a:t>.</a:t>
            </a:r>
            <a:endParaRPr lang="en-US" dirty="0"/>
          </a:p>
        </p:txBody>
      </p:sp>
      <p:sp>
        <p:nvSpPr>
          <p:cNvPr id="3" name="Content Placeholder 2"/>
          <p:cNvSpPr>
            <a:spLocks noGrp="1"/>
          </p:cNvSpPr>
          <p:nvPr>
            <p:ph idx="1"/>
          </p:nvPr>
        </p:nvSpPr>
        <p:spPr>
          <a:xfrm>
            <a:off x="628650" y="904973"/>
            <a:ext cx="7886700" cy="5271990"/>
          </a:xfrm>
        </p:spPr>
        <p:txBody>
          <a:bodyPr/>
          <a:lstStyle>
            <a:lvl1pPr>
              <a:defRPr sz="2400"/>
            </a:lvl1pPr>
            <a:lvl2pPr>
              <a:defRPr sz="2200"/>
            </a:lvl2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Date Placeholder 3"/>
          <p:cNvSpPr>
            <a:spLocks noGrp="1"/>
          </p:cNvSpPr>
          <p:nvPr>
            <p:ph type="dt" sz="half" idx="10"/>
          </p:nvPr>
        </p:nvSpPr>
        <p:spPr/>
        <p:txBody>
          <a:bodyPr/>
          <a:lstStyle/>
          <a:p>
            <a:fld id="{41E2BDA1-9B75-49A1-A310-A91AC840E0C1}" type="datetime1">
              <a:rPr lang="ko-KR" altLang="en-US" smtClean="0"/>
              <a:t>2026-09-01</a:t>
            </a:fld>
            <a:endParaRPr lang="ko-KR" altLang="en-US"/>
          </a:p>
        </p:txBody>
      </p:sp>
      <p:sp>
        <p:nvSpPr>
          <p:cNvPr id="5" name="Footer Placeholder 4"/>
          <p:cNvSpPr>
            <a:spLocks noGrp="1"/>
          </p:cNvSpPr>
          <p:nvPr>
            <p:ph type="ftr" sz="quarter" idx="11"/>
          </p:nvPr>
        </p:nvSpPr>
        <p:spPr/>
        <p:txBody>
          <a:bodyPr/>
          <a:lstStyle/>
          <a:p>
            <a:r>
              <a:rPr lang="ko-KR" altLang="en-US"/>
              <a:t>지능로봇시스템연구실</a:t>
            </a:r>
          </a:p>
        </p:txBody>
      </p:sp>
      <p:sp>
        <p:nvSpPr>
          <p:cNvPr id="6" name="Slide Number Placeholder 5"/>
          <p:cNvSpPr>
            <a:spLocks noGrp="1"/>
          </p:cNvSpPr>
          <p:nvPr>
            <p:ph type="sldNum" sz="quarter" idx="12"/>
          </p:nvPr>
        </p:nvSpPr>
        <p:spPr/>
        <p:txBody>
          <a:bodyPr/>
          <a:lstStyle/>
          <a:p>
            <a:fld id="{D4B7CBBB-CC29-439D-B481-ED9AB375DBD8}" type="slidenum">
              <a:rPr lang="ko-KR" altLang="en-US" smtClean="0"/>
              <a:t>‹#›</a:t>
            </a:fld>
            <a:endParaRPr lang="ko-KR" altLang="en-US"/>
          </a:p>
        </p:txBody>
      </p:sp>
    </p:spTree>
    <p:extLst>
      <p:ext uri="{BB962C8B-B14F-4D97-AF65-F5344CB8AC3E}">
        <p14:creationId xmlns:p14="http://schemas.microsoft.com/office/powerpoint/2010/main" val="3381022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속지-콘텐츠2개">
    <p:spTree>
      <p:nvGrpSpPr>
        <p:cNvPr id="1" name=""/>
        <p:cNvGrpSpPr/>
        <p:nvPr/>
      </p:nvGrpSpPr>
      <p:grpSpPr>
        <a:xfrm>
          <a:off x="0" y="0"/>
          <a:ext cx="0" cy="0"/>
          <a:chOff x="0" y="0"/>
          <a:chExt cx="0" cy="0"/>
        </a:xfrm>
      </p:grpSpPr>
      <p:pic>
        <p:nvPicPr>
          <p:cNvPr id="8" name="Picture 2" descr="5">
            <a:extLst>
              <a:ext uri="{FF2B5EF4-FFF2-40B4-BE49-F238E27FC236}">
                <a16:creationId xmlns:a16="http://schemas.microsoft.com/office/drawing/2014/main" id="{16650974-4D04-B72C-42B4-D63897509627}"/>
              </a:ext>
            </a:extLst>
          </p:cNvPr>
          <p:cNvPicPr>
            <a:picLocks noChangeAspect="1" noChangeArrowheads="1"/>
          </p:cNvPicPr>
          <p:nvPr userDrawn="1"/>
        </p:nvPicPr>
        <p:blipFill>
          <a:blip r:embed="rId2" cstate="print"/>
          <a:srcRect/>
          <a:stretch>
            <a:fillRect/>
          </a:stretch>
        </p:blipFill>
        <p:spPr bwMode="auto">
          <a:xfrm>
            <a:off x="64294" y="0"/>
            <a:ext cx="9015413" cy="6858000"/>
          </a:xfrm>
          <a:prstGeom prst="rect">
            <a:avLst/>
          </a:prstGeom>
          <a:noFill/>
        </p:spPr>
      </p:pic>
      <p:sp>
        <p:nvSpPr>
          <p:cNvPr id="3" name="Content Placeholder 2"/>
          <p:cNvSpPr>
            <a:spLocks noGrp="1"/>
          </p:cNvSpPr>
          <p:nvPr>
            <p:ph sz="half" idx="1"/>
          </p:nvPr>
        </p:nvSpPr>
        <p:spPr>
          <a:xfrm>
            <a:off x="628650" y="904973"/>
            <a:ext cx="3886200" cy="5271990"/>
          </a:xfrm>
        </p:spPr>
        <p:txBody>
          <a:bodyPr/>
          <a:lstStyle>
            <a:lvl1pPr>
              <a:defRPr sz="2400"/>
            </a:lvl1pPr>
            <a:lvl2pPr>
              <a:defRPr sz="2200"/>
            </a:lvl2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Content Placeholder 3"/>
          <p:cNvSpPr>
            <a:spLocks noGrp="1"/>
          </p:cNvSpPr>
          <p:nvPr>
            <p:ph sz="half" idx="2"/>
          </p:nvPr>
        </p:nvSpPr>
        <p:spPr>
          <a:xfrm>
            <a:off x="4629150" y="904973"/>
            <a:ext cx="3886200" cy="5271990"/>
          </a:xfrm>
        </p:spPr>
        <p:txBody>
          <a:bodyPr/>
          <a:lstStyle>
            <a:lvl1pPr>
              <a:defRPr sz="2400"/>
            </a:lvl1pPr>
            <a:lvl2pPr>
              <a:defRPr sz="2200"/>
            </a:lvl2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5" name="Date Placeholder 4"/>
          <p:cNvSpPr>
            <a:spLocks noGrp="1"/>
          </p:cNvSpPr>
          <p:nvPr>
            <p:ph type="dt" sz="half" idx="10"/>
          </p:nvPr>
        </p:nvSpPr>
        <p:spPr/>
        <p:txBody>
          <a:bodyPr/>
          <a:lstStyle/>
          <a:p>
            <a:fld id="{DE008970-9E63-4076-B76F-F2D19FAF659C}" type="datetime1">
              <a:rPr lang="ko-KR" altLang="en-US" smtClean="0"/>
              <a:t>2026-09-01</a:t>
            </a:fld>
            <a:endParaRPr lang="ko-KR" altLang="en-US"/>
          </a:p>
        </p:txBody>
      </p:sp>
      <p:sp>
        <p:nvSpPr>
          <p:cNvPr id="6" name="Footer Placeholder 5"/>
          <p:cNvSpPr>
            <a:spLocks noGrp="1"/>
          </p:cNvSpPr>
          <p:nvPr>
            <p:ph type="ftr" sz="quarter" idx="11"/>
          </p:nvPr>
        </p:nvSpPr>
        <p:spPr/>
        <p:txBody>
          <a:bodyPr/>
          <a:lstStyle/>
          <a:p>
            <a:r>
              <a:rPr lang="ko-KR" altLang="en-US"/>
              <a:t>지능로봇시스템연구실</a:t>
            </a:r>
          </a:p>
        </p:txBody>
      </p:sp>
      <p:sp>
        <p:nvSpPr>
          <p:cNvPr id="7" name="Slide Number Placeholder 6"/>
          <p:cNvSpPr>
            <a:spLocks noGrp="1"/>
          </p:cNvSpPr>
          <p:nvPr>
            <p:ph type="sldNum" sz="quarter" idx="12"/>
          </p:nvPr>
        </p:nvSpPr>
        <p:spPr/>
        <p:txBody>
          <a:bodyPr/>
          <a:lstStyle/>
          <a:p>
            <a:fld id="{D4B7CBBB-CC29-439D-B481-ED9AB375DBD8}" type="slidenum">
              <a:rPr lang="ko-KR" altLang="en-US" smtClean="0"/>
              <a:t>‹#›</a:t>
            </a:fld>
            <a:endParaRPr lang="ko-KR" altLang="en-US"/>
          </a:p>
        </p:txBody>
      </p:sp>
      <p:sp>
        <p:nvSpPr>
          <p:cNvPr id="9" name="Title 1">
            <a:extLst>
              <a:ext uri="{FF2B5EF4-FFF2-40B4-BE49-F238E27FC236}">
                <a16:creationId xmlns:a16="http://schemas.microsoft.com/office/drawing/2014/main" id="{B27F88D2-EC5E-DBF6-E21D-497995EF9E1B}"/>
              </a:ext>
            </a:extLst>
          </p:cNvPr>
          <p:cNvSpPr>
            <a:spLocks noGrp="1"/>
          </p:cNvSpPr>
          <p:nvPr>
            <p:ph type="title" hasCustomPrompt="1"/>
          </p:nvPr>
        </p:nvSpPr>
        <p:spPr>
          <a:xfrm>
            <a:off x="2092752" y="292448"/>
            <a:ext cx="6422598" cy="504000"/>
          </a:xfrm>
        </p:spPr>
        <p:txBody>
          <a:bodyPr>
            <a:normAutofit/>
          </a:bodyPr>
          <a:lstStyle>
            <a:lvl1pPr algn="l">
              <a:defRPr sz="2800">
                <a:latin typeface="나눔고딕 ExtraBold" panose="020D0904000000000000" pitchFamily="50" charset="-127"/>
                <a:ea typeface="나눔고딕 ExtraBold" panose="020D0904000000000000" pitchFamily="50" charset="-127"/>
              </a:defRPr>
            </a:lvl1pPr>
          </a:lstStyle>
          <a:p>
            <a:r>
              <a:rPr lang="ko-KR" altLang="en-US" dirty="0"/>
              <a:t>제목을 입력하세요</a:t>
            </a:r>
            <a:r>
              <a:rPr lang="en-US" altLang="ko-KR" dirty="0"/>
              <a:t>.</a:t>
            </a:r>
            <a:endParaRPr lang="en-US" dirty="0"/>
          </a:p>
        </p:txBody>
      </p:sp>
    </p:spTree>
    <p:extLst>
      <p:ext uri="{BB962C8B-B14F-4D97-AF65-F5344CB8AC3E}">
        <p14:creationId xmlns:p14="http://schemas.microsoft.com/office/powerpoint/2010/main" val="1320606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속지-비교">
    <p:spTree>
      <p:nvGrpSpPr>
        <p:cNvPr id="1" name=""/>
        <p:cNvGrpSpPr/>
        <p:nvPr/>
      </p:nvGrpSpPr>
      <p:grpSpPr>
        <a:xfrm>
          <a:off x="0" y="0"/>
          <a:ext cx="0" cy="0"/>
          <a:chOff x="0" y="0"/>
          <a:chExt cx="0" cy="0"/>
        </a:xfrm>
      </p:grpSpPr>
      <p:pic>
        <p:nvPicPr>
          <p:cNvPr id="10" name="Picture 2" descr="5">
            <a:extLst>
              <a:ext uri="{FF2B5EF4-FFF2-40B4-BE49-F238E27FC236}">
                <a16:creationId xmlns:a16="http://schemas.microsoft.com/office/drawing/2014/main" id="{C0B59629-659F-2768-45AB-202C6DBA03F9}"/>
              </a:ext>
            </a:extLst>
          </p:cNvPr>
          <p:cNvPicPr>
            <a:picLocks noChangeAspect="1" noChangeArrowheads="1"/>
          </p:cNvPicPr>
          <p:nvPr userDrawn="1"/>
        </p:nvPicPr>
        <p:blipFill>
          <a:blip r:embed="rId2" cstate="print"/>
          <a:srcRect/>
          <a:stretch>
            <a:fillRect/>
          </a:stretch>
        </p:blipFill>
        <p:spPr bwMode="auto">
          <a:xfrm>
            <a:off x="64294" y="0"/>
            <a:ext cx="9015413" cy="6858000"/>
          </a:xfrm>
          <a:prstGeom prst="rect">
            <a:avLst/>
          </a:prstGeom>
          <a:noFill/>
        </p:spPr>
      </p:pic>
      <p:sp>
        <p:nvSpPr>
          <p:cNvPr id="3" name="Text Placeholder 2"/>
          <p:cNvSpPr>
            <a:spLocks noGrp="1"/>
          </p:cNvSpPr>
          <p:nvPr>
            <p:ph type="body" idx="1"/>
          </p:nvPr>
        </p:nvSpPr>
        <p:spPr>
          <a:xfrm>
            <a:off x="629842" y="898736"/>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Content Placeholder 3"/>
          <p:cNvSpPr>
            <a:spLocks noGrp="1"/>
          </p:cNvSpPr>
          <p:nvPr>
            <p:ph sz="half" idx="2"/>
          </p:nvPr>
        </p:nvSpPr>
        <p:spPr>
          <a:xfrm>
            <a:off x="629842" y="1806082"/>
            <a:ext cx="3868340" cy="438358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4629150" y="898736"/>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6" name="Content Placeholder 5"/>
          <p:cNvSpPr>
            <a:spLocks noGrp="1"/>
          </p:cNvSpPr>
          <p:nvPr>
            <p:ph sz="quarter" idx="4"/>
          </p:nvPr>
        </p:nvSpPr>
        <p:spPr>
          <a:xfrm>
            <a:off x="4629150" y="1806082"/>
            <a:ext cx="3887391" cy="438358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A5E16867-B909-44F9-B576-8B7F8629B27D}" type="datetime1">
              <a:rPr lang="ko-KR" altLang="en-US" smtClean="0"/>
              <a:t>2026-09-01</a:t>
            </a:fld>
            <a:endParaRPr lang="ko-KR" altLang="en-US"/>
          </a:p>
        </p:txBody>
      </p:sp>
      <p:sp>
        <p:nvSpPr>
          <p:cNvPr id="8" name="Footer Placeholder 7"/>
          <p:cNvSpPr>
            <a:spLocks noGrp="1"/>
          </p:cNvSpPr>
          <p:nvPr>
            <p:ph type="ftr" sz="quarter" idx="11"/>
          </p:nvPr>
        </p:nvSpPr>
        <p:spPr/>
        <p:txBody>
          <a:bodyPr/>
          <a:lstStyle/>
          <a:p>
            <a:r>
              <a:rPr lang="ko-KR" altLang="en-US"/>
              <a:t>지능로봇시스템연구실</a:t>
            </a:r>
          </a:p>
        </p:txBody>
      </p:sp>
      <p:sp>
        <p:nvSpPr>
          <p:cNvPr id="9" name="Slide Number Placeholder 8"/>
          <p:cNvSpPr>
            <a:spLocks noGrp="1"/>
          </p:cNvSpPr>
          <p:nvPr>
            <p:ph type="sldNum" sz="quarter" idx="12"/>
          </p:nvPr>
        </p:nvSpPr>
        <p:spPr/>
        <p:txBody>
          <a:bodyPr/>
          <a:lstStyle/>
          <a:p>
            <a:fld id="{D4B7CBBB-CC29-439D-B481-ED9AB375DBD8}" type="slidenum">
              <a:rPr lang="ko-KR" altLang="en-US" smtClean="0"/>
              <a:t>‹#›</a:t>
            </a:fld>
            <a:endParaRPr lang="ko-KR" altLang="en-US"/>
          </a:p>
        </p:txBody>
      </p:sp>
      <p:sp>
        <p:nvSpPr>
          <p:cNvPr id="11" name="Title 1">
            <a:extLst>
              <a:ext uri="{FF2B5EF4-FFF2-40B4-BE49-F238E27FC236}">
                <a16:creationId xmlns:a16="http://schemas.microsoft.com/office/drawing/2014/main" id="{F312103E-2AA1-49A9-5F86-9EAEB087527F}"/>
              </a:ext>
            </a:extLst>
          </p:cNvPr>
          <p:cNvSpPr>
            <a:spLocks noGrp="1"/>
          </p:cNvSpPr>
          <p:nvPr>
            <p:ph type="title" hasCustomPrompt="1"/>
          </p:nvPr>
        </p:nvSpPr>
        <p:spPr>
          <a:xfrm>
            <a:off x="2092752" y="292448"/>
            <a:ext cx="6422598" cy="504000"/>
          </a:xfrm>
        </p:spPr>
        <p:txBody>
          <a:bodyPr>
            <a:normAutofit/>
          </a:bodyPr>
          <a:lstStyle>
            <a:lvl1pPr algn="l">
              <a:defRPr sz="2800">
                <a:latin typeface="나눔고딕 ExtraBold" panose="020D0904000000000000" pitchFamily="50" charset="-127"/>
                <a:ea typeface="나눔고딕 ExtraBold" panose="020D0904000000000000" pitchFamily="50" charset="-127"/>
              </a:defRPr>
            </a:lvl1pPr>
          </a:lstStyle>
          <a:p>
            <a:r>
              <a:rPr lang="ko-KR" altLang="en-US" dirty="0"/>
              <a:t>제목을 입력하세요</a:t>
            </a:r>
            <a:r>
              <a:rPr lang="en-US" altLang="ko-KR" dirty="0"/>
              <a:t>.</a:t>
            </a:r>
            <a:endParaRPr lang="en-US" dirty="0"/>
          </a:p>
        </p:txBody>
      </p:sp>
    </p:spTree>
    <p:extLst>
      <p:ext uri="{BB962C8B-B14F-4D97-AF65-F5344CB8AC3E}">
        <p14:creationId xmlns:p14="http://schemas.microsoft.com/office/powerpoint/2010/main" val="272604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속지-제목만">
    <p:spTree>
      <p:nvGrpSpPr>
        <p:cNvPr id="1" name=""/>
        <p:cNvGrpSpPr/>
        <p:nvPr/>
      </p:nvGrpSpPr>
      <p:grpSpPr>
        <a:xfrm>
          <a:off x="0" y="0"/>
          <a:ext cx="0" cy="0"/>
          <a:chOff x="0" y="0"/>
          <a:chExt cx="0" cy="0"/>
        </a:xfrm>
      </p:grpSpPr>
      <p:pic>
        <p:nvPicPr>
          <p:cNvPr id="6" name="Picture 2" descr="5">
            <a:extLst>
              <a:ext uri="{FF2B5EF4-FFF2-40B4-BE49-F238E27FC236}">
                <a16:creationId xmlns:a16="http://schemas.microsoft.com/office/drawing/2014/main" id="{D893E106-35BC-7AB0-C3E1-7E3FF5073E5B}"/>
              </a:ext>
            </a:extLst>
          </p:cNvPr>
          <p:cNvPicPr>
            <a:picLocks noChangeAspect="1" noChangeArrowheads="1"/>
          </p:cNvPicPr>
          <p:nvPr userDrawn="1"/>
        </p:nvPicPr>
        <p:blipFill>
          <a:blip r:embed="rId2" cstate="print"/>
          <a:srcRect/>
          <a:stretch>
            <a:fillRect/>
          </a:stretch>
        </p:blipFill>
        <p:spPr bwMode="auto">
          <a:xfrm>
            <a:off x="64294" y="0"/>
            <a:ext cx="9015413" cy="6858000"/>
          </a:xfrm>
          <a:prstGeom prst="rect">
            <a:avLst/>
          </a:prstGeom>
          <a:noFill/>
        </p:spPr>
      </p:pic>
      <p:sp>
        <p:nvSpPr>
          <p:cNvPr id="3" name="Date Placeholder 2"/>
          <p:cNvSpPr>
            <a:spLocks noGrp="1"/>
          </p:cNvSpPr>
          <p:nvPr>
            <p:ph type="dt" sz="half" idx="10"/>
          </p:nvPr>
        </p:nvSpPr>
        <p:spPr/>
        <p:txBody>
          <a:bodyPr/>
          <a:lstStyle/>
          <a:p>
            <a:fld id="{EDC8A59B-D0F3-4882-A800-AD288960EB31}" type="datetime1">
              <a:rPr lang="ko-KR" altLang="en-US" smtClean="0"/>
              <a:t>2026-09-01</a:t>
            </a:fld>
            <a:endParaRPr lang="ko-KR" altLang="en-US"/>
          </a:p>
        </p:txBody>
      </p:sp>
      <p:sp>
        <p:nvSpPr>
          <p:cNvPr id="4" name="Footer Placeholder 3"/>
          <p:cNvSpPr>
            <a:spLocks noGrp="1"/>
          </p:cNvSpPr>
          <p:nvPr>
            <p:ph type="ftr" sz="quarter" idx="11"/>
          </p:nvPr>
        </p:nvSpPr>
        <p:spPr/>
        <p:txBody>
          <a:bodyPr/>
          <a:lstStyle/>
          <a:p>
            <a:r>
              <a:rPr lang="ko-KR" altLang="en-US"/>
              <a:t>지능로봇시스템연구실</a:t>
            </a:r>
          </a:p>
        </p:txBody>
      </p:sp>
      <p:sp>
        <p:nvSpPr>
          <p:cNvPr id="5" name="Slide Number Placeholder 4"/>
          <p:cNvSpPr>
            <a:spLocks noGrp="1"/>
          </p:cNvSpPr>
          <p:nvPr>
            <p:ph type="sldNum" sz="quarter" idx="12"/>
          </p:nvPr>
        </p:nvSpPr>
        <p:spPr/>
        <p:txBody>
          <a:bodyPr/>
          <a:lstStyle/>
          <a:p>
            <a:fld id="{D4B7CBBB-CC29-439D-B481-ED9AB375DBD8}" type="slidenum">
              <a:rPr lang="ko-KR" altLang="en-US" smtClean="0"/>
              <a:t>‹#›</a:t>
            </a:fld>
            <a:endParaRPr lang="ko-KR" altLang="en-US"/>
          </a:p>
        </p:txBody>
      </p:sp>
      <p:sp>
        <p:nvSpPr>
          <p:cNvPr id="7" name="Title 1">
            <a:extLst>
              <a:ext uri="{FF2B5EF4-FFF2-40B4-BE49-F238E27FC236}">
                <a16:creationId xmlns:a16="http://schemas.microsoft.com/office/drawing/2014/main" id="{26BAA18B-577E-9702-D54A-360A6F31E0B0}"/>
              </a:ext>
            </a:extLst>
          </p:cNvPr>
          <p:cNvSpPr>
            <a:spLocks noGrp="1"/>
          </p:cNvSpPr>
          <p:nvPr>
            <p:ph type="title" hasCustomPrompt="1"/>
          </p:nvPr>
        </p:nvSpPr>
        <p:spPr>
          <a:xfrm>
            <a:off x="2092752" y="292448"/>
            <a:ext cx="6422598" cy="504000"/>
          </a:xfrm>
        </p:spPr>
        <p:txBody>
          <a:bodyPr>
            <a:normAutofit/>
          </a:bodyPr>
          <a:lstStyle>
            <a:lvl1pPr algn="l">
              <a:defRPr sz="2800">
                <a:latin typeface="나눔고딕 ExtraBold" panose="020D0904000000000000" pitchFamily="50" charset="-127"/>
                <a:ea typeface="나눔고딕 ExtraBold" panose="020D0904000000000000" pitchFamily="50" charset="-127"/>
              </a:defRPr>
            </a:lvl1pPr>
          </a:lstStyle>
          <a:p>
            <a:r>
              <a:rPr lang="ko-KR" altLang="en-US" dirty="0"/>
              <a:t>제목을 입력하세요</a:t>
            </a:r>
            <a:r>
              <a:rPr lang="en-US" altLang="ko-KR" dirty="0"/>
              <a:t>.</a:t>
            </a:r>
            <a:endParaRPr lang="en-US" dirty="0"/>
          </a:p>
        </p:txBody>
      </p:sp>
    </p:spTree>
    <p:extLst>
      <p:ext uri="{BB962C8B-B14F-4D97-AF65-F5344CB8AC3E}">
        <p14:creationId xmlns:p14="http://schemas.microsoft.com/office/powerpoint/2010/main" val="2930056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pic>
        <p:nvPicPr>
          <p:cNvPr id="5" name="Picture 2" descr="5">
            <a:extLst>
              <a:ext uri="{FF2B5EF4-FFF2-40B4-BE49-F238E27FC236}">
                <a16:creationId xmlns:a16="http://schemas.microsoft.com/office/drawing/2014/main" id="{5FF8F383-BEB8-B8FE-4519-6914D9C84648}"/>
              </a:ext>
            </a:extLst>
          </p:cNvPr>
          <p:cNvPicPr>
            <a:picLocks noChangeAspect="1" noChangeArrowheads="1"/>
          </p:cNvPicPr>
          <p:nvPr userDrawn="1"/>
        </p:nvPicPr>
        <p:blipFill>
          <a:blip r:embed="rId2" cstate="print"/>
          <a:srcRect/>
          <a:stretch>
            <a:fillRect/>
          </a:stretch>
        </p:blipFill>
        <p:spPr bwMode="auto">
          <a:xfrm>
            <a:off x="64294" y="0"/>
            <a:ext cx="9015413" cy="6858000"/>
          </a:xfrm>
          <a:prstGeom prst="rect">
            <a:avLst/>
          </a:prstGeom>
          <a:noFill/>
        </p:spPr>
      </p:pic>
      <p:sp>
        <p:nvSpPr>
          <p:cNvPr id="2" name="Date Placeholder 1"/>
          <p:cNvSpPr>
            <a:spLocks noGrp="1"/>
          </p:cNvSpPr>
          <p:nvPr>
            <p:ph type="dt" sz="half" idx="10"/>
          </p:nvPr>
        </p:nvSpPr>
        <p:spPr/>
        <p:txBody>
          <a:bodyPr/>
          <a:lstStyle/>
          <a:p>
            <a:fld id="{A627EFF4-7274-4DF9-9F5A-66F47F09CD52}" type="datetime1">
              <a:rPr lang="ko-KR" altLang="en-US" smtClean="0"/>
              <a:t>2026-09-01</a:t>
            </a:fld>
            <a:endParaRPr lang="ko-KR" altLang="en-US"/>
          </a:p>
        </p:txBody>
      </p:sp>
      <p:sp>
        <p:nvSpPr>
          <p:cNvPr id="3" name="Footer Placeholder 2"/>
          <p:cNvSpPr>
            <a:spLocks noGrp="1"/>
          </p:cNvSpPr>
          <p:nvPr>
            <p:ph type="ftr" sz="quarter" idx="11"/>
          </p:nvPr>
        </p:nvSpPr>
        <p:spPr/>
        <p:txBody>
          <a:bodyPr/>
          <a:lstStyle/>
          <a:p>
            <a:r>
              <a:rPr lang="ko-KR" altLang="en-US"/>
              <a:t>지능로봇시스템연구실</a:t>
            </a:r>
          </a:p>
        </p:txBody>
      </p:sp>
      <p:sp>
        <p:nvSpPr>
          <p:cNvPr id="4" name="Slide Number Placeholder 3"/>
          <p:cNvSpPr>
            <a:spLocks noGrp="1"/>
          </p:cNvSpPr>
          <p:nvPr>
            <p:ph type="sldNum" sz="quarter" idx="12"/>
          </p:nvPr>
        </p:nvSpPr>
        <p:spPr/>
        <p:txBody>
          <a:bodyPr/>
          <a:lstStyle/>
          <a:p>
            <a:fld id="{D4B7CBBB-CC29-439D-B481-ED9AB375DBD8}" type="slidenum">
              <a:rPr lang="ko-KR" altLang="en-US" smtClean="0"/>
              <a:t>‹#›</a:t>
            </a:fld>
            <a:endParaRPr lang="ko-KR" altLang="en-US"/>
          </a:p>
        </p:txBody>
      </p:sp>
    </p:spTree>
    <p:extLst>
      <p:ext uri="{BB962C8B-B14F-4D97-AF65-F5344CB8AC3E}">
        <p14:creationId xmlns:p14="http://schemas.microsoft.com/office/powerpoint/2010/main" val="2626331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pic>
        <p:nvPicPr>
          <p:cNvPr id="8" name="Picture 2" descr="5">
            <a:extLst>
              <a:ext uri="{FF2B5EF4-FFF2-40B4-BE49-F238E27FC236}">
                <a16:creationId xmlns:a16="http://schemas.microsoft.com/office/drawing/2014/main" id="{52B04BB0-2366-6A86-A05D-F449E6D49DC6}"/>
              </a:ext>
            </a:extLst>
          </p:cNvPr>
          <p:cNvPicPr>
            <a:picLocks noChangeAspect="1" noChangeArrowheads="1"/>
          </p:cNvPicPr>
          <p:nvPr userDrawn="1"/>
        </p:nvPicPr>
        <p:blipFill>
          <a:blip r:embed="rId2" cstate="print"/>
          <a:srcRect/>
          <a:stretch>
            <a:fillRect/>
          </a:stretch>
        </p:blipFill>
        <p:spPr bwMode="auto">
          <a:xfrm>
            <a:off x="64294" y="0"/>
            <a:ext cx="9015413" cy="6858000"/>
          </a:xfrm>
          <a:prstGeom prst="rect">
            <a:avLst/>
          </a:prstGeom>
          <a:noFill/>
        </p:spPr>
      </p:pic>
      <p:sp>
        <p:nvSpPr>
          <p:cNvPr id="10" name="사각형: 둥근 모서리 9">
            <a:extLst>
              <a:ext uri="{FF2B5EF4-FFF2-40B4-BE49-F238E27FC236}">
                <a16:creationId xmlns:a16="http://schemas.microsoft.com/office/drawing/2014/main" id="{1AFFDABF-AA7A-0BB1-F6B9-3547A4656655}"/>
              </a:ext>
            </a:extLst>
          </p:cNvPr>
          <p:cNvSpPr/>
          <p:nvPr userDrawn="1"/>
        </p:nvSpPr>
        <p:spPr>
          <a:xfrm>
            <a:off x="627458" y="923723"/>
            <a:ext cx="3086100" cy="4945265"/>
          </a:xfrm>
          <a:prstGeom prst="roundRect">
            <a:avLst>
              <a:gd name="adj" fmla="val 9052"/>
            </a:avLst>
          </a:prstGeom>
          <a:solidFill>
            <a:schemeClr val="bg1">
              <a:lumMod val="95000"/>
            </a:schemeClr>
          </a:solidFill>
          <a:ln>
            <a:solidFill>
              <a:schemeClr val="tx1"/>
            </a:solidFill>
          </a:ln>
          <a:effectLst>
            <a:outerShdw blurRad="25400" dist="38100" dir="2700000" sx="101000" sy="101000" algn="tl" rotWithShape="0">
              <a:prstClr val="black">
                <a:alpha val="4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Content Placeholder 2"/>
          <p:cNvSpPr>
            <a:spLocks noGrp="1"/>
          </p:cNvSpPr>
          <p:nvPr>
            <p:ph idx="1"/>
          </p:nvPr>
        </p:nvSpPr>
        <p:spPr>
          <a:xfrm>
            <a:off x="3887391" y="923828"/>
            <a:ext cx="4629150" cy="4937224"/>
          </a:xfrm>
        </p:spPr>
        <p:txBody>
          <a:bodyPr/>
          <a:lstStyle>
            <a:lvl1pPr>
              <a:defRPr sz="2400"/>
            </a:lvl1pPr>
            <a:lvl2pPr>
              <a:defRPr sz="2200"/>
            </a:lvl2pPr>
            <a:lvl3pPr>
              <a:defRPr sz="2000"/>
            </a:lvl3pPr>
            <a:lvl4pPr>
              <a:defRPr sz="2000"/>
            </a:lvl4pPr>
            <a:lvl5pPr>
              <a:defRPr sz="2000"/>
            </a:lvl5pPr>
            <a:lvl6pPr>
              <a:defRPr sz="2000"/>
            </a:lvl6pPr>
            <a:lvl7pPr>
              <a:defRPr sz="2000"/>
            </a:lvl7pPr>
            <a:lvl8pPr>
              <a:defRPr sz="2000"/>
            </a:lvl8pPr>
            <a:lvl9pPr>
              <a:defRPr sz="2000"/>
            </a:lvl9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Text Placeholder 3"/>
          <p:cNvSpPr>
            <a:spLocks noGrp="1"/>
          </p:cNvSpPr>
          <p:nvPr>
            <p:ph type="body" sz="half" idx="2"/>
          </p:nvPr>
        </p:nvSpPr>
        <p:spPr>
          <a:xfrm>
            <a:off x="627458" y="989012"/>
            <a:ext cx="3086100" cy="479904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dirty="0"/>
              <a:t>마스터 텍스트 스타일을 편집하려면 클릭</a:t>
            </a:r>
          </a:p>
        </p:txBody>
      </p:sp>
      <p:sp>
        <p:nvSpPr>
          <p:cNvPr id="5" name="Date Placeholder 4"/>
          <p:cNvSpPr>
            <a:spLocks noGrp="1"/>
          </p:cNvSpPr>
          <p:nvPr>
            <p:ph type="dt" sz="half" idx="10"/>
          </p:nvPr>
        </p:nvSpPr>
        <p:spPr/>
        <p:txBody>
          <a:bodyPr/>
          <a:lstStyle/>
          <a:p>
            <a:fld id="{D5383A61-9F1A-4B82-978D-3B1389208BF0}" type="datetime1">
              <a:rPr lang="ko-KR" altLang="en-US" smtClean="0"/>
              <a:t>2026-09-01</a:t>
            </a:fld>
            <a:endParaRPr lang="ko-KR" altLang="en-US"/>
          </a:p>
        </p:txBody>
      </p:sp>
      <p:sp>
        <p:nvSpPr>
          <p:cNvPr id="6" name="Footer Placeholder 5"/>
          <p:cNvSpPr>
            <a:spLocks noGrp="1"/>
          </p:cNvSpPr>
          <p:nvPr>
            <p:ph type="ftr" sz="quarter" idx="11"/>
          </p:nvPr>
        </p:nvSpPr>
        <p:spPr/>
        <p:txBody>
          <a:bodyPr/>
          <a:lstStyle/>
          <a:p>
            <a:r>
              <a:rPr lang="ko-KR" altLang="en-US"/>
              <a:t>지능로봇시스템연구실</a:t>
            </a:r>
          </a:p>
        </p:txBody>
      </p:sp>
      <p:sp>
        <p:nvSpPr>
          <p:cNvPr id="7" name="Slide Number Placeholder 6"/>
          <p:cNvSpPr>
            <a:spLocks noGrp="1"/>
          </p:cNvSpPr>
          <p:nvPr>
            <p:ph type="sldNum" sz="quarter" idx="12"/>
          </p:nvPr>
        </p:nvSpPr>
        <p:spPr/>
        <p:txBody>
          <a:bodyPr/>
          <a:lstStyle/>
          <a:p>
            <a:fld id="{D4B7CBBB-CC29-439D-B481-ED9AB375DBD8}" type="slidenum">
              <a:rPr lang="ko-KR" altLang="en-US" smtClean="0"/>
              <a:t>‹#›</a:t>
            </a:fld>
            <a:endParaRPr lang="ko-KR" altLang="en-US"/>
          </a:p>
        </p:txBody>
      </p:sp>
      <p:sp>
        <p:nvSpPr>
          <p:cNvPr id="9" name="Title 1">
            <a:extLst>
              <a:ext uri="{FF2B5EF4-FFF2-40B4-BE49-F238E27FC236}">
                <a16:creationId xmlns:a16="http://schemas.microsoft.com/office/drawing/2014/main" id="{4E9060D6-2E26-428F-3B94-161B4DB197AB}"/>
              </a:ext>
            </a:extLst>
          </p:cNvPr>
          <p:cNvSpPr>
            <a:spLocks noGrp="1"/>
          </p:cNvSpPr>
          <p:nvPr>
            <p:ph type="title" hasCustomPrompt="1"/>
          </p:nvPr>
        </p:nvSpPr>
        <p:spPr>
          <a:xfrm>
            <a:off x="2092752" y="292448"/>
            <a:ext cx="6422598" cy="504000"/>
          </a:xfrm>
        </p:spPr>
        <p:txBody>
          <a:bodyPr>
            <a:normAutofit/>
          </a:bodyPr>
          <a:lstStyle>
            <a:lvl1pPr algn="l">
              <a:defRPr sz="2800">
                <a:latin typeface="나눔고딕 ExtraBold" panose="020D0904000000000000" pitchFamily="50" charset="-127"/>
                <a:ea typeface="나눔고딕 ExtraBold" panose="020D0904000000000000" pitchFamily="50" charset="-127"/>
              </a:defRPr>
            </a:lvl1pPr>
          </a:lstStyle>
          <a:p>
            <a:r>
              <a:rPr lang="ko-KR" altLang="en-US" dirty="0"/>
              <a:t>제목을 입력하세요</a:t>
            </a:r>
            <a:r>
              <a:rPr lang="en-US" altLang="ko-KR" dirty="0"/>
              <a:t>.</a:t>
            </a:r>
            <a:endParaRPr lang="en-US" dirty="0"/>
          </a:p>
        </p:txBody>
      </p:sp>
    </p:spTree>
    <p:extLst>
      <p:ext uri="{BB962C8B-B14F-4D97-AF65-F5344CB8AC3E}">
        <p14:creationId xmlns:p14="http://schemas.microsoft.com/office/powerpoint/2010/main" val="144442780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720000"/>
          </a:xfrm>
          <a:prstGeom prst="rect">
            <a:avLst/>
          </a:prstGeom>
        </p:spPr>
        <p:txBody>
          <a:bodyPr vert="horz" lIns="91440" tIns="45720" rIns="91440" bIns="45720" rtlCol="0" anchor="ctr">
            <a:normAutofit/>
          </a:bodyPr>
          <a:lstStyle/>
          <a:p>
            <a:r>
              <a:rPr lang="ko-KR" altLang="en-US" dirty="0"/>
              <a:t>제목을 입력하세요</a:t>
            </a:r>
            <a:r>
              <a:rPr lang="en-US" altLang="ko-KR" dirty="0"/>
              <a:t>.</a:t>
            </a:r>
            <a:endParaRPr lang="en-US" dirty="0"/>
          </a:p>
        </p:txBody>
      </p:sp>
      <p:sp>
        <p:nvSpPr>
          <p:cNvPr id="3" name="Text Placeholder 2"/>
          <p:cNvSpPr>
            <a:spLocks noGrp="1"/>
          </p:cNvSpPr>
          <p:nvPr>
            <p:ph type="body" idx="1"/>
          </p:nvPr>
        </p:nvSpPr>
        <p:spPr>
          <a:xfrm>
            <a:off x="628650" y="1216058"/>
            <a:ext cx="7886700" cy="4960905"/>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DC5E3C-E812-46A2-B119-F20CBB56C077}" type="datetime1">
              <a:rPr lang="ko-KR" altLang="en-US" smtClean="0"/>
              <a:t>2026-09-01</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ko-KR" altLang="en-US"/>
              <a:t>지능로봇시스템연구실</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B7CBBB-CC29-439D-B481-ED9AB375DBD8}" type="slidenum">
              <a:rPr lang="ko-KR" altLang="en-US" smtClean="0"/>
              <a:t>‹#›</a:t>
            </a:fld>
            <a:endParaRPr lang="ko-KR" altLang="en-US"/>
          </a:p>
        </p:txBody>
      </p:sp>
    </p:spTree>
    <p:extLst>
      <p:ext uri="{BB962C8B-B14F-4D97-AF65-F5344CB8AC3E}">
        <p14:creationId xmlns:p14="http://schemas.microsoft.com/office/powerpoint/2010/main" val="3503047764"/>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63" r:id="rId3"/>
    <p:sldLayoutId id="2147483662" r:id="rId4"/>
    <p:sldLayoutId id="2147483664" r:id="rId5"/>
    <p:sldLayoutId id="2147483665" r:id="rId6"/>
    <p:sldLayoutId id="2147483666" r:id="rId7"/>
    <p:sldLayoutId id="2147483667" r:id="rId8"/>
    <p:sldLayoutId id="2147483668" r:id="rId9"/>
  </p:sldLayoutIdLst>
  <p:hf sldNum="0" hdr="0" dt="0"/>
  <p:txStyles>
    <p:titleStyle>
      <a:lvl1pPr algn="l" defTabSz="914400" rtl="0" eaLnBrk="1" latinLnBrk="1" hangingPunct="1">
        <a:lnSpc>
          <a:spcPct val="90000"/>
        </a:lnSpc>
        <a:spcBef>
          <a:spcPct val="0"/>
        </a:spcBef>
        <a:buNone/>
        <a:defRPr sz="3600" kern="1200">
          <a:solidFill>
            <a:schemeClr val="tx1"/>
          </a:solidFill>
          <a:latin typeface="나눔고딕 ExtraBold" panose="020D0904000000000000" pitchFamily="50" charset="-127"/>
          <a:ea typeface="나눔고딕 ExtraBold" panose="020D0904000000000000"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7.png"/><Relationship Id="rId5" Type="http://schemas.microsoft.com/office/2007/relationships/media" Target="../media/media4.mp4"/><Relationship Id="rId6" Type="http://schemas.openxmlformats.org/officeDocument/2006/relationships/video" Target="../media/media4.mp4"/><Relationship Id="rId7"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9.png"/><Relationship Id="rId5" Type="http://schemas.microsoft.com/office/2007/relationships/media" Target="../media/media6.mp4"/><Relationship Id="rId6" Type="http://schemas.openxmlformats.org/officeDocument/2006/relationships/video" Target="../media/media6.mp4"/><Relationship Id="rId7"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11.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13.png"/><Relationship Id="rId5" Type="http://schemas.microsoft.com/office/2007/relationships/media" Target="../media/media9.mp4"/><Relationship Id="rId6" Type="http://schemas.openxmlformats.org/officeDocument/2006/relationships/video" Target="../media/media9.mp4"/><Relationship Id="rId7" Type="http://schemas.openxmlformats.org/officeDocument/2006/relationships/image" Target="../media/image14.png"/><Relationship Id="rId8" Type="http://schemas.microsoft.com/office/2007/relationships/media" Target="../media/media10.mp4"/><Relationship Id="rId9" Type="http://schemas.openxmlformats.org/officeDocument/2006/relationships/video" Target="../media/media10.mp4"/><Relationship Id="rId10"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chart" Target="../charts/char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1.mp4"/><Relationship Id="rId3" Type="http://schemas.openxmlformats.org/officeDocument/2006/relationships/video" Target="../media/media11.mp4"/><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2.mp4"/><Relationship Id="rId3" Type="http://schemas.openxmlformats.org/officeDocument/2006/relationships/video" Target="../media/media12.mp4"/><Relationship Id="rId4" Type="http://schemas.openxmlformats.org/officeDocument/2006/relationships/image" Target="../media/image17.png"/><Relationship Id="rId5" Type="http://schemas.microsoft.com/office/2007/relationships/media" Target="../media/media13.mp4"/><Relationship Id="rId6" Type="http://schemas.openxmlformats.org/officeDocument/2006/relationships/video" Target="../media/media13.mp4"/><Relationship Id="rId7"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4.mp4"/><Relationship Id="rId3" Type="http://schemas.openxmlformats.org/officeDocument/2006/relationships/video" Target="../media/media14.mp4"/><Relationship Id="rId4" Type="http://schemas.openxmlformats.org/officeDocument/2006/relationships/image" Target="../media/image19.png"/><Relationship Id="rId5" Type="http://schemas.microsoft.com/office/2007/relationships/media" Target="../media/media15.mp4"/><Relationship Id="rId6" Type="http://schemas.openxmlformats.org/officeDocument/2006/relationships/video" Target="../media/media15.mp4"/><Relationship Id="rId7" Type="http://schemas.openxmlformats.org/officeDocument/2006/relationships/image" Target="../media/image20.png"/><Relationship Id="rId8" Type="http://schemas.microsoft.com/office/2007/relationships/media" Target="../media/media16.mp4"/><Relationship Id="rId9" Type="http://schemas.openxmlformats.org/officeDocument/2006/relationships/video" Target="../media/media16.mp4"/><Relationship Id="rId10"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7.mp4"/><Relationship Id="rId3" Type="http://schemas.openxmlformats.org/officeDocument/2006/relationships/video" Target="../media/media17.mp4"/><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8.mp4"/><Relationship Id="rId3" Type="http://schemas.openxmlformats.org/officeDocument/2006/relationships/video" Target="../media/media18.mp4"/><Relationship Id="rId4" Type="http://schemas.openxmlformats.org/officeDocument/2006/relationships/image" Target="../media/image24.png"/><Relationship Id="rId5" Type="http://schemas.microsoft.com/office/2007/relationships/media" Target="../media/media19.mp4"/><Relationship Id="rId6" Type="http://schemas.openxmlformats.org/officeDocument/2006/relationships/video" Target="../media/media19.mp4"/><Relationship Id="rId7" Type="http://schemas.openxmlformats.org/officeDocument/2006/relationships/image" Target="../media/image25.png"/><Relationship Id="rId8" Type="http://schemas.microsoft.com/office/2007/relationships/media" Target="../media/media20.mp4"/><Relationship Id="rId9" Type="http://schemas.openxmlformats.org/officeDocument/2006/relationships/video" Target="../media/media20.mp4"/><Relationship Id="rId10"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000" b="1" i="0">
                <a:solidFill>
                  <a:srgbClr val="203864"/>
                </a:solidFill>
                <a:latin typeface="맑은 고딕"/>
                <a:ea typeface="맑은 고딕"/>
              </a:rPr>
              <a:t>뱀 로봇의 경로 추종과 gait 전환 학습</a:t>
            </a:r>
          </a:p>
        </p:txBody>
      </p:sp>
      <p:sp>
        <p:nvSpPr>
          <p:cNvPr id="3" name="Subtitle 2"/>
          <p:cNvSpPr>
            <a:spLocks noGrp="1"/>
          </p:cNvSpPr>
          <p:nvPr>
            <p:ph type="subTitle" idx="1"/>
          </p:nvPr>
        </p:nvSpPr>
        <p:spPr/>
        <p:txBody>
          <a:bodyPr/>
          <a:lstStyle/>
          <a:p>
            <a:r>
              <a:rPr sz="1200" b="0" i="0">
                <a:solidFill>
                  <a:srgbClr val="595959"/>
                </a:solidFill>
                <a:latin typeface="맑은 고딕"/>
                <a:ea typeface="맑은 고딕"/>
              </a:rPr>
              <a:t>전문가 정책 열 개에서 출발해, 전환을 스스로 다루는 정책까지 만들어 온 과정입니다. 2026년 9월 8일부터 11일까지의 기록입니다.</a:t>
            </a:r>
          </a:p>
        </p:txBody>
      </p:sp>
      <p:sp>
        <p:nvSpPr>
          <p:cNvPr id="4" name="TextBox 3"/>
          <p:cNvSpPr txBox="1"/>
          <p:nvPr/>
        </p:nvSpPr>
        <p:spPr>
          <a:xfrm>
            <a:off x="3026664" y="6355080"/>
            <a:ext cx="3090672" cy="365760"/>
          </a:xfrm>
          <a:prstGeom prst="rect">
            <a:avLst/>
          </a:prstGeom>
          <a:noFill/>
        </p:spPr>
        <p:txBody>
          <a:bodyPr wrap="square" lIns="0" rIns="0" tIns="18288" bIns="18288" anchor="t">
            <a:spAutoFit/>
          </a:bodyPr>
          <a:lstStyle/>
          <a:p>
            <a:pPr algn="ctr">
              <a:lnSpc>
                <a:spcPct val="106000"/>
              </a:lnSpc>
              <a:spcAft>
                <a:spcPts val="200"/>
              </a:spcAft>
            </a:pPr>
            <a:r>
              <a:rPr sz="1100" b="0" i="0">
                <a:solidFill>
                  <a:srgbClr val="595959"/>
                </a:solidFill>
                <a:latin typeface="맑은 고딕"/>
                <a:ea typeface="맑은 고딕"/>
              </a:rPr>
              <a:t>지능로봇시스템연구실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i="0">
                <a:solidFill>
                  <a:srgbClr val="203864"/>
                </a:solidFill>
                <a:latin typeface="맑은 고딕"/>
                <a:ea typeface="맑은 고딕"/>
              </a:rPr>
              <a:t>gait 전환 학습 (20260911) ― 연구 흐름 요약</a:t>
            </a:r>
          </a:p>
        </p:txBody>
      </p:sp>
      <p:sp>
        <p:nvSpPr>
          <p:cNvPr id="3" name="Rounded Rectangle 2"/>
          <p:cNvSpPr/>
          <p:nvPr/>
        </p:nvSpPr>
        <p:spPr>
          <a:xfrm>
            <a:off x="502920" y="1188720"/>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1</a:t>
            </a:r>
          </a:p>
        </p:txBody>
      </p:sp>
      <p:sp>
        <p:nvSpPr>
          <p:cNvPr id="5" name="TextBox 4"/>
          <p:cNvSpPr txBox="1"/>
          <p:nvPr/>
        </p:nvSpPr>
        <p:spPr>
          <a:xfrm>
            <a:off x="941832" y="1261872"/>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전문가 정책 열 개</a:t>
            </a:r>
          </a:p>
        </p:txBody>
      </p:sp>
      <p:sp>
        <p:nvSpPr>
          <p:cNvPr id="6" name="TextBox 5"/>
          <p:cNvSpPr txBox="1"/>
          <p:nvPr/>
        </p:nvSpPr>
        <p:spPr>
          <a:xfrm>
            <a:off x="594360" y="1609344"/>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여덟 방향으로 걷는 정책과, 제자리에서 도는 정책 두 개를 각각 따로 학습해 두었습니다.</a:t>
            </a:r>
          </a:p>
        </p:txBody>
      </p:sp>
      <p:sp>
        <p:nvSpPr>
          <p:cNvPr id="7" name="Rounded Rectangle 6"/>
          <p:cNvSpPr/>
          <p:nvPr/>
        </p:nvSpPr>
        <p:spPr>
          <a:xfrm>
            <a:off x="2564891" y="1188720"/>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56332"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2</a:t>
            </a:r>
          </a:p>
        </p:txBody>
      </p:sp>
      <p:sp>
        <p:nvSpPr>
          <p:cNvPr id="9" name="TextBox 8"/>
          <p:cNvSpPr txBox="1"/>
          <p:nvPr/>
        </p:nvSpPr>
        <p:spPr>
          <a:xfrm>
            <a:off x="3003803" y="1261872"/>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경로 추종 시연</a:t>
            </a:r>
          </a:p>
        </p:txBody>
      </p:sp>
      <p:sp>
        <p:nvSpPr>
          <p:cNvPr id="10" name="TextBox 9"/>
          <p:cNvSpPr txBox="1"/>
          <p:nvPr/>
        </p:nvSpPr>
        <p:spPr>
          <a:xfrm>
            <a:off x="2656332" y="1609344"/>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웨이포인트를 따라가며 전문가를 바꿔 끼우는 방식으로, 네모와 별 모양 경로를 완주했습니다.</a:t>
            </a:r>
          </a:p>
        </p:txBody>
      </p:sp>
      <p:sp>
        <p:nvSpPr>
          <p:cNvPr id="11" name="Rounded Rectangle 10"/>
          <p:cNvSpPr/>
          <p:nvPr/>
        </p:nvSpPr>
        <p:spPr>
          <a:xfrm>
            <a:off x="4626864" y="1188720"/>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18303"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3</a:t>
            </a:r>
          </a:p>
        </p:txBody>
      </p:sp>
      <p:sp>
        <p:nvSpPr>
          <p:cNvPr id="13" name="TextBox 12"/>
          <p:cNvSpPr txBox="1"/>
          <p:nvPr/>
        </p:nvSpPr>
        <p:spPr>
          <a:xfrm>
            <a:off x="5065775" y="1261872"/>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전환 문제 발견</a:t>
            </a:r>
          </a:p>
        </p:txBody>
      </p:sp>
      <p:sp>
        <p:nvSpPr>
          <p:cNvPr id="14" name="TextBox 13"/>
          <p:cNvSpPr txBox="1"/>
          <p:nvPr/>
        </p:nvSpPr>
        <p:spPr>
          <a:xfrm>
            <a:off x="4718303" y="1609344"/>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후진과 우측 정책이 이상해 보였는데, 실제 원인은 gait를 바꾸는 순간의 위상 충돌이었습니다.</a:t>
            </a:r>
          </a:p>
        </p:txBody>
      </p:sp>
      <p:sp>
        <p:nvSpPr>
          <p:cNvPr id="15" name="Rounded Rectangle 14"/>
          <p:cNvSpPr/>
          <p:nvPr/>
        </p:nvSpPr>
        <p:spPr>
          <a:xfrm>
            <a:off x="6688836" y="1188720"/>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0275"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4</a:t>
            </a:r>
          </a:p>
        </p:txBody>
      </p:sp>
      <p:sp>
        <p:nvSpPr>
          <p:cNvPr id="17" name="TextBox 16"/>
          <p:cNvSpPr txBox="1"/>
          <p:nvPr/>
        </p:nvSpPr>
        <p:spPr>
          <a:xfrm>
            <a:off x="7127748" y="1261872"/>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전환 방법 탐구</a:t>
            </a:r>
          </a:p>
        </p:txBody>
      </p:sp>
      <p:sp>
        <p:nvSpPr>
          <p:cNvPr id="18" name="TextBox 17"/>
          <p:cNvSpPr txBox="1"/>
          <p:nvPr/>
        </p:nvSpPr>
        <p:spPr>
          <a:xfrm>
            <a:off x="6780275" y="1609344"/>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페이드를 써 보고, 위상 정렬을 찾았고, 위험한 쌍에만 부드럽게 섞는 방식으로 정리했습니다.</a:t>
            </a:r>
          </a:p>
        </p:txBody>
      </p:sp>
      <p:sp>
        <p:nvSpPr>
          <p:cNvPr id="19" name="Rounded Rectangle 18"/>
          <p:cNvSpPr/>
          <p:nvPr/>
        </p:nvSpPr>
        <p:spPr>
          <a:xfrm>
            <a:off x="502920" y="2779776"/>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4360" y="2871216"/>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5</a:t>
            </a:r>
          </a:p>
        </p:txBody>
      </p:sp>
      <p:sp>
        <p:nvSpPr>
          <p:cNvPr id="21" name="TextBox 20"/>
          <p:cNvSpPr txBox="1"/>
          <p:nvPr/>
        </p:nvSpPr>
        <p:spPr>
          <a:xfrm>
            <a:off x="941832" y="2852928"/>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방향 화살표 표시</a:t>
            </a:r>
          </a:p>
        </p:txBody>
      </p:sp>
      <p:sp>
        <p:nvSpPr>
          <p:cNvPr id="22" name="TextBox 21"/>
          <p:cNvSpPr txBox="1"/>
          <p:nvPr/>
        </p:nvSpPr>
        <p:spPr>
          <a:xfrm>
            <a:off x="594360" y="3200400"/>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웨이포인트가 원하는 방향과 로봇이 실제로 향한 방향을 화살표로 그려 비교했습니다.</a:t>
            </a:r>
          </a:p>
        </p:txBody>
      </p:sp>
      <p:sp>
        <p:nvSpPr>
          <p:cNvPr id="23" name="Rounded Rectangle 22"/>
          <p:cNvSpPr/>
          <p:nvPr/>
        </p:nvSpPr>
        <p:spPr>
          <a:xfrm>
            <a:off x="2564891" y="2779776"/>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656332" y="2871216"/>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6</a:t>
            </a:r>
          </a:p>
        </p:txBody>
      </p:sp>
      <p:sp>
        <p:nvSpPr>
          <p:cNvPr id="25" name="TextBox 24"/>
          <p:cNvSpPr txBox="1"/>
          <p:nvPr/>
        </p:nvSpPr>
        <p:spPr>
          <a:xfrm>
            <a:off x="3003803" y="2852928"/>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전문가 증류</a:t>
            </a:r>
          </a:p>
        </p:txBody>
      </p:sp>
      <p:sp>
        <p:nvSpPr>
          <p:cNvPr id="26" name="TextBox 25"/>
          <p:cNvSpPr txBox="1"/>
          <p:nvPr/>
        </p:nvSpPr>
        <p:spPr>
          <a:xfrm>
            <a:off x="2656332" y="3200400"/>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전문가 열 개의 행동을 정책 하나에 옮겨 담았습니다. 열 개 중 아홉 개는 전문가와 같은 수준입니다.</a:t>
            </a:r>
          </a:p>
        </p:txBody>
      </p:sp>
      <p:sp>
        <p:nvSpPr>
          <p:cNvPr id="27" name="Rounded Rectangle 26"/>
          <p:cNvSpPr/>
          <p:nvPr/>
        </p:nvSpPr>
        <p:spPr>
          <a:xfrm>
            <a:off x="4626864" y="2779776"/>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18303" y="2871216"/>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7</a:t>
            </a:r>
          </a:p>
        </p:txBody>
      </p:sp>
      <p:sp>
        <p:nvSpPr>
          <p:cNvPr id="29" name="TextBox 28"/>
          <p:cNvSpPr txBox="1"/>
          <p:nvPr/>
        </p:nvSpPr>
        <p:spPr>
          <a:xfrm>
            <a:off x="5065775" y="2852928"/>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전환 학습</a:t>
            </a:r>
          </a:p>
        </p:txBody>
      </p:sp>
      <p:sp>
        <p:nvSpPr>
          <p:cNvPr id="30" name="TextBox 29"/>
          <p:cNvSpPr txBox="1"/>
          <p:nvPr/>
        </p:nvSpPr>
        <p:spPr>
          <a:xfrm>
            <a:off x="4718303" y="3200400"/>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무작위로 명령이 바뀌는 환경에서 정책 하나를 세 단계 더 학습했습니다.</a:t>
            </a:r>
          </a:p>
        </p:txBody>
      </p:sp>
      <p:sp>
        <p:nvSpPr>
          <p:cNvPr id="31" name="Rounded Rectangle 30"/>
          <p:cNvSpPr/>
          <p:nvPr/>
        </p:nvSpPr>
        <p:spPr>
          <a:xfrm>
            <a:off x="6688836" y="2779776"/>
            <a:ext cx="1952243" cy="14813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780275" y="2871216"/>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8</a:t>
            </a:r>
          </a:p>
        </p:txBody>
      </p:sp>
      <p:sp>
        <p:nvSpPr>
          <p:cNvPr id="33" name="TextBox 32"/>
          <p:cNvSpPr txBox="1"/>
          <p:nvPr/>
        </p:nvSpPr>
        <p:spPr>
          <a:xfrm>
            <a:off x="7127748" y="2852928"/>
            <a:ext cx="1421891"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전문가 이어 학습</a:t>
            </a:r>
          </a:p>
        </p:txBody>
      </p:sp>
      <p:sp>
        <p:nvSpPr>
          <p:cNvPr id="34" name="TextBox 33"/>
          <p:cNvSpPr txBox="1"/>
          <p:nvPr/>
        </p:nvSpPr>
        <p:spPr>
          <a:xfrm>
            <a:off x="6780275" y="3200400"/>
            <a:ext cx="1769363" cy="1024128"/>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전문가가 움직이던 상태에서 시작하도록 파일럿 네 번을 돌렸습니다. 학습보다 시작 위상 규칙이 더 큰 차이를 만들었습니다.</a:t>
            </a:r>
          </a:p>
        </p:txBody>
      </p:sp>
      <p:sp>
        <p:nvSpPr>
          <p:cNvPr id="35" name="Rounded Rectangle 34"/>
          <p:cNvSpPr/>
          <p:nvPr/>
        </p:nvSpPr>
        <p:spPr>
          <a:xfrm>
            <a:off x="502920" y="4434840"/>
            <a:ext cx="8138159" cy="10515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2648" y="44988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이 연구의 한 줄 요약</a:t>
            </a:r>
          </a:p>
        </p:txBody>
      </p:sp>
      <p:sp>
        <p:nvSpPr>
          <p:cNvPr id="37" name="TextBox 36"/>
          <p:cNvSpPr txBox="1"/>
          <p:nvPr/>
        </p:nvSpPr>
        <p:spPr>
          <a:xfrm>
            <a:off x="612648" y="4764024"/>
            <a:ext cx="7918703" cy="685799"/>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우리 로봇은 방향을 gait가 정하고, 힘의 세기는 정책이 정합니다. 그래서 전환이 어려운 이유는 gait의 부호가 갑자기 바뀌기 때문입니다.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먼저 위상 정렬로 그 충격을 줄였고, 다음에는 정책이 전환을 스스로 다루도록 학습시켰습니다.</a:t>
            </a:r>
          </a:p>
        </p:txBody>
      </p:sp>
      <p:sp>
        <p:nvSpPr>
          <p:cNvPr id="38" name="TextBox 37"/>
          <p:cNvSpPr txBox="1"/>
          <p:nvPr/>
        </p:nvSpPr>
        <p:spPr>
          <a:xfrm>
            <a:off x="502920" y="5577840"/>
            <a:ext cx="8138159" cy="64008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이 자료의 숫자는 모두 기록 파일에서 가져왔습니다. 영상은 슬라이드에 들어 있어서 누르면 재생됩니다.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배경 ① 기본 개념과 학습 방법</a:t>
            </a:r>
          </a:p>
        </p:txBody>
      </p:sp>
      <p:sp>
        <p:nvSpPr>
          <p:cNvPr id="3" name="Rounded Rectangle 2"/>
          <p:cNvSpPr/>
          <p:nvPr/>
        </p:nvSpPr>
        <p:spPr>
          <a:xfrm>
            <a:off x="502920" y="1188720"/>
            <a:ext cx="3931920" cy="21488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252728"/>
            <a:ext cx="3657600"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gait 분해 방식이란</a:t>
            </a:r>
          </a:p>
        </p:txBody>
      </p:sp>
      <p:sp>
        <p:nvSpPr>
          <p:cNvPr id="5" name="Rounded Rectangle 4"/>
          <p:cNvSpPr/>
          <p:nvPr/>
        </p:nvSpPr>
        <p:spPr>
          <a:xfrm>
            <a:off x="640080" y="1600200"/>
            <a:ext cx="1005840" cy="960120"/>
          </a:xfrm>
          <a:prstGeom prst="roundRect">
            <a:avLst>
              <a:gd name="adj" fmla="val 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45920"/>
            <a:ext cx="1005840" cy="274320"/>
          </a:xfrm>
          <a:prstGeom prst="rect">
            <a:avLst/>
          </a:prstGeom>
          <a:noFill/>
        </p:spPr>
        <p:txBody>
          <a:bodyPr wrap="square" lIns="0" rIns="0" tIns="18288" bIns="18288" anchor="t">
            <a:spAutoFit/>
          </a:bodyPr>
          <a:lstStyle/>
          <a:p>
            <a:pPr algn="ctr">
              <a:lnSpc>
                <a:spcPct val="106000"/>
              </a:lnSpc>
              <a:spcAft>
                <a:spcPts val="200"/>
              </a:spcAft>
            </a:pPr>
            <a:r>
              <a:rPr sz="900" b="1" i="0">
                <a:solidFill>
                  <a:srgbClr val="FFFFFF"/>
                </a:solidFill>
                <a:latin typeface="맑은 고딕"/>
                <a:ea typeface="맑은 고딕"/>
              </a:rPr>
              <a:t>정책</a:t>
            </a:r>
          </a:p>
        </p:txBody>
      </p:sp>
      <p:sp>
        <p:nvSpPr>
          <p:cNvPr id="7" name="TextBox 6"/>
          <p:cNvSpPr txBox="1"/>
          <p:nvPr/>
        </p:nvSpPr>
        <p:spPr>
          <a:xfrm>
            <a:off x="640080" y="1920240"/>
            <a:ext cx="1005840" cy="594360"/>
          </a:xfrm>
          <a:prstGeom prst="rect">
            <a:avLst/>
          </a:prstGeom>
          <a:noFill/>
        </p:spPr>
        <p:txBody>
          <a:bodyPr wrap="square" lIns="0" rIns="0" tIns="18288" bIns="18288" anchor="t">
            <a:spAutoFit/>
          </a:bodyPr>
          <a:lstStyle/>
          <a:p>
            <a:pPr algn="ctr">
              <a:lnSpc>
                <a:spcPct val="106000"/>
              </a:lnSpc>
              <a:spcAft>
                <a:spcPts val="200"/>
              </a:spcAft>
            </a:pPr>
            <a:r>
              <a:rPr sz="800" b="0" i="0">
                <a:solidFill>
                  <a:srgbClr val="FFFFFF"/>
                </a:solidFill>
                <a:latin typeface="맑은 고딕"/>
                <a:ea typeface="맑은 고딕"/>
              </a:rPr>
              <a:t>관절마다 힘의 세기를 정합니다</a:t>
            </a:r>
          </a:p>
        </p:txBody>
      </p:sp>
      <p:sp>
        <p:nvSpPr>
          <p:cNvPr id="8" name="TextBox 7"/>
          <p:cNvSpPr txBox="1"/>
          <p:nvPr/>
        </p:nvSpPr>
        <p:spPr>
          <a:xfrm>
            <a:off x="1691640" y="1874519"/>
            <a:ext cx="274320" cy="457200"/>
          </a:xfrm>
          <a:prstGeom prst="rect">
            <a:avLst/>
          </a:prstGeom>
          <a:noFill/>
        </p:spPr>
        <p:txBody>
          <a:bodyPr wrap="square" lIns="0" rIns="0" tIns="18288" bIns="18288" anchor="t">
            <a:spAutoFit/>
          </a:bodyPr>
          <a:lstStyle/>
          <a:p>
            <a:pPr algn="ctr">
              <a:lnSpc>
                <a:spcPct val="106000"/>
              </a:lnSpc>
              <a:spcAft>
                <a:spcPts val="200"/>
              </a:spcAft>
            </a:pPr>
            <a:r>
              <a:rPr sz="1600" b="1" i="0">
                <a:solidFill>
                  <a:srgbClr val="8A8A8A"/>
                </a:solidFill>
                <a:latin typeface="맑은 고딕"/>
                <a:ea typeface="맑은 고딕"/>
              </a:rPr>
              <a:t>×</a:t>
            </a:r>
          </a:p>
        </p:txBody>
      </p:sp>
      <p:sp>
        <p:nvSpPr>
          <p:cNvPr id="9" name="Rounded Rectangle 8"/>
          <p:cNvSpPr/>
          <p:nvPr/>
        </p:nvSpPr>
        <p:spPr>
          <a:xfrm>
            <a:off x="1965960" y="1600200"/>
            <a:ext cx="1005840" cy="960120"/>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65960" y="1645920"/>
            <a:ext cx="1005840" cy="274320"/>
          </a:xfrm>
          <a:prstGeom prst="rect">
            <a:avLst/>
          </a:prstGeom>
          <a:noFill/>
        </p:spPr>
        <p:txBody>
          <a:bodyPr wrap="square" lIns="0" rIns="0" tIns="18288" bIns="18288" anchor="t">
            <a:spAutoFit/>
          </a:bodyPr>
          <a:lstStyle/>
          <a:p>
            <a:pPr algn="ctr">
              <a:lnSpc>
                <a:spcPct val="106000"/>
              </a:lnSpc>
              <a:spcAft>
                <a:spcPts val="200"/>
              </a:spcAft>
            </a:pPr>
            <a:r>
              <a:rPr sz="900" b="1" i="0">
                <a:solidFill>
                  <a:srgbClr val="FFFFFF"/>
                </a:solidFill>
                <a:latin typeface="맑은 고딕"/>
                <a:ea typeface="맑은 고딕"/>
              </a:rPr>
              <a:t>gait</a:t>
            </a:r>
          </a:p>
        </p:txBody>
      </p:sp>
      <p:sp>
        <p:nvSpPr>
          <p:cNvPr id="11" name="TextBox 10"/>
          <p:cNvSpPr txBox="1"/>
          <p:nvPr/>
        </p:nvSpPr>
        <p:spPr>
          <a:xfrm>
            <a:off x="1965960" y="1920240"/>
            <a:ext cx="1005840" cy="594360"/>
          </a:xfrm>
          <a:prstGeom prst="rect">
            <a:avLst/>
          </a:prstGeom>
          <a:noFill/>
        </p:spPr>
        <p:txBody>
          <a:bodyPr wrap="square" lIns="0" rIns="0" tIns="18288" bIns="18288" anchor="t">
            <a:spAutoFit/>
          </a:bodyPr>
          <a:lstStyle/>
          <a:p>
            <a:pPr algn="ctr">
              <a:lnSpc>
                <a:spcPct val="106000"/>
              </a:lnSpc>
              <a:spcAft>
                <a:spcPts val="200"/>
              </a:spcAft>
            </a:pPr>
            <a:r>
              <a:rPr sz="800" b="0" i="0">
                <a:solidFill>
                  <a:srgbClr val="FFFFFF"/>
                </a:solidFill>
                <a:latin typeface="맑은 고딕"/>
                <a:ea typeface="맑은 고딕"/>
              </a:rPr>
              <a:t>관절마다 힘의 방향, 즉 부호를 정합니다</a:t>
            </a:r>
          </a:p>
        </p:txBody>
      </p:sp>
      <p:sp>
        <p:nvSpPr>
          <p:cNvPr id="12" name="TextBox 11"/>
          <p:cNvSpPr txBox="1"/>
          <p:nvPr/>
        </p:nvSpPr>
        <p:spPr>
          <a:xfrm>
            <a:off x="3017520" y="1874519"/>
            <a:ext cx="274320" cy="457200"/>
          </a:xfrm>
          <a:prstGeom prst="rect">
            <a:avLst/>
          </a:prstGeom>
          <a:noFill/>
        </p:spPr>
        <p:txBody>
          <a:bodyPr wrap="square" lIns="0" rIns="0" tIns="18288" bIns="18288" anchor="t">
            <a:spAutoFit/>
          </a:bodyPr>
          <a:lstStyle/>
          <a:p>
            <a:pPr algn="ctr">
              <a:lnSpc>
                <a:spcPct val="106000"/>
              </a:lnSpc>
              <a:spcAft>
                <a:spcPts val="200"/>
              </a:spcAft>
            </a:pPr>
            <a:r>
              <a:rPr sz="1600" b="1" i="0">
                <a:solidFill>
                  <a:srgbClr val="8A8A8A"/>
                </a:solidFill>
                <a:latin typeface="맑은 고딕"/>
                <a:ea typeface="맑은 고딕"/>
              </a:rPr>
              <a:t>=</a:t>
            </a:r>
          </a:p>
        </p:txBody>
      </p:sp>
      <p:sp>
        <p:nvSpPr>
          <p:cNvPr id="13" name="Rounded Rectangle 12"/>
          <p:cNvSpPr/>
          <p:nvPr/>
        </p:nvSpPr>
        <p:spPr>
          <a:xfrm>
            <a:off x="3291839" y="1600200"/>
            <a:ext cx="1005840" cy="960120"/>
          </a:xfrm>
          <a:prstGeom prst="roundRect">
            <a:avLst>
              <a:gd name="adj" fmla="val 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39" y="1645920"/>
            <a:ext cx="1005840" cy="274320"/>
          </a:xfrm>
          <a:prstGeom prst="rect">
            <a:avLst/>
          </a:prstGeom>
          <a:noFill/>
        </p:spPr>
        <p:txBody>
          <a:bodyPr wrap="square" lIns="0" rIns="0" tIns="18288" bIns="18288" anchor="t">
            <a:spAutoFit/>
          </a:bodyPr>
          <a:lstStyle/>
          <a:p>
            <a:pPr algn="ctr">
              <a:lnSpc>
                <a:spcPct val="106000"/>
              </a:lnSpc>
              <a:spcAft>
                <a:spcPts val="200"/>
              </a:spcAft>
            </a:pPr>
            <a:r>
              <a:rPr sz="900" b="1" i="0">
                <a:solidFill>
                  <a:srgbClr val="FFFFFF"/>
                </a:solidFill>
                <a:latin typeface="맑은 고딕"/>
                <a:ea typeface="맑은 고딕"/>
              </a:rPr>
              <a:t>토크</a:t>
            </a:r>
          </a:p>
        </p:txBody>
      </p:sp>
      <p:sp>
        <p:nvSpPr>
          <p:cNvPr id="15" name="TextBox 14"/>
          <p:cNvSpPr txBox="1"/>
          <p:nvPr/>
        </p:nvSpPr>
        <p:spPr>
          <a:xfrm>
            <a:off x="3291839" y="1920240"/>
            <a:ext cx="1005840" cy="594360"/>
          </a:xfrm>
          <a:prstGeom prst="rect">
            <a:avLst/>
          </a:prstGeom>
          <a:noFill/>
        </p:spPr>
        <p:txBody>
          <a:bodyPr wrap="square" lIns="0" rIns="0" tIns="18288" bIns="18288" anchor="t">
            <a:spAutoFit/>
          </a:bodyPr>
          <a:lstStyle/>
          <a:p>
            <a:pPr algn="ctr">
              <a:lnSpc>
                <a:spcPct val="106000"/>
              </a:lnSpc>
              <a:spcAft>
                <a:spcPts val="200"/>
              </a:spcAft>
            </a:pPr>
            <a:r>
              <a:rPr sz="800" b="0" i="0">
                <a:solidFill>
                  <a:srgbClr val="FFFFFF"/>
                </a:solidFill>
                <a:latin typeface="맑은 고딕"/>
                <a:ea typeface="맑은 고딕"/>
              </a:rPr>
              <a:t>둘을 곱한 값이 실제 명령입니다</a:t>
            </a:r>
          </a:p>
        </p:txBody>
      </p:sp>
      <p:sp>
        <p:nvSpPr>
          <p:cNvPr id="16" name="TextBox 15"/>
          <p:cNvSpPr txBox="1"/>
          <p:nvPr/>
        </p:nvSpPr>
        <p:spPr>
          <a:xfrm>
            <a:off x="612648" y="2651760"/>
            <a:ext cx="3703320" cy="64008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그래서 gait를 바꾸는 순간에 부호가 뒤집히면 로봇이 흔들립니다. 이것이 전환 문제의 뿌리입니다.</a:t>
            </a:r>
          </a:p>
        </p:txBody>
      </p:sp>
      <p:sp>
        <p:nvSpPr>
          <p:cNvPr id="17" name="Rounded Rectangle 16"/>
          <p:cNvSpPr/>
          <p:nvPr/>
        </p:nvSpPr>
        <p:spPr>
          <a:xfrm>
            <a:off x="4617720" y="1188720"/>
            <a:ext cx="4023360" cy="21488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27448" y="1252728"/>
            <a:ext cx="3803904"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학습을 이어 가는 세 단계 방법</a:t>
            </a:r>
          </a:p>
        </p:txBody>
      </p:sp>
      <p:sp>
        <p:nvSpPr>
          <p:cNvPr id="19" name="TextBox 18"/>
          <p:cNvSpPr txBox="1"/>
          <p:nvPr/>
        </p:nvSpPr>
        <p:spPr>
          <a:xfrm>
            <a:off x="4727448" y="1517904"/>
            <a:ext cx="3803904" cy="178308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첫 단계는 학습률 1e-4에 에포크 2로 시작합니다. 정책이 거의 안 바뀌면 다음 단계로 갑니다.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둘째 단계는 에포크를 3으로 올립니다. 정책이 너무 많이 바뀌면 다음 단계로 갑니다.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셋째 단계는 학습률을 절반으로 줄입니다. 이 방법은 정책 열 개에서 모두 잘 맞았습니다.</a:t>
            </a:r>
          </a:p>
        </p:txBody>
      </p:sp>
      <p:sp>
        <p:nvSpPr>
          <p:cNvPr id="20" name="Rounded Rectangle 19"/>
          <p:cNvSpPr/>
          <p:nvPr/>
        </p:nvSpPr>
        <p:spPr>
          <a:xfrm>
            <a:off x="502920" y="3520440"/>
            <a:ext cx="8138159" cy="26517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5844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제자리 회전 정책은 이렇게 만들었습니다</a:t>
            </a:r>
          </a:p>
        </p:txBody>
      </p:sp>
      <p:sp>
        <p:nvSpPr>
          <p:cNvPr id="22" name="TextBox 21"/>
          <p:cNvSpPr txBox="1"/>
          <p:nvPr/>
        </p:nvSpPr>
        <p:spPr>
          <a:xfrm>
            <a:off x="612648" y="3849624"/>
            <a:ext cx="7918703" cy="228600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빠르게 도는 것보다 일정한 속도로 도는 것을 더 중요하게 보상했습니다.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시작 위치에서 20센티미터 넘게 벗어난 상태가 60스텝 이어지면 실패로 처리했습니다.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넘어지면 큰 벌점을 주고, 먼 미래까지 보도록 할인율을 0.99로 두었습니다.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정책이 보는 정보는 센서 값과 gait의 부호, 그리고 명령입니다. 모두 합쳐 97개 숫자입니다.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배경 ② 전문가 정책 열 개</a:t>
            </a:r>
          </a:p>
        </p:txBody>
      </p:sp>
      <p:sp>
        <p:nvSpPr>
          <p:cNvPr id="3" name="TextBox 2"/>
          <p:cNvSpPr txBox="1"/>
          <p:nvPr/>
        </p:nvSpPr>
        <p:spPr>
          <a:xfrm>
            <a:off x="502920" y="1188720"/>
            <a:ext cx="8138159"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열 가지 명령과 각 명령에 쓰는 gait</a:t>
            </a:r>
          </a:p>
        </p:txBody>
      </p:sp>
      <p:graphicFrame>
        <p:nvGraphicFramePr>
          <p:cNvPr id="4" name="Table 3"/>
          <p:cNvGraphicFramePr>
            <a:graphicFrameLocks noGrp="1"/>
          </p:cNvGraphicFramePr>
          <p:nvPr/>
        </p:nvGraphicFramePr>
        <p:xfrm>
          <a:off x="502920" y="1508760"/>
          <a:ext cx="8138160" cy="2011680"/>
        </p:xfrm>
        <a:graphic>
          <a:graphicData uri="http://schemas.openxmlformats.org/drawingml/2006/table">
            <a:tbl>
              <a:tblPr firstRow="1" bandRow="0">
                <a:tableStyleId>{5940675A-B579-460E-94D1-54222C63F5DA}</a:tableStyleId>
              </a:tblPr>
              <a:tblGrid>
                <a:gridCol w="1097280"/>
                <a:gridCol w="1554480"/>
                <a:gridCol w="1417320"/>
                <a:gridCol w="1097280"/>
                <a:gridCol w="1554480"/>
                <a:gridCol w="1417320"/>
              </a:tblGrid>
              <a:tr h="335280">
                <a:tc>
                  <a:txBody>
                    <a:bodyPr wrap="square"/>
                    <a:lstStyle/>
                    <a:p>
                      <a:pPr algn="l"/>
                      <a:r>
                        <a:rPr sz="950" b="1" i="0">
                          <a:solidFill>
                            <a:srgbClr val="FFFFFF"/>
                          </a:solidFill>
                          <a:latin typeface="맑은 고딕"/>
                          <a:ea typeface="맑은 고딕"/>
                        </a:rPr>
                        <a:t>명령</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방향</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gait 각도</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명령</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방향</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gait 각도</a:t>
                      </a:r>
                    </a:p>
                  </a:txBody>
                  <a:tcPr marL="45720" marR="45720" marT="13716" marB="13716" anchor="ctr">
                    <a:solidFill>
                      <a:srgbClr val="203864"/>
                    </a:solidFill>
                  </a:tcPr>
                </a:tc>
              </a:tr>
              <a:tr h="335280">
                <a:tc>
                  <a:txBody>
                    <a:bodyPr wrap="square"/>
                    <a:lstStyle/>
                    <a:p>
                      <a:pPr algn="l"/>
                      <a:r>
                        <a:rPr sz="900" b="0" i="0">
                          <a:solidFill>
                            <a:srgbClr val="262626"/>
                          </a:solidFill>
                          <a:latin typeface="맑은 고딕"/>
                          <a:ea typeface="맑은 고딕"/>
                        </a:rPr>
                        <a:t>forward</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앞으로</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backward</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뒤로</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 거꾸로 재생</a:t>
                      </a:r>
                    </a:p>
                  </a:txBody>
                  <a:tcPr marL="45720" marR="45720" marT="13716" marB="13716" anchor="ctr">
                    <a:solidFill>
                      <a:srgbClr val="FFFFFF"/>
                    </a:solidFill>
                  </a:tcPr>
                </a:tc>
              </a:tr>
              <a:tr h="335280">
                <a:tc>
                  <a:txBody>
                    <a:bodyPr wrap="square"/>
                    <a:lstStyle/>
                    <a:p>
                      <a:pPr algn="l"/>
                      <a:r>
                        <a:rPr sz="900" b="0" i="0">
                          <a:solidFill>
                            <a:srgbClr val="262626"/>
                          </a:solidFill>
                          <a:latin typeface="맑은 고딕"/>
                          <a:ea typeface="맑은 고딕"/>
                        </a:rPr>
                        <a:t>left</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왼쪽으로</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45</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diag_bl</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뒤쪽 왼쪽 대각선</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203, 거꾸로 재생</a:t>
                      </a:r>
                    </a:p>
                  </a:txBody>
                  <a:tcPr marL="45720" marR="45720" marT="13716" marB="13716" anchor="ctr">
                    <a:solidFill>
                      <a:srgbClr val="EEF3FA"/>
                    </a:solidFill>
                  </a:tcPr>
                </a:tc>
              </a:tr>
              <a:tr h="335280">
                <a:tc>
                  <a:txBody>
                    <a:bodyPr wrap="square"/>
                    <a:lstStyle/>
                    <a:p>
                      <a:pPr algn="l"/>
                      <a:r>
                        <a:rPr sz="900" b="0" i="0">
                          <a:solidFill>
                            <a:srgbClr val="262626"/>
                          </a:solidFill>
                          <a:latin typeface="맑은 고딕"/>
                          <a:ea typeface="맑은 고딕"/>
                        </a:rPr>
                        <a:t>right</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오른쪽으로</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225</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diag_br</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뒤쪽 오른쪽 대각선</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23, 거꾸로 재생</a:t>
                      </a:r>
                    </a:p>
                  </a:txBody>
                  <a:tcPr marL="45720" marR="45720" marT="13716" marB="13716" anchor="ctr">
                    <a:solidFill>
                      <a:srgbClr val="FFFFFF"/>
                    </a:solidFill>
                  </a:tcPr>
                </a:tc>
              </a:tr>
              <a:tr h="335280">
                <a:tc>
                  <a:txBody>
                    <a:bodyPr wrap="square"/>
                    <a:lstStyle/>
                    <a:p>
                      <a:pPr algn="l"/>
                      <a:r>
                        <a:rPr sz="900" b="0" i="0">
                          <a:solidFill>
                            <a:srgbClr val="262626"/>
                          </a:solidFill>
                          <a:latin typeface="맑은 고딕"/>
                          <a:ea typeface="맑은 고딕"/>
                        </a:rPr>
                        <a:t>diag_fl</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앞쪽 왼쪽 대각선</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23</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ccw</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반시계 회전</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315</a:t>
                      </a:r>
                    </a:p>
                  </a:txBody>
                  <a:tcPr marL="45720" marR="45720" marT="13716" marB="13716" anchor="ctr">
                    <a:solidFill>
                      <a:srgbClr val="EEF3FA"/>
                    </a:solidFill>
                  </a:tcPr>
                </a:tc>
              </a:tr>
              <a:tr h="335280">
                <a:tc>
                  <a:txBody>
                    <a:bodyPr wrap="square"/>
                    <a:lstStyle/>
                    <a:p>
                      <a:pPr algn="l"/>
                      <a:r>
                        <a:rPr sz="900" b="0" i="0">
                          <a:solidFill>
                            <a:srgbClr val="262626"/>
                          </a:solidFill>
                          <a:latin typeface="맑은 고딕"/>
                          <a:ea typeface="맑은 고딕"/>
                        </a:rPr>
                        <a:t>diag_fr</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앞쪽 오른쪽 대각선</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203</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cw</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시계 회전</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135</a:t>
                      </a:r>
                    </a:p>
                  </a:txBody>
                  <a:tcPr marL="45720" marR="45720" marT="13716" marB="13716" anchor="ctr">
                    <a:solidFill>
                      <a:srgbClr val="FFFFFF"/>
                    </a:solidFill>
                  </a:tcPr>
                </a:tc>
              </a:tr>
            </a:tbl>
          </a:graphicData>
        </a:graphic>
      </p:graphicFrame>
      <p:sp>
        <p:nvSpPr>
          <p:cNvPr id="5" name="Rounded Rectangle 4"/>
          <p:cNvSpPr/>
          <p:nvPr/>
        </p:nvSpPr>
        <p:spPr>
          <a:xfrm>
            <a:off x="502920" y="3703320"/>
            <a:ext cx="3977639" cy="24688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76732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gait 사이의 규칙</a:t>
            </a:r>
          </a:p>
        </p:txBody>
      </p:sp>
      <p:sp>
        <p:nvSpPr>
          <p:cNvPr id="7" name="TextBox 6"/>
          <p:cNvSpPr txBox="1"/>
          <p:nvPr/>
        </p:nvSpPr>
        <p:spPr>
          <a:xfrm>
            <a:off x="612648" y="4032504"/>
            <a:ext cx="3758183" cy="210312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좌우를 거울처럼 뒤집으려면 각도에 180도를 더하면 됩니다.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뒤로 가는 gait는 앞으로 가는 gait를 시간 순서만 거꾸로 재생한 것입니다.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시계 회전과 반시계 회전도 서로 거울 관계입니다.</a:t>
            </a:r>
          </a:p>
        </p:txBody>
      </p:sp>
      <p:sp>
        <p:nvSpPr>
          <p:cNvPr id="8" name="Rounded Rectangle 7"/>
          <p:cNvSpPr/>
          <p:nvPr/>
        </p:nvSpPr>
        <p:spPr>
          <a:xfrm>
            <a:off x="4663440" y="3703320"/>
            <a:ext cx="3977639" cy="24688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73168" y="376732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전문가들의 실력</a:t>
            </a:r>
          </a:p>
        </p:txBody>
      </p:sp>
      <p:sp>
        <p:nvSpPr>
          <p:cNvPr id="10" name="TextBox 9"/>
          <p:cNvSpPr txBox="1"/>
          <p:nvPr/>
        </p:nvSpPr>
        <p:spPr>
          <a:xfrm>
            <a:off x="4773168" y="4032504"/>
            <a:ext cx="3758183" cy="210312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걷는 정책 여덟 개는 초당 0.45미터에서 0.68미터 사이로 움직이고, 넘어지지 않습니다.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회전 정책 두 개는 초당 약 0.6라디안으로 돌고, 시작점에서 최대 25센티미터까지만 벗어납니다.</a:t>
            </a:r>
          </a:p>
          <a:p>
            <a:pPr algn="l" marL="146304" indent="-146304">
              <a:lnSpc>
                <a:spcPct val="106000"/>
              </a:lnSpc>
              <a:spcAft>
                <a:spcPts val="300"/>
              </a:spcAft>
              <a:buClr>
                <a:srgbClr val="2E75B6"/>
              </a:buClr>
              <a:buChar char="▪"/>
            </a:pPr>
            <a:r>
              <a:rPr sz="950" b="0" i="0">
                <a:solidFill>
                  <a:srgbClr val="262626"/>
                </a:solidFill>
                <a:latin typeface="맑은 고딕"/>
                <a:ea typeface="맑은 고딕"/>
              </a:rPr>
              <a:t>가장 느린 정책은 앞쪽 오른쪽 대각선입니다. 뒤에서 이 정책이 전환에 약하다는 이야기가 나옵니다.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i="0">
                <a:solidFill>
                  <a:srgbClr val="FFFFFF"/>
                </a:solidFill>
                <a:latin typeface="맑은 고딕"/>
                <a:ea typeface="맑은 고딕"/>
              </a:rPr>
              <a:t>Part 1. 경로 추종 시연과 전환 방법</a:t>
            </a:r>
          </a:p>
        </p:txBody>
      </p:sp>
      <p:sp>
        <p:nvSpPr>
          <p:cNvPr id="3" name="Text Placeholder 2"/>
          <p:cNvSpPr>
            <a:spLocks noGrp="1"/>
          </p:cNvSpPr>
          <p:nvPr>
            <p:ph type="body" idx="1"/>
          </p:nvPr>
        </p:nvSpPr>
        <p:spPr/>
        <p:txBody>
          <a:bodyPr/>
          <a:lstStyle/>
          <a:p>
            <a:r>
              <a:rPr sz="1200" b="0" i="0">
                <a:solidFill>
                  <a:srgbClr val="DCE6F2"/>
                </a:solidFill>
                <a:latin typeface="맑은 고딕"/>
                <a:ea typeface="맑은 고딕"/>
              </a:rPr>
              <a:t>전문가 열 개를 바꿔 끼우며 네모와 별을 그려 보고, 전환이 왜 어려운지 알아본 과정입니다.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i="0">
                <a:solidFill>
                  <a:srgbClr val="203864"/>
                </a:solidFill>
                <a:latin typeface="맑은 고딕"/>
                <a:ea typeface="맑은 고딕"/>
              </a:rPr>
              <a:t>gait 전환 학습 (20260911) ― 경로 추종 시연</a:t>
            </a:r>
          </a:p>
        </p:txBody>
      </p:sp>
      <p:sp>
        <p:nvSpPr>
          <p:cNvPr id="3" name="Rounded Rectangle 2"/>
          <p:cNvSpPr/>
          <p:nvPr/>
        </p:nvSpPr>
        <p:spPr>
          <a:xfrm>
            <a:off x="475488" y="1161288"/>
            <a:ext cx="4261103" cy="242087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ath_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4206240" cy="2366010"/>
          </a:xfrm>
          <a:prstGeom prst="rect">
            <a:avLst/>
          </a:prstGeom>
        </p:spPr>
      </p:pic>
      <p:sp>
        <p:nvSpPr>
          <p:cNvPr id="5" name="TextBox 4"/>
          <p:cNvSpPr txBox="1"/>
          <p:nvPr/>
        </p:nvSpPr>
        <p:spPr>
          <a:xfrm>
            <a:off x="502920" y="3600450"/>
            <a:ext cx="42062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네모 경로를 도는 영상입니다. 초록 화살표가 목표 방향입니다.</a:t>
            </a:r>
          </a:p>
        </p:txBody>
      </p:sp>
      <p:sp>
        <p:nvSpPr>
          <p:cNvPr id="6" name="Rounded Rectangle 5"/>
          <p:cNvSpPr/>
          <p:nvPr/>
        </p:nvSpPr>
        <p:spPr>
          <a:xfrm>
            <a:off x="4892040" y="1188720"/>
            <a:ext cx="3749039" cy="25146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1768" y="1252728"/>
            <a:ext cx="35295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어떻게 만들었나</a:t>
            </a:r>
          </a:p>
        </p:txBody>
      </p:sp>
      <p:sp>
        <p:nvSpPr>
          <p:cNvPr id="8" name="TextBox 7"/>
          <p:cNvSpPr txBox="1"/>
          <p:nvPr/>
        </p:nvSpPr>
        <p:spPr>
          <a:xfrm>
            <a:off x="5001768" y="1517904"/>
            <a:ext cx="3529583" cy="21488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로봇은 다음 웨이포인트가 어느 쪽에 있는지 보고, 여덟 방향 중 가장 가까운 명령을 고릅니다.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명령은 25스텝마다 다시 정합니다. 목표에 35센티미터 안으로 오면 다음 점으로 넘어갑니다.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카메라는 로봇의 무게중심을 따라가고, 지나온 길은 빨간 점으로 남깁니다.</a:t>
            </a:r>
          </a:p>
        </p:txBody>
      </p:sp>
      <p:sp>
        <p:nvSpPr>
          <p:cNvPr id="9" name="Rounded Rectangle 8"/>
          <p:cNvSpPr/>
          <p:nvPr/>
        </p:nvSpPr>
        <p:spPr>
          <a:xfrm>
            <a:off x="502920" y="3902202"/>
            <a:ext cx="4206240" cy="778794"/>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966210"/>
            <a:ext cx="39867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1" name="TextBox 10"/>
          <p:cNvSpPr txBox="1"/>
          <p:nvPr/>
        </p:nvSpPr>
        <p:spPr>
          <a:xfrm>
            <a:off x="612648" y="4231386"/>
            <a:ext cx="3986783" cy="413034"/>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전문가 열 개와 간단한 추종기만으로 계획한 경로를 따라갈 수 있는지 보고 싶었습니다.</a:t>
            </a:r>
          </a:p>
        </p:txBody>
      </p:sp>
      <p:sp>
        <p:nvSpPr>
          <p:cNvPr id="12" name="Rounded Rectangle 11"/>
          <p:cNvSpPr/>
          <p:nvPr/>
        </p:nvSpPr>
        <p:spPr>
          <a:xfrm>
            <a:off x="502920" y="4772436"/>
            <a:ext cx="4206240" cy="1445483"/>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4836444"/>
            <a:ext cx="39867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4" name="TextBox 13"/>
          <p:cNvSpPr txBox="1"/>
          <p:nvPr/>
        </p:nvSpPr>
        <p:spPr>
          <a:xfrm>
            <a:off x="612648" y="5101620"/>
            <a:ext cx="3986783" cy="1079723"/>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00" b="0" i="0">
                <a:solidFill>
                  <a:srgbClr val="FFFFFF"/>
                </a:solidFill>
                <a:latin typeface="맑은 고딕"/>
                <a:ea typeface="맑은 고딕"/>
              </a:rPr>
              <a:t>네모 경로는 평균 19센티미터 오차로 완주했습니다. 전환은 다섯 번이었습니다.</a:t>
            </a:r>
          </a:p>
          <a:p>
            <a:pPr algn="l" marL="146304" indent="-146304">
              <a:lnSpc>
                <a:spcPct val="106000"/>
              </a:lnSpc>
              <a:spcAft>
                <a:spcPts val="300"/>
              </a:spcAft>
              <a:buClr>
                <a:srgbClr val="9DC3E6"/>
              </a:buClr>
              <a:buChar char="▪"/>
            </a:pPr>
            <a:r>
              <a:rPr sz="900" b="0" i="0">
                <a:solidFill>
                  <a:srgbClr val="FFFFFF"/>
                </a:solidFill>
                <a:latin typeface="맑은 고딕"/>
                <a:ea typeface="맑은 고딕"/>
              </a:rPr>
              <a:t>별 경로도 평균 33센티미터 오차로 완주했습니다.</a:t>
            </a:r>
          </a:p>
        </p:txBody>
      </p:sp>
      <p:sp>
        <p:nvSpPr>
          <p:cNvPr id="15" name="Rounded Rectangle 14"/>
          <p:cNvSpPr/>
          <p:nvPr/>
        </p:nvSpPr>
        <p:spPr>
          <a:xfrm>
            <a:off x="4892040" y="3840480"/>
            <a:ext cx="3749039" cy="23774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904488"/>
            <a:ext cx="35295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결과 파일은 어디에 있나</a:t>
            </a:r>
          </a:p>
        </p:txBody>
      </p:sp>
      <p:sp>
        <p:nvSpPr>
          <p:cNvPr id="17" name="TextBox 16"/>
          <p:cNvSpPr txBox="1"/>
          <p:nvPr/>
        </p:nvSpPr>
        <p:spPr>
          <a:xfrm>
            <a:off x="5001768" y="4169664"/>
            <a:ext cx="3529583" cy="201168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runs 폴더 아래 path_follow_demo에 시각별로 폴더가 생깁니다.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폴더마다 영상, 궤적 그림, 그리고 어떤 실험이었는지 적은 result.txt가 있습니다.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문제 발견: 정책이 아니라 전환이 원인</a:t>
            </a:r>
          </a:p>
        </p:txBody>
      </p:sp>
      <p:graphicFrame>
        <p:nvGraphicFramePr>
          <p:cNvPr id="3" name="Table 2"/>
          <p:cNvGraphicFramePr>
            <a:graphicFrameLocks noGrp="1"/>
          </p:cNvGraphicFramePr>
          <p:nvPr/>
        </p:nvGraphicFramePr>
        <p:xfrm>
          <a:off x="502920" y="1188720"/>
          <a:ext cx="8138160" cy="2103115"/>
        </p:xfrm>
        <a:graphic>
          <a:graphicData uri="http://schemas.openxmlformats.org/drawingml/2006/table">
            <a:tbl>
              <a:tblPr firstRow="1" bandRow="0">
                <a:tableStyleId>{5940675A-B579-460E-94D1-54222C63F5DA}</a:tableStyleId>
              </a:tblPr>
              <a:tblGrid>
                <a:gridCol w="3474720"/>
                <a:gridCol w="4663440"/>
              </a:tblGrid>
              <a:tr h="420623">
                <a:tc>
                  <a:txBody>
                    <a:bodyPr wrap="square"/>
                    <a:lstStyle/>
                    <a:p>
                      <a:pPr algn="l"/>
                      <a:r>
                        <a:rPr sz="950" b="1" i="0">
                          <a:solidFill>
                            <a:srgbClr val="FFFFFF"/>
                          </a:solidFill>
                          <a:latin typeface="맑은 고딕"/>
                          <a:ea typeface="맑은 고딕"/>
                        </a:rPr>
                        <a:t>무엇을 했나</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결과</a:t>
                      </a:r>
                    </a:p>
                  </a:txBody>
                  <a:tcPr marL="45720" marR="45720" marT="13716" marB="13716" anchor="ctr">
                    <a:solidFill>
                      <a:srgbClr val="203864"/>
                    </a:solidFill>
                  </a:tcPr>
                </a:tc>
              </a:tr>
              <a:tr h="420623">
                <a:tc>
                  <a:txBody>
                    <a:bodyPr wrap="square"/>
                    <a:lstStyle/>
                    <a:p>
                      <a:pPr algn="l"/>
                      <a:r>
                        <a:rPr sz="900" b="0" i="0">
                          <a:solidFill>
                            <a:srgbClr val="262626"/>
                          </a:solidFill>
                          <a:latin typeface="맑은 고딕"/>
                          <a:ea typeface="맑은 고딕"/>
                        </a:rPr>
                        <a:t>후진 정책과 우측 정책을 각각 따로 돌려 봤습니다.</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방향 오차가 1.5도 안쪽이라 정책은 정상이었습니다.</a:t>
                      </a:r>
                    </a:p>
                  </a:txBody>
                  <a:tcPr marL="45720" marR="45720" marT="13716" marB="13716" anchor="ctr">
                    <a:solidFill>
                      <a:srgbClr val="FFFFFF"/>
                    </a:solidFill>
                  </a:tcPr>
                </a:tc>
              </a:tr>
              <a:tr h="420623">
                <a:tc>
                  <a:txBody>
                    <a:bodyPr wrap="square"/>
                    <a:lstStyle/>
                    <a:p>
                      <a:pPr algn="l"/>
                      <a:r>
                        <a:rPr sz="900" b="0" i="0">
                          <a:solidFill>
                            <a:srgbClr val="262626"/>
                          </a:solidFill>
                          <a:latin typeface="맑은 고딕"/>
                          <a:ea typeface="맑은 고딕"/>
                        </a:rPr>
                        <a:t>56가지 전환 쌍을 모두 시험했습니다.</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12쌍에서 로봇이 뒤집혔습니다. 거울 관계인 쌍이 가장 심했습니다.</a:t>
                      </a:r>
                    </a:p>
                  </a:txBody>
                  <a:tcPr marL="45720" marR="45720" marT="13716" marB="13716" anchor="ctr">
                    <a:solidFill>
                      <a:srgbClr val="EEF3FA"/>
                    </a:solidFill>
                  </a:tcPr>
                </a:tc>
              </a:tr>
              <a:tr h="420623">
                <a:tc>
                  <a:txBody>
                    <a:bodyPr wrap="square"/>
                    <a:lstStyle/>
                    <a:p>
                      <a:pPr algn="l"/>
                      <a:r>
                        <a:rPr sz="900" b="0" i="0">
                          <a:solidFill>
                            <a:srgbClr val="262626"/>
                          </a:solidFill>
                          <a:latin typeface="맑은 고딕"/>
                          <a:ea typeface="맑은 고딕"/>
                        </a:rPr>
                        <a:t>새 gait를 항상 처음 위상에서 시작해 봤습니다.</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12쌍 중 9쌍이 해결됐고, 3쌍이 남았습니다.</a:t>
                      </a:r>
                    </a:p>
                  </a:txBody>
                  <a:tcPr marL="45720" marR="45720" marT="13716" marB="13716" anchor="ctr">
                    <a:solidFill>
                      <a:srgbClr val="FFFFFF"/>
                    </a:solidFill>
                  </a:tcPr>
                </a:tc>
              </a:tr>
              <a:tr h="420623">
                <a:tc>
                  <a:txBody>
                    <a:bodyPr wrap="square"/>
                    <a:lstStyle/>
                    <a:p>
                      <a:pPr algn="l"/>
                      <a:r>
                        <a:rPr sz="900" b="0" i="0">
                          <a:solidFill>
                            <a:srgbClr val="262626"/>
                          </a:solidFill>
                          <a:latin typeface="맑은 고딕"/>
                          <a:ea typeface="맑은 고딕"/>
                        </a:rPr>
                        <a:t>남은 세 쌍을 살펴봤습니다.</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뒤로 가는 gait에서 앞으로 가는 gait로 바뀌는 쌍이었습니다. 오차가 152도, 61도, 156도였습니다.</a:t>
                      </a:r>
                    </a:p>
                  </a:txBody>
                  <a:tcPr marL="45720" marR="45720" marT="13716" marB="13716" anchor="ctr">
                    <a:solidFill>
                      <a:srgbClr val="EEF3FA"/>
                    </a:solidFill>
                  </a:tcPr>
                </a:tc>
              </a:tr>
            </a:tbl>
          </a:graphicData>
        </a:graphic>
      </p:graphicFrame>
      <p:sp>
        <p:nvSpPr>
          <p:cNvPr id="4" name="Rounded Rectangle 3"/>
          <p:cNvSpPr/>
          <p:nvPr/>
        </p:nvSpPr>
        <p:spPr>
          <a:xfrm>
            <a:off x="502920" y="3474720"/>
            <a:ext cx="3977639" cy="2743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3538727"/>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왜 이 쌍들이 위험한가</a:t>
            </a:r>
          </a:p>
        </p:txBody>
      </p:sp>
      <p:sp>
        <p:nvSpPr>
          <p:cNvPr id="6" name="TextBox 5"/>
          <p:cNvSpPr txBox="1"/>
          <p:nvPr/>
        </p:nvSpPr>
        <p:spPr>
          <a:xfrm>
            <a:off x="612648" y="3803904"/>
            <a:ext cx="3758183" cy="23774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뒤로 가는 gait는 앞으로 가는 gait를 거꾸로 재생한 것입니다. 그래서 바꾸는 순간 여러 관절의 힘 방향이 한꺼번에 뒤집힙니다.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몸은 아직 이전 움직임의 관성을 갖고 있어서, 힘 방향이 갑자기 바뀌면 그대로 뒤집힙니다.</a:t>
            </a:r>
          </a:p>
        </p:txBody>
      </p:sp>
      <p:sp>
        <p:nvSpPr>
          <p:cNvPr id="7" name="Rounded Rectangle 6"/>
          <p:cNvSpPr/>
          <p:nvPr/>
        </p:nvSpPr>
        <p:spPr>
          <a:xfrm>
            <a:off x="4663440" y="3474720"/>
            <a:ext cx="3977639" cy="1042416"/>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73168" y="3538727"/>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9" name="TextBox 8"/>
          <p:cNvSpPr txBox="1"/>
          <p:nvPr/>
        </p:nvSpPr>
        <p:spPr>
          <a:xfrm>
            <a:off x="4773168" y="3803904"/>
            <a:ext cx="3758183" cy="676656"/>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정책이 잘못된 것인지, 전환 방법이 잘못된 것인지 가려내고 싶었습니다.</a:t>
            </a:r>
          </a:p>
        </p:txBody>
      </p:sp>
      <p:sp>
        <p:nvSpPr>
          <p:cNvPr id="10" name="Rounded Rectangle 9"/>
          <p:cNvSpPr/>
          <p:nvPr/>
        </p:nvSpPr>
        <p:spPr>
          <a:xfrm>
            <a:off x="4663440" y="4608575"/>
            <a:ext cx="3977639" cy="1609343"/>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73168" y="4672583"/>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2" name="TextBox 11"/>
          <p:cNvSpPr txBox="1"/>
          <p:nvPr/>
        </p:nvSpPr>
        <p:spPr>
          <a:xfrm>
            <a:off x="4773168" y="4937759"/>
            <a:ext cx="3758183" cy="1243584"/>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00" b="0" i="0">
                <a:solidFill>
                  <a:srgbClr val="FFFFFF"/>
                </a:solidFill>
                <a:latin typeface="맑은 고딕"/>
                <a:ea typeface="맑은 고딕"/>
              </a:rPr>
              <a:t>정책은 문제가 없었습니다. 문제는 gait를 바꾸는 순간을 다루는 방법이었습니다.</a:t>
            </a:r>
          </a:p>
          <a:p>
            <a:pPr algn="l" marL="146304" indent="-146304">
              <a:lnSpc>
                <a:spcPct val="106000"/>
              </a:lnSpc>
              <a:spcAft>
                <a:spcPts val="300"/>
              </a:spcAft>
              <a:buClr>
                <a:srgbClr val="9DC3E6"/>
              </a:buClr>
              <a:buChar char="▪"/>
            </a:pPr>
            <a:r>
              <a:rPr sz="900" b="0" i="0">
                <a:solidFill>
                  <a:srgbClr val="FFFFFF"/>
                </a:solidFill>
                <a:latin typeface="맑은 고딕"/>
                <a:ea typeface="맑은 고딕"/>
              </a:rPr>
              <a:t>전환 문제는 두 gait의 위상과 부호를 맞추는 문제로 다시 정의했습니다.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전환 방법 ① 페이드</a:t>
            </a:r>
          </a:p>
        </p:txBody>
      </p:sp>
      <p:sp>
        <p:nvSpPr>
          <p:cNvPr id="3" name="Rounded Rectangle 2"/>
          <p:cNvSpPr/>
          <p:nvPr/>
        </p:nvSpPr>
        <p:spPr>
          <a:xfrm>
            <a:off x="475488" y="1161288"/>
            <a:ext cx="4078224" cy="231800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bl_to_right_fade_1p25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4023360" cy="2263140"/>
          </a:xfrm>
          <a:prstGeom prst="rect">
            <a:avLst/>
          </a:prstGeom>
        </p:spPr>
      </p:pic>
      <p:sp>
        <p:nvSpPr>
          <p:cNvPr id="5" name="TextBox 4"/>
          <p:cNvSpPr txBox="1"/>
          <p:nvPr/>
        </p:nvSpPr>
        <p:spPr>
          <a:xfrm>
            <a:off x="502920" y="3497580"/>
            <a:ext cx="40233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힘을 줄였다가 gait를 바꾸고 다시 올리는 페이드 영상입니다.</a:t>
            </a:r>
          </a:p>
        </p:txBody>
      </p:sp>
      <p:graphicFrame>
        <p:nvGraphicFramePr>
          <p:cNvPr id="6" name="Table 5"/>
          <p:cNvGraphicFramePr>
            <a:graphicFrameLocks noGrp="1"/>
          </p:cNvGraphicFramePr>
          <p:nvPr/>
        </p:nvGraphicFramePr>
        <p:xfrm>
          <a:off x="4709160" y="1188720"/>
          <a:ext cx="3931920" cy="2514600"/>
        </p:xfrm>
        <a:graphic>
          <a:graphicData uri="http://schemas.openxmlformats.org/drawingml/2006/table">
            <a:tbl>
              <a:tblPr firstRow="1" bandRow="0">
                <a:tableStyleId>{5940675A-B579-460E-94D1-54222C63F5DA}</a:tableStyleId>
              </a:tblPr>
              <a:tblGrid>
                <a:gridCol w="1554480"/>
                <a:gridCol w="2377440"/>
              </a:tblGrid>
              <a:tr h="419100">
                <a:tc>
                  <a:txBody>
                    <a:bodyPr wrap="square"/>
                    <a:lstStyle/>
                    <a:p>
                      <a:pPr algn="l"/>
                      <a:r>
                        <a:rPr sz="900" b="1" i="0">
                          <a:solidFill>
                            <a:srgbClr val="FFFFFF"/>
                          </a:solidFill>
                          <a:latin typeface="맑은 고딕"/>
                          <a:ea typeface="맑은 고딕"/>
                        </a:rPr>
                        <a:t>방법</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결과</a:t>
                      </a:r>
                    </a:p>
                  </a:txBody>
                  <a:tcPr marL="45720" marR="45720" marT="13716" marB="13716" anchor="ctr">
                    <a:solidFill>
                      <a:srgbClr val="203864"/>
                    </a:solidFill>
                  </a:tcPr>
                </a:tc>
              </a:tr>
              <a:tr h="419100">
                <a:tc>
                  <a:txBody>
                    <a:bodyPr wrap="square"/>
                    <a:lstStyle/>
                    <a:p>
                      <a:pPr algn="l"/>
                      <a:r>
                        <a:rPr sz="850" b="0" i="0">
                          <a:solidFill>
                            <a:srgbClr val="262626"/>
                          </a:solidFill>
                          <a:latin typeface="맑은 고딕"/>
                          <a:ea typeface="맑은 고딕"/>
                        </a:rPr>
                        <a:t>두 정책의 행동을 섞기</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오히려 나빠졌습니다. 옛 정책이 새 gait 위에서 엉뚱한 힘을 냈기 때문입니다.</a:t>
                      </a:r>
                    </a:p>
                  </a:txBody>
                  <a:tcPr marL="45720" marR="45720" marT="13716" marB="13716" anchor="ctr">
                    <a:solidFill>
                      <a:srgbClr val="FFFFFF"/>
                    </a:solidFill>
                  </a:tcPr>
                </a:tc>
              </a:tr>
              <a:tr h="419100">
                <a:tc>
                  <a:txBody>
                    <a:bodyPr wrap="square"/>
                    <a:lstStyle/>
                    <a:p>
                      <a:pPr algn="l"/>
                      <a:r>
                        <a:rPr sz="850" b="0" i="0">
                          <a:solidFill>
                            <a:srgbClr val="262626"/>
                          </a:solidFill>
                          <a:latin typeface="맑은 고딕"/>
                          <a:ea typeface="맑은 고딕"/>
                        </a:rPr>
                        <a:t>힘을 줄이고, 멈추고, 바꾸고, 다시 올리기</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위험한 세 쌍이 정상으로 돌아왔습니다.</a:t>
                      </a:r>
                    </a:p>
                  </a:txBody>
                  <a:tcPr marL="45720" marR="45720" marT="13716" marB="13716" anchor="ctr">
                    <a:solidFill>
                      <a:srgbClr val="EEF3FA"/>
                    </a:solidFill>
                  </a:tcPr>
                </a:tc>
              </a:tr>
              <a:tr h="419100">
                <a:tc>
                  <a:txBody>
                    <a:bodyPr wrap="square"/>
                    <a:lstStyle/>
                    <a:p>
                      <a:pPr algn="l"/>
                      <a:r>
                        <a:rPr sz="850" b="0" i="0">
                          <a:solidFill>
                            <a:srgbClr val="262626"/>
                          </a:solidFill>
                          <a:latin typeface="맑은 고딕"/>
                          <a:ea typeface="맑은 고딕"/>
                        </a:rPr>
                        <a:t>멈추는 시간을 길게 (2.75초)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15번 중 12번만 성공했습니다.</a:t>
                      </a:r>
                    </a:p>
                  </a:txBody>
                  <a:tcPr marL="45720" marR="45720" marT="13716" marB="13716" anchor="ctr">
                    <a:solidFill>
                      <a:srgbClr val="FFFFFF"/>
                    </a:solidFill>
                  </a:tcPr>
                </a:tc>
              </a:tr>
              <a:tr h="419100">
                <a:tc>
                  <a:txBody>
                    <a:bodyPr wrap="square"/>
                    <a:lstStyle/>
                    <a:p>
                      <a:pPr algn="l"/>
                      <a:r>
                        <a:rPr sz="850" b="0" i="0">
                          <a:solidFill>
                            <a:srgbClr val="262626"/>
                          </a:solidFill>
                          <a:latin typeface="맑은 고딕"/>
                          <a:ea typeface="맑은 고딕"/>
                        </a:rPr>
                        <a:t>멈추는 시간을 짧게 (1.25초)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15번 모두 성공했습니다. 이 값을 골랐습니다.</a:t>
                      </a:r>
                    </a:p>
                  </a:txBody>
                  <a:tcPr marL="45720" marR="45720" marT="13716" marB="13716" anchor="ctr">
                    <a:solidFill>
                      <a:srgbClr val="EEF3FA"/>
                    </a:solidFill>
                  </a:tcPr>
                </a:tc>
              </a:tr>
              <a:tr h="419100">
                <a:tc>
                  <a:txBody>
                    <a:bodyPr wrap="square"/>
                    <a:lstStyle/>
                    <a:p>
                      <a:pPr algn="l"/>
                      <a:r>
                        <a:rPr sz="850" b="0" i="0">
                          <a:solidFill>
                            <a:srgbClr val="262626"/>
                          </a:solidFill>
                          <a:latin typeface="맑은 고딕"/>
                          <a:ea typeface="맑은 고딕"/>
                        </a:rPr>
                        <a:t>모든 전환에 페이드 적용</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네모 경로 오차가 0.19미터에서 0.83미터로 나빠졌습니다.</a:t>
                      </a:r>
                    </a:p>
                  </a:txBody>
                  <a:tcPr marL="45720" marR="45720" marT="13716" marB="13716" anchor="ctr">
                    <a:solidFill>
                      <a:srgbClr val="FFFFFF"/>
                    </a:solidFill>
                  </a:tcPr>
                </a:tc>
              </a:tr>
            </a:tbl>
          </a:graphicData>
        </a:graphic>
      </p:graphicFrame>
      <p:sp>
        <p:nvSpPr>
          <p:cNvPr id="7" name="Rounded Rectangle 6"/>
          <p:cNvSpPr/>
          <p:nvPr/>
        </p:nvSpPr>
        <p:spPr>
          <a:xfrm>
            <a:off x="502920" y="3886200"/>
            <a:ext cx="8138159" cy="831189"/>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395020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9" name="TextBox 8"/>
          <p:cNvSpPr txBox="1"/>
          <p:nvPr/>
        </p:nvSpPr>
        <p:spPr>
          <a:xfrm>
            <a:off x="612648" y="4215384"/>
            <a:ext cx="7918703" cy="465429"/>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두 정책의 행동을 섞으면 전환이 부드러워질지 보고 싶었습니다. 안 되면 힘을 줄여서 바꾸는 방법을 시험하려 했습니다.</a:t>
            </a:r>
          </a:p>
        </p:txBody>
      </p:sp>
      <p:sp>
        <p:nvSpPr>
          <p:cNvPr id="10" name="Rounded Rectangle 9"/>
          <p:cNvSpPr/>
          <p:nvPr/>
        </p:nvSpPr>
        <p:spPr>
          <a:xfrm>
            <a:off x="502920" y="4808829"/>
            <a:ext cx="8138159" cy="1409090"/>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4872837"/>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2" name="TextBox 11"/>
          <p:cNvSpPr txBox="1"/>
          <p:nvPr/>
        </p:nvSpPr>
        <p:spPr>
          <a:xfrm>
            <a:off x="612648" y="5138013"/>
            <a:ext cx="7918703" cy="1043330"/>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50" b="0" i="0">
                <a:solidFill>
                  <a:srgbClr val="FFFFFF"/>
                </a:solidFill>
                <a:latin typeface="맑은 고딕"/>
                <a:ea typeface="맑은 고딕"/>
              </a:rPr>
              <a:t>행동을 섞는 방법은 실패했습니다. 섞어야 할 것은 행동이 아니라 gait의 위상이었습니다.</a:t>
            </a:r>
          </a:p>
          <a:p>
            <a:pPr algn="l" marL="146304" indent="-146304">
              <a:lnSpc>
                <a:spcPct val="106000"/>
              </a:lnSpc>
              <a:spcAft>
                <a:spcPts val="300"/>
              </a:spcAft>
              <a:buClr>
                <a:srgbClr val="9DC3E6"/>
              </a:buClr>
              <a:buChar char="▪"/>
            </a:pPr>
            <a:r>
              <a:rPr sz="950" b="0" i="0">
                <a:solidFill>
                  <a:srgbClr val="FFFFFF"/>
                </a:solidFill>
                <a:latin typeface="맑은 고딕"/>
                <a:ea typeface="맑은 고딕"/>
              </a:rPr>
              <a:t>페이드는 위험한 쌍에는 효과가 있지만, 시간이 걸리고 안전한 쌍에는 손해였습니다.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전환 방법 ② 위상 정렬</a:t>
            </a:r>
          </a:p>
        </p:txBody>
      </p:sp>
      <p:sp>
        <p:nvSpPr>
          <p:cNvPr id="3" name="Rounded Rectangle 2"/>
          <p:cNvSpPr/>
          <p:nvPr/>
        </p:nvSpPr>
        <p:spPr>
          <a:xfrm>
            <a:off x="475488" y="1161288"/>
            <a:ext cx="3621024" cy="2060829"/>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bl_to_right_har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3566160" cy="2005965"/>
          </a:xfrm>
          <a:prstGeom prst="rect">
            <a:avLst/>
          </a:prstGeom>
        </p:spPr>
      </p:pic>
      <p:sp>
        <p:nvSpPr>
          <p:cNvPr id="5" name="TextBox 4"/>
          <p:cNvSpPr txBox="1"/>
          <p:nvPr/>
        </p:nvSpPr>
        <p:spPr>
          <a:xfrm>
            <a:off x="502920" y="3240405"/>
            <a:ext cx="35661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처음 위상에서 시작한 경우입니다. 로봇이 뒤집힙니다.</a:t>
            </a:r>
          </a:p>
        </p:txBody>
      </p:sp>
      <p:sp>
        <p:nvSpPr>
          <p:cNvPr id="6" name="Rounded Rectangle 5"/>
          <p:cNvSpPr/>
          <p:nvPr/>
        </p:nvSpPr>
        <p:spPr>
          <a:xfrm>
            <a:off x="475488" y="3514725"/>
            <a:ext cx="3621024" cy="2060829"/>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bl_to_right_align.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502920" y="3542157"/>
            <a:ext cx="3566160" cy="2005965"/>
          </a:xfrm>
          <a:prstGeom prst="rect">
            <a:avLst/>
          </a:prstGeom>
        </p:spPr>
      </p:pic>
      <p:sp>
        <p:nvSpPr>
          <p:cNvPr id="8" name="TextBox 7"/>
          <p:cNvSpPr txBox="1"/>
          <p:nvPr/>
        </p:nvSpPr>
        <p:spPr>
          <a:xfrm>
            <a:off x="502920" y="5593842"/>
            <a:ext cx="35661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가장 닮은 위상에서 시작한 경우입니다. 오차가 1도입니다.</a:t>
            </a:r>
          </a:p>
        </p:txBody>
      </p:sp>
      <p:sp>
        <p:nvSpPr>
          <p:cNvPr id="9" name="Rounded Rectangle 8"/>
          <p:cNvSpPr/>
          <p:nvPr/>
        </p:nvSpPr>
        <p:spPr>
          <a:xfrm>
            <a:off x="4251960" y="1188720"/>
            <a:ext cx="4389120" cy="21488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1688" y="1252728"/>
            <a:ext cx="41696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위상 정렬은 이런 방법입니다</a:t>
            </a:r>
          </a:p>
        </p:txBody>
      </p:sp>
      <p:sp>
        <p:nvSpPr>
          <p:cNvPr id="11" name="TextBox 10"/>
          <p:cNvSpPr txBox="1"/>
          <p:nvPr/>
        </p:nvSpPr>
        <p:spPr>
          <a:xfrm>
            <a:off x="4361688" y="1517904"/>
            <a:ext cx="4169663" cy="178308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새 gait는 한 주기 안에 여러 위상을 갖고, 위상마다 관절 부호 패턴이 다릅니다.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지금 로봇이 쓰고 있는 부호 패턴과 가장 많이 겹치는 위상을 찾아서, 거기서 새 gait를 시작합니다.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겹치는 정도는 관절 열네 개 중 부호가 같은 개수에서 다른 개수를 뺀 값으로 잽니다.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거꾸로 재생하는 gait는 위상 번호의 부호를 뒤집어야 합니다. 이것은 나중에 찾은 버그였습니다.</a:t>
            </a:r>
          </a:p>
        </p:txBody>
      </p:sp>
      <p:sp>
        <p:nvSpPr>
          <p:cNvPr id="12" name="Rounded Rectangle 11"/>
          <p:cNvSpPr/>
          <p:nvPr/>
        </p:nvSpPr>
        <p:spPr>
          <a:xfrm>
            <a:off x="4251960" y="3474720"/>
            <a:ext cx="4389120" cy="768095"/>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688" y="3538727"/>
            <a:ext cx="41696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4" name="TextBox 13"/>
          <p:cNvSpPr txBox="1"/>
          <p:nvPr/>
        </p:nvSpPr>
        <p:spPr>
          <a:xfrm>
            <a:off x="4361688" y="3803904"/>
            <a:ext cx="4169663" cy="402335"/>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부호를 맞춰 시작하면 기다리는 시간 없이 전환할 수 있는지 보고 싶었습니다.</a:t>
            </a:r>
          </a:p>
        </p:txBody>
      </p:sp>
      <p:sp>
        <p:nvSpPr>
          <p:cNvPr id="15" name="Rounded Rectangle 14"/>
          <p:cNvSpPr/>
          <p:nvPr/>
        </p:nvSpPr>
        <p:spPr>
          <a:xfrm>
            <a:off x="4251960" y="4334255"/>
            <a:ext cx="4389120" cy="1883664"/>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61688" y="4398264"/>
            <a:ext cx="41696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7" name="TextBox 16"/>
          <p:cNvSpPr txBox="1"/>
          <p:nvPr/>
        </p:nvSpPr>
        <p:spPr>
          <a:xfrm>
            <a:off x="4361688" y="4663440"/>
            <a:ext cx="4169663" cy="1517904"/>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00" b="0" i="0">
                <a:solidFill>
                  <a:srgbClr val="FFFFFF"/>
                </a:solidFill>
                <a:latin typeface="맑은 고딕"/>
                <a:ea typeface="맑은 고딕"/>
              </a:rPr>
              <a:t>위험한 세 쌍의 오차가 152도, 61도, 156도에서 1도, 0.5도, 3도로 줄었습니다. 기다림도 없습니다.</a:t>
            </a:r>
          </a:p>
          <a:p>
            <a:pPr algn="l" marL="146304" indent="-146304">
              <a:lnSpc>
                <a:spcPct val="106000"/>
              </a:lnSpc>
              <a:spcAft>
                <a:spcPts val="300"/>
              </a:spcAft>
              <a:buClr>
                <a:srgbClr val="9DC3E6"/>
              </a:buClr>
              <a:buChar char="▪"/>
            </a:pPr>
            <a:r>
              <a:rPr sz="900" b="0" i="0">
                <a:solidFill>
                  <a:srgbClr val="FFFFFF"/>
                </a:solidFill>
                <a:latin typeface="맑은 고딕"/>
                <a:ea typeface="맑은 고딕"/>
              </a:rPr>
              <a:t>다만 모든 전환에 쓰면 네모 경로가 나빠졌습니다. 전문가들이 처음 위상에서만 학습했기 때문입니다.</a:t>
            </a:r>
          </a:p>
          <a:p>
            <a:pPr algn="l" marL="146304" indent="-146304">
              <a:lnSpc>
                <a:spcPct val="106000"/>
              </a:lnSpc>
              <a:spcAft>
                <a:spcPts val="300"/>
              </a:spcAft>
              <a:buClr>
                <a:srgbClr val="9DC3E6"/>
              </a:buClr>
              <a:buChar char="▪"/>
            </a:pPr>
            <a:r>
              <a:rPr sz="900" b="0" i="0">
                <a:solidFill>
                  <a:srgbClr val="FFFFFF"/>
                </a:solidFill>
                <a:latin typeface="맑은 고딕"/>
                <a:ea typeface="맑은 고딕"/>
              </a:rPr>
              <a:t>그래서 위험한 쌍에만 씁니다.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7"/>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세 가지 방법 비교와 버린 아이디어</a:t>
            </a:r>
          </a:p>
        </p:txBody>
      </p:sp>
      <p:graphicFrame>
        <p:nvGraphicFramePr>
          <p:cNvPr id="3" name="Chart 2"/>
          <p:cNvGraphicFramePr>
            <a:graphicFrameLocks noGrp="1"/>
          </p:cNvGraphicFramePr>
          <p:nvPr/>
        </p:nvGraphicFramePr>
        <p:xfrm>
          <a:off x="502920" y="1188720"/>
          <a:ext cx="4023360" cy="246888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4709160" y="1188720"/>
          <a:ext cx="3931920" cy="246888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02920" y="3794760"/>
          <a:ext cx="8138160" cy="1737360"/>
        </p:xfrm>
        <a:graphic>
          <a:graphicData uri="http://schemas.openxmlformats.org/drawingml/2006/table">
            <a:tbl>
              <a:tblPr firstRow="1" bandRow="0">
                <a:tableStyleId>{5940675A-B579-460E-94D1-54222C63F5DA}</a:tableStyleId>
              </a:tblPr>
              <a:tblGrid>
                <a:gridCol w="2377440"/>
                <a:gridCol w="5760720"/>
              </a:tblGrid>
              <a:tr h="434340">
                <a:tc>
                  <a:txBody>
                    <a:bodyPr wrap="square"/>
                    <a:lstStyle/>
                    <a:p>
                      <a:pPr algn="l"/>
                      <a:r>
                        <a:rPr sz="900" b="1" i="0">
                          <a:solidFill>
                            <a:srgbClr val="FFFFFF"/>
                          </a:solidFill>
                          <a:latin typeface="맑은 고딕"/>
                          <a:ea typeface="맑은 고딕"/>
                        </a:rPr>
                        <a:t>버린 아이디어</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왜 버렸나</a:t>
                      </a:r>
                    </a:p>
                  </a:txBody>
                  <a:tcPr marL="45720" marR="45720" marT="13716" marB="13716" anchor="ctr">
                    <a:solidFill>
                      <a:srgbClr val="203864"/>
                    </a:solidFill>
                  </a:tcPr>
                </a:tc>
              </a:tr>
              <a:tr h="434340">
                <a:tc>
                  <a:txBody>
                    <a:bodyPr wrap="square"/>
                    <a:lstStyle/>
                    <a:p>
                      <a:pPr algn="l"/>
                      <a:r>
                        <a:rPr sz="850" b="0" i="0">
                          <a:solidFill>
                            <a:srgbClr val="262626"/>
                          </a:solidFill>
                          <a:latin typeface="맑은 고딕"/>
                          <a:ea typeface="맑은 고딕"/>
                        </a:rPr>
                        <a:t>이전 여러 스텝의 부호를 함께 맞추기</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한 스텝만 맞추는 것이 이미 충분했고, 여러 스텝을 맞추면 오히려 안전한 쌍이 무너졌습니다.</a:t>
                      </a:r>
                    </a:p>
                  </a:txBody>
                  <a:tcPr marL="45720" marR="45720" marT="13716" marB="13716" anchor="ctr">
                    <a:solidFill>
                      <a:srgbClr val="FFFFFF"/>
                    </a:solidFill>
                  </a:tcPr>
                </a:tc>
              </a:tr>
              <a:tr h="434340">
                <a:tc>
                  <a:txBody>
                    <a:bodyPr wrap="square"/>
                    <a:lstStyle/>
                    <a:p>
                      <a:pPr algn="l"/>
                      <a:r>
                        <a:rPr sz="850" b="0" i="0">
                          <a:solidFill>
                            <a:srgbClr val="262626"/>
                          </a:solidFill>
                          <a:latin typeface="맑은 고딕"/>
                          <a:ea typeface="맑은 고딕"/>
                        </a:rPr>
                        <a:t>위상 정렬과 페이드를 같이 쓰기</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멈추는 동안 몸이 움직여서 정렬해 둔 위상이 어긋났습니다. 한 쌍이 76도나 틀어졌습니다.</a:t>
                      </a:r>
                    </a:p>
                  </a:txBody>
                  <a:tcPr marL="45720" marR="45720" marT="13716" marB="13716" anchor="ctr">
                    <a:solidFill>
                      <a:srgbClr val="EEF3FA"/>
                    </a:solidFill>
                  </a:tcPr>
                </a:tc>
              </a:tr>
              <a:tr h="434340">
                <a:tc>
                  <a:txBody>
                    <a:bodyPr wrap="square"/>
                    <a:lstStyle/>
                    <a:p>
                      <a:pPr algn="l"/>
                      <a:r>
                        <a:rPr sz="850" b="0" i="0">
                          <a:solidFill>
                            <a:srgbClr val="262626"/>
                          </a:solidFill>
                          <a:latin typeface="맑은 고딕"/>
                          <a:ea typeface="맑은 고딕"/>
                        </a:rPr>
                        <a:t>멈춤 없이 페이드만 얹기</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무너지지는 않았지만 위상 정렬 하나만 쓴 것보다 나아지지 않았습니다.</a:t>
                      </a:r>
                    </a:p>
                  </a:txBody>
                  <a:tcPr marL="45720" marR="45720" marT="13716" marB="13716" anchor="ctr">
                    <a:solidFill>
                      <a:srgbClr val="FFFFFF"/>
                    </a:solidFill>
                  </a:tcPr>
                </a:tc>
              </a:tr>
            </a:tbl>
          </a:graphicData>
        </a:graphic>
      </p:graphicFrame>
      <p:sp>
        <p:nvSpPr>
          <p:cNvPr id="6" name="TextBox 5"/>
          <p:cNvSpPr txBox="1"/>
          <p:nvPr/>
        </p:nvSpPr>
        <p:spPr>
          <a:xfrm>
            <a:off x="502920" y="5577840"/>
            <a:ext cx="8138159" cy="64008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네모 경로는 위험한 쌍이 나오지 않아 세 방법이 같습니다. 별에서는 위상 정렬이, gauntlet에서는 페이드가 조금 더 좋았습니다. 둘 다 그냥 바꾸는 것보다는 훨씬 낫습니다.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매끄러움 ① 흔들림을 재는 방법</a:t>
            </a:r>
          </a:p>
        </p:txBody>
      </p:sp>
      <p:sp>
        <p:nvSpPr>
          <p:cNvPr id="3" name="Rounded Rectangle 2"/>
          <p:cNvSpPr/>
          <p:nvPr/>
        </p:nvSpPr>
        <p:spPr>
          <a:xfrm>
            <a:off x="475488" y="1161288"/>
            <a:ext cx="3621024" cy="2060829"/>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bl_to_right_align_onl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3566160" cy="2005965"/>
          </a:xfrm>
          <a:prstGeom prst="rect">
            <a:avLst/>
          </a:prstGeom>
        </p:spPr>
      </p:pic>
      <p:sp>
        <p:nvSpPr>
          <p:cNvPr id="5" name="TextBox 4"/>
          <p:cNvSpPr txBox="1"/>
          <p:nvPr/>
        </p:nvSpPr>
        <p:spPr>
          <a:xfrm>
            <a:off x="502920" y="3240405"/>
            <a:ext cx="35661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위상 정렬만 쓴 경우입니다. 충격 값이 155입니다.</a:t>
            </a:r>
          </a:p>
        </p:txBody>
      </p:sp>
      <p:sp>
        <p:nvSpPr>
          <p:cNvPr id="6" name="Rounded Rectangle 5"/>
          <p:cNvSpPr/>
          <p:nvPr/>
        </p:nvSpPr>
        <p:spPr>
          <a:xfrm>
            <a:off x="475488" y="3514725"/>
            <a:ext cx="3621024" cy="2060829"/>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bl_to_right_align_xfade.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502920" y="3542157"/>
            <a:ext cx="3566160" cy="2005965"/>
          </a:xfrm>
          <a:prstGeom prst="rect">
            <a:avLst/>
          </a:prstGeom>
        </p:spPr>
      </p:pic>
      <p:sp>
        <p:nvSpPr>
          <p:cNvPr id="8" name="TextBox 7"/>
          <p:cNvSpPr txBox="1"/>
          <p:nvPr/>
        </p:nvSpPr>
        <p:spPr>
          <a:xfrm>
            <a:off x="502920" y="5593842"/>
            <a:ext cx="35661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위상 정렬에 짧은 섞기를 더한 경우입니다. 충격 값이 57입니다.</a:t>
            </a:r>
          </a:p>
        </p:txBody>
      </p:sp>
      <p:graphicFrame>
        <p:nvGraphicFramePr>
          <p:cNvPr id="9" name="Table 8"/>
          <p:cNvGraphicFramePr>
            <a:graphicFrameLocks noGrp="1"/>
          </p:cNvGraphicFramePr>
          <p:nvPr/>
        </p:nvGraphicFramePr>
        <p:xfrm>
          <a:off x="4251960" y="1188720"/>
          <a:ext cx="4389120" cy="2194554"/>
        </p:xfrm>
        <a:graphic>
          <a:graphicData uri="http://schemas.openxmlformats.org/drawingml/2006/table">
            <a:tbl>
              <a:tblPr firstRow="1" bandRow="0">
                <a:tableStyleId>{5940675A-B579-460E-94D1-54222C63F5DA}</a:tableStyleId>
              </a:tblPr>
              <a:tblGrid>
                <a:gridCol w="1737360"/>
                <a:gridCol w="822960"/>
                <a:gridCol w="914400"/>
                <a:gridCol w="914400"/>
              </a:tblGrid>
              <a:tr h="365759">
                <a:tc>
                  <a:txBody>
                    <a:bodyPr wrap="square"/>
                    <a:lstStyle/>
                    <a:p>
                      <a:pPr algn="l"/>
                      <a:r>
                        <a:rPr sz="900" b="1" i="0">
                          <a:solidFill>
                            <a:srgbClr val="FFFFFF"/>
                          </a:solidFill>
                          <a:latin typeface="맑은 고딕"/>
                          <a:ea typeface="맑은 고딕"/>
                        </a:rPr>
                        <a:t>방법</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방향 오차</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헤딩 흔들림</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충격</a:t>
                      </a:r>
                    </a:p>
                  </a:txBody>
                  <a:tcPr marL="45720" marR="45720" marT="13716" marB="13716" anchor="ctr">
                    <a:solidFill>
                      <a:srgbClr val="203864"/>
                    </a:solidFill>
                  </a:tcPr>
                </a:tc>
              </a:tr>
              <a:tr h="365759">
                <a:tc>
                  <a:txBody>
                    <a:bodyPr wrap="square"/>
                    <a:lstStyle/>
                    <a:p>
                      <a:pPr algn="l"/>
                      <a:r>
                        <a:rPr sz="850" b="0" i="0">
                          <a:solidFill>
                            <a:srgbClr val="262626"/>
                          </a:solidFill>
                          <a:latin typeface="맑은 고딕"/>
                          <a:ea typeface="맑은 고딕"/>
                        </a:rPr>
                        <a:t>그냥 바꾸기</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123도</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165</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119</a:t>
                      </a:r>
                    </a:p>
                  </a:txBody>
                  <a:tcPr marL="45720" marR="45720" marT="13716" marB="13716" anchor="ctr">
                    <a:solidFill>
                      <a:srgbClr val="FFFFFF"/>
                    </a:solidFill>
                  </a:tcPr>
                </a:tc>
              </a:tr>
              <a:tr h="365759">
                <a:tc>
                  <a:txBody>
                    <a:bodyPr wrap="square"/>
                    <a:lstStyle/>
                    <a:p>
                      <a:pPr algn="l"/>
                      <a:r>
                        <a:rPr sz="850" b="0" i="0">
                          <a:solidFill>
                            <a:srgbClr val="262626"/>
                          </a:solidFill>
                          <a:latin typeface="맑은 고딕"/>
                          <a:ea typeface="맑은 고딕"/>
                        </a:rPr>
                        <a:t>위상 정렬</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1.6도</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120</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142</a:t>
                      </a:r>
                    </a:p>
                  </a:txBody>
                  <a:tcPr marL="45720" marR="45720" marT="13716" marB="13716" anchor="ctr">
                    <a:solidFill>
                      <a:srgbClr val="EEF3FA"/>
                    </a:solidFill>
                  </a:tcPr>
                </a:tc>
              </a:tr>
              <a:tr h="365759">
                <a:tc>
                  <a:txBody>
                    <a:bodyPr wrap="square"/>
                    <a:lstStyle/>
                    <a:p>
                      <a:pPr algn="l"/>
                      <a:r>
                        <a:rPr sz="850" b="0" i="0">
                          <a:solidFill>
                            <a:srgbClr val="262626"/>
                          </a:solidFill>
                          <a:latin typeface="맑은 고딕"/>
                          <a:ea typeface="맑은 고딕"/>
                        </a:rPr>
                        <a:t>정렬 + 토크 필터</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1.0도</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144</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151</a:t>
                      </a:r>
                    </a:p>
                  </a:txBody>
                  <a:tcPr marL="45720" marR="45720" marT="13716" marB="13716" anchor="ctr">
                    <a:solidFill>
                      <a:srgbClr val="FFFFFF"/>
                    </a:solidFill>
                  </a:tcPr>
                </a:tc>
              </a:tr>
              <a:tr h="365759">
                <a:tc>
                  <a:txBody>
                    <a:bodyPr wrap="square"/>
                    <a:lstStyle/>
                    <a:p>
                      <a:pPr algn="l"/>
                      <a:r>
                        <a:rPr sz="850" b="0" i="0">
                          <a:solidFill>
                            <a:srgbClr val="262626"/>
                          </a:solidFill>
                          <a:latin typeface="맑은 고딕"/>
                          <a:ea typeface="맑은 고딕"/>
                        </a:rPr>
                        <a:t>정렬 + 짧은 섞기</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0.9도</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99</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89</a:t>
                      </a:r>
                    </a:p>
                  </a:txBody>
                  <a:tcPr marL="45720" marR="45720" marT="13716" marB="13716" anchor="ctr">
                    <a:solidFill>
                      <a:srgbClr val="EEF3FA"/>
                    </a:solidFill>
                  </a:tcPr>
                </a:tc>
              </a:tr>
              <a:tr h="365759">
                <a:tc>
                  <a:txBody>
                    <a:bodyPr wrap="square"/>
                    <a:lstStyle/>
                    <a:p>
                      <a:pPr algn="l"/>
                      <a:r>
                        <a:rPr sz="850" b="0" i="0">
                          <a:solidFill>
                            <a:srgbClr val="262626"/>
                          </a:solidFill>
                          <a:latin typeface="맑은 고딕"/>
                          <a:ea typeface="맑은 고딕"/>
                        </a:rPr>
                        <a:t>정렬 + 정책 섞기</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1.2도</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141</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116</a:t>
                      </a:r>
                    </a:p>
                  </a:txBody>
                  <a:tcPr marL="45720" marR="45720" marT="13716" marB="13716" anchor="ctr">
                    <a:solidFill>
                      <a:srgbClr val="FFFFFF"/>
                    </a:solidFill>
                  </a:tcPr>
                </a:tc>
              </a:tr>
            </a:tbl>
          </a:graphicData>
        </a:graphic>
      </p:graphicFrame>
      <p:sp>
        <p:nvSpPr>
          <p:cNvPr id="10" name="Rounded Rectangle 9"/>
          <p:cNvSpPr/>
          <p:nvPr/>
        </p:nvSpPr>
        <p:spPr>
          <a:xfrm>
            <a:off x="4251960" y="3520440"/>
            <a:ext cx="4389120" cy="26974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1688" y="3584448"/>
            <a:ext cx="41696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알게 됐나</a:t>
            </a:r>
          </a:p>
        </p:txBody>
      </p:sp>
      <p:sp>
        <p:nvSpPr>
          <p:cNvPr id="12" name="TextBox 11"/>
          <p:cNvSpPr txBox="1"/>
          <p:nvPr/>
        </p:nvSpPr>
        <p:spPr>
          <a:xfrm>
            <a:off x="4361688" y="3849624"/>
            <a:ext cx="4169663" cy="233172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흔들림은 속도 변화, 방향 변화, 그리고 머리의 가속도 충격으로 쟀습니다.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위상 정렬은 뒤집힘은 막지만 충격은 남깁니다.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위상 정렬 뒤에 두 정책의 행동을 열두 스텝 동안 섞으면 충격이 가장 작아지고, 방향 오차도 그대로 좋습니다.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안전한 쌍에 이런 섞기를 쓰면 오히려 나빠집니다. 그래서 위험한 쌍에만 씁니다.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7"/>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매끄러움 ② 최종 방법</a:t>
            </a:r>
          </a:p>
        </p:txBody>
      </p:sp>
      <p:graphicFrame>
        <p:nvGraphicFramePr>
          <p:cNvPr id="3" name="Chart 2"/>
          <p:cNvGraphicFramePr>
            <a:graphicFrameLocks noGrp="1"/>
          </p:cNvGraphicFramePr>
          <p:nvPr/>
        </p:nvGraphicFramePr>
        <p:xfrm>
          <a:off x="502920" y="1188720"/>
          <a:ext cx="4023360" cy="2560320"/>
        </p:xfrm>
        <a:graphic>
          <a:graphicData uri="http://schemas.openxmlformats.org/drawingml/2006/chart">
            <c:chart xmlns:c="http://schemas.openxmlformats.org/drawingml/2006/chart" r:id="rId2"/>
          </a:graphicData>
        </a:graphic>
      </p:graphicFrame>
      <p:sp>
        <p:nvSpPr>
          <p:cNvPr id="4" name="Rounded Rectangle 3"/>
          <p:cNvSpPr/>
          <p:nvPr/>
        </p:nvSpPr>
        <p:spPr>
          <a:xfrm>
            <a:off x="4709160" y="1188720"/>
            <a:ext cx="3931920" cy="2560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18888" y="1252728"/>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최종으로 고른 방법</a:t>
            </a:r>
          </a:p>
        </p:txBody>
      </p:sp>
      <p:sp>
        <p:nvSpPr>
          <p:cNvPr id="6" name="TextBox 5"/>
          <p:cNvSpPr txBox="1"/>
          <p:nvPr/>
        </p:nvSpPr>
        <p:spPr>
          <a:xfrm>
            <a:off x="4818888" y="1517904"/>
            <a:ext cx="3712463" cy="21945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안전한 쌍은 새 gait를 처음 위상에서 바로 시작합니다.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위험한 세 쌍은 위상을 정렬한 다음, 열두 스텝 동안 두 정책의 행동을 섞습니다.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위상 정렬은 뒤집힘을 막고, 섞기는 남은 충격을 줄입니다. 역할이 나뉘어 있습니다.</a:t>
            </a:r>
          </a:p>
        </p:txBody>
      </p:sp>
      <p:sp>
        <p:nvSpPr>
          <p:cNvPr id="7" name="Rounded Rectangle 6"/>
          <p:cNvSpPr/>
          <p:nvPr/>
        </p:nvSpPr>
        <p:spPr>
          <a:xfrm>
            <a:off x="502920" y="3931920"/>
            <a:ext cx="8138159" cy="768095"/>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399592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9" name="TextBox 8"/>
          <p:cNvSpPr txBox="1"/>
          <p:nvPr/>
        </p:nvSpPr>
        <p:spPr>
          <a:xfrm>
            <a:off x="612648" y="4261104"/>
            <a:ext cx="7918703" cy="402335"/>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뒤집히지 않는 것과 부드러운 것을 동시에 잡을 수 있는지 보고 싶었습니다.</a:t>
            </a:r>
          </a:p>
        </p:txBody>
      </p:sp>
      <p:sp>
        <p:nvSpPr>
          <p:cNvPr id="10" name="Rounded Rectangle 9"/>
          <p:cNvSpPr/>
          <p:nvPr/>
        </p:nvSpPr>
        <p:spPr>
          <a:xfrm>
            <a:off x="502920" y="4791455"/>
            <a:ext cx="8138159" cy="1426464"/>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4855464"/>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2" name="TextBox 11"/>
          <p:cNvSpPr txBox="1"/>
          <p:nvPr/>
        </p:nvSpPr>
        <p:spPr>
          <a:xfrm>
            <a:off x="612648" y="5120640"/>
            <a:ext cx="7918703" cy="1060704"/>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50" b="0" i="0">
                <a:solidFill>
                  <a:srgbClr val="FFFFFF"/>
                </a:solidFill>
                <a:latin typeface="맑은 고딕"/>
                <a:ea typeface="맑은 고딕"/>
              </a:rPr>
              <a:t>한 쌍에서 충격 값이 155에서 57로 줄었습니다. 63퍼센트 감소입니다.</a:t>
            </a:r>
          </a:p>
          <a:p>
            <a:pPr algn="l" marL="146304" indent="-146304">
              <a:lnSpc>
                <a:spcPct val="106000"/>
              </a:lnSpc>
              <a:spcAft>
                <a:spcPts val="300"/>
              </a:spcAft>
              <a:buClr>
                <a:srgbClr val="9DC3E6"/>
              </a:buClr>
              <a:buChar char="▪"/>
            </a:pPr>
            <a:r>
              <a:rPr sz="950" b="0" i="0">
                <a:solidFill>
                  <a:srgbClr val="FFFFFF"/>
                </a:solidFill>
                <a:latin typeface="맑은 고딕"/>
                <a:ea typeface="맑은 고딕"/>
              </a:rPr>
              <a:t>경로 오차도 좋아졌습니다. 별은 0.43에서 0.33미터로, gauntlet은 0.47에서 0.35미터로 줄었습니다.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i="0">
                <a:solidFill>
                  <a:srgbClr val="203864"/>
                </a:solidFill>
                <a:latin typeface="맑은 고딕"/>
                <a:ea typeface="맑은 고딕"/>
              </a:rPr>
              <a:t>gait 전환 학습 (20260911) ― 방향 화살표 표시</a:t>
            </a:r>
          </a:p>
        </p:txBody>
      </p:sp>
      <p:sp>
        <p:nvSpPr>
          <p:cNvPr id="3" name="Rounded Rectangle 2"/>
          <p:cNvSpPr/>
          <p:nvPr/>
        </p:nvSpPr>
        <p:spPr>
          <a:xfrm>
            <a:off x="475488" y="1161288"/>
            <a:ext cx="4078224" cy="231800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ath_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4023360" cy="2263140"/>
          </a:xfrm>
          <a:prstGeom prst="rect">
            <a:avLst/>
          </a:prstGeom>
        </p:spPr>
      </p:pic>
      <p:sp>
        <p:nvSpPr>
          <p:cNvPr id="5" name="TextBox 4"/>
          <p:cNvSpPr txBox="1"/>
          <p:nvPr/>
        </p:nvSpPr>
        <p:spPr>
          <a:xfrm>
            <a:off x="502920" y="3497580"/>
            <a:ext cx="40233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별 경로입니다. 초록은 목표 방향, 파랑은 로봇이 향한 방향입니다.</a:t>
            </a:r>
          </a:p>
        </p:txBody>
      </p:sp>
      <p:pic>
        <p:nvPicPr>
          <p:cNvPr id="6" name="Picture 5" descr="trajectory.png"/>
          <p:cNvPicPr>
            <a:picLocks noChangeAspect="1"/>
          </p:cNvPicPr>
          <p:nvPr/>
        </p:nvPicPr>
        <p:blipFill>
          <a:blip r:embed="rId5"/>
          <a:stretch>
            <a:fillRect/>
          </a:stretch>
        </p:blipFill>
        <p:spPr>
          <a:xfrm>
            <a:off x="837778" y="3799332"/>
            <a:ext cx="3353642" cy="2148840"/>
          </a:xfrm>
          <a:prstGeom prst="rect">
            <a:avLst/>
          </a:prstGeom>
        </p:spPr>
      </p:pic>
      <p:sp>
        <p:nvSpPr>
          <p:cNvPr id="7" name="Rounded Rectangle 6"/>
          <p:cNvSpPr/>
          <p:nvPr/>
        </p:nvSpPr>
        <p:spPr>
          <a:xfrm>
            <a:off x="4709160" y="1188720"/>
            <a:ext cx="3931920" cy="23317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18888" y="1252728"/>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바꿨나</a:t>
            </a:r>
          </a:p>
        </p:txBody>
      </p:sp>
      <p:sp>
        <p:nvSpPr>
          <p:cNvPr id="9" name="TextBox 8"/>
          <p:cNvSpPr txBox="1"/>
          <p:nvPr/>
        </p:nvSpPr>
        <p:spPr>
          <a:xfrm>
            <a:off x="4818888" y="1517904"/>
            <a:ext cx="3712463" cy="19659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웨이포인트마다 목표 방향을 정했습니다. 기본값은 다음 점을 향하는 방향입니다.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영상에서 웨이포인트를 공 대신 화살표로 그렸습니다. 로봇 위에도 파란 화살표를 그렸습니다.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경로 추종 결과 숫자는 그대로입니다. 그림만 바꾼 것을 확인했습니다.</a:t>
            </a:r>
          </a:p>
        </p:txBody>
      </p:sp>
      <p:sp>
        <p:nvSpPr>
          <p:cNvPr id="10" name="Rounded Rectangle 9"/>
          <p:cNvSpPr/>
          <p:nvPr/>
        </p:nvSpPr>
        <p:spPr>
          <a:xfrm>
            <a:off x="4709160" y="3657600"/>
            <a:ext cx="3931920" cy="918057"/>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18888" y="3721608"/>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2" name="TextBox 11"/>
          <p:cNvSpPr txBox="1"/>
          <p:nvPr/>
        </p:nvSpPr>
        <p:spPr>
          <a:xfrm>
            <a:off x="4818888" y="3986784"/>
            <a:ext cx="3712463" cy="552297"/>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지금의 추종 방식이 로봇의 몸 방향을 전혀 다루지 않는다는 점을 눈으로 보이고 싶었습니다.</a:t>
            </a:r>
          </a:p>
        </p:txBody>
      </p:sp>
      <p:sp>
        <p:nvSpPr>
          <p:cNvPr id="13" name="Rounded Rectangle 12"/>
          <p:cNvSpPr/>
          <p:nvPr/>
        </p:nvSpPr>
        <p:spPr>
          <a:xfrm>
            <a:off x="4709160" y="4667097"/>
            <a:ext cx="3931920" cy="1550822"/>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18888" y="4731105"/>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5" name="TextBox 14"/>
          <p:cNvSpPr txBox="1"/>
          <p:nvPr/>
        </p:nvSpPr>
        <p:spPr>
          <a:xfrm>
            <a:off x="4818888" y="4996281"/>
            <a:ext cx="3712463" cy="1185062"/>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00" b="0" i="0">
                <a:solidFill>
                  <a:srgbClr val="FFFFFF"/>
                </a:solidFill>
                <a:latin typeface="맑은 고딕"/>
                <a:ea typeface="맑은 고딕"/>
              </a:rPr>
              <a:t>파란 화살표는 늘 같은 쪽을 보고, 초록 화살표는 모서리마다 90도씩 돕니다. 차이가 한눈에 보입니다.</a:t>
            </a:r>
          </a:p>
          <a:p>
            <a:pPr algn="l" marL="146304" indent="-146304">
              <a:lnSpc>
                <a:spcPct val="106000"/>
              </a:lnSpc>
              <a:spcAft>
                <a:spcPts val="300"/>
              </a:spcAft>
              <a:buClr>
                <a:srgbClr val="9DC3E6"/>
              </a:buClr>
              <a:buChar char="▪"/>
            </a:pPr>
            <a:r>
              <a:rPr sz="900" b="0" i="0">
                <a:solidFill>
                  <a:srgbClr val="FFFFFF"/>
                </a:solidFill>
                <a:latin typeface="맑은 고딕"/>
                <a:ea typeface="맑은 고딕"/>
              </a:rPr>
              <a:t>회전 정책을 경로 추종에 넣는 일은 다음 단계로 미루고, 먼저 전환 학습으로 넘어갔습니다.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i="0">
                <a:solidFill>
                  <a:srgbClr val="FFFFFF"/>
                </a:solidFill>
                <a:latin typeface="맑은 고딕"/>
                <a:ea typeface="맑은 고딕"/>
              </a:rPr>
              <a:t>Part 2. 전환을 스스로 다루는 정책 만들기</a:t>
            </a:r>
          </a:p>
        </p:txBody>
      </p:sp>
      <p:sp>
        <p:nvSpPr>
          <p:cNvPr id="3" name="Text Placeholder 2"/>
          <p:cNvSpPr>
            <a:spLocks noGrp="1"/>
          </p:cNvSpPr>
          <p:nvPr>
            <p:ph type="body" idx="1"/>
          </p:nvPr>
        </p:nvSpPr>
        <p:spPr/>
        <p:txBody>
          <a:bodyPr/>
          <a:lstStyle/>
          <a:p>
            <a:r>
              <a:rPr sz="1200" b="0" i="0">
                <a:solidFill>
                  <a:srgbClr val="DCE6F2"/>
                </a:solidFill>
                <a:latin typeface="맑은 고딕"/>
                <a:ea typeface="맑은 고딕"/>
              </a:rPr>
              <a:t>전문가 열 개를 정책 하나에 옮겨 담고, 명령이 무작위로 바뀌는 환경에서 더 학습한 과정입니다.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전환 학습을 시작하며 정한 것</a:t>
            </a:r>
          </a:p>
        </p:txBody>
      </p:sp>
      <p:graphicFrame>
        <p:nvGraphicFramePr>
          <p:cNvPr id="3" name="Table 2"/>
          <p:cNvGraphicFramePr>
            <a:graphicFrameLocks noGrp="1"/>
          </p:cNvGraphicFramePr>
          <p:nvPr/>
        </p:nvGraphicFramePr>
        <p:xfrm>
          <a:off x="502920" y="1188720"/>
          <a:ext cx="8138160" cy="3383280"/>
        </p:xfrm>
        <a:graphic>
          <a:graphicData uri="http://schemas.openxmlformats.org/drawingml/2006/table">
            <a:tbl>
              <a:tblPr firstRow="1" bandRow="0">
                <a:tableStyleId>{5940675A-B579-460E-94D1-54222C63F5DA}</a:tableStyleId>
              </a:tblPr>
              <a:tblGrid>
                <a:gridCol w="1280160"/>
                <a:gridCol w="2377440"/>
                <a:gridCol w="4480560"/>
              </a:tblGrid>
              <a:tr h="676656">
                <a:tc>
                  <a:txBody>
                    <a:bodyPr wrap="square"/>
                    <a:lstStyle/>
                    <a:p>
                      <a:pPr algn="l"/>
                      <a:r>
                        <a:rPr sz="900" b="1" i="0">
                          <a:solidFill>
                            <a:srgbClr val="FFFFFF"/>
                          </a:solidFill>
                          <a:latin typeface="맑은 고딕"/>
                          <a:ea typeface="맑은 고딕"/>
                        </a:rPr>
                        <a:t>무엇을 정했나</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고를 수 있던 것</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무엇을 골랐고 왜 골랐나</a:t>
                      </a:r>
                    </a:p>
                  </a:txBody>
                  <a:tcPr marL="45720" marR="45720" marT="13716" marB="13716" anchor="ctr">
                    <a:solidFill>
                      <a:srgbClr val="203864"/>
                    </a:solidFill>
                  </a:tcPr>
                </a:tc>
              </a:tr>
              <a:tr h="676656">
                <a:tc>
                  <a:txBody>
                    <a:bodyPr wrap="square"/>
                    <a:lstStyle/>
                    <a:p>
                      <a:pPr algn="l"/>
                      <a:r>
                        <a:rPr sz="850" b="0" i="0">
                          <a:solidFill>
                            <a:srgbClr val="262626"/>
                          </a:solidFill>
                          <a:latin typeface="맑은 고딕"/>
                          <a:ea typeface="맑은 고딕"/>
                        </a:rPr>
                        <a:t>출발점</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앞으로 가는 전문가 하나에서 시작할지, 열 개를 먼저 합칠지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열 개를 먼저 합쳤습니다. 그래야 강화학습이 전환만 배우면 되기 때문입니다. 합치는 일은 답이 있는 회귀라서 몇 분이면 됩니다.</a:t>
                      </a:r>
                    </a:p>
                  </a:txBody>
                  <a:tcPr marL="45720" marR="45720" marT="13716" marB="13716" anchor="ctr">
                    <a:solidFill>
                      <a:srgbClr val="FFFFFF"/>
                    </a:solidFill>
                  </a:tcPr>
                </a:tc>
              </a:tr>
              <a:tr h="676656">
                <a:tc>
                  <a:txBody>
                    <a:bodyPr wrap="square"/>
                    <a:lstStyle/>
                    <a:p>
                      <a:pPr algn="l"/>
                      <a:r>
                        <a:rPr sz="850" b="0" i="0">
                          <a:solidFill>
                            <a:srgbClr val="262626"/>
                          </a:solidFill>
                          <a:latin typeface="맑은 고딕"/>
                          <a:ea typeface="맑은 고딕"/>
                        </a:rPr>
                        <a:t>전환 방법</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처음 위상, 위상 정렬, 둘을 섞기</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위상 정렬을 골랐습니다. 물리적으로 가장 매끄럽고, 정책이 이 시작에 익숙해지면 약점이 사라집니다.</a:t>
                      </a:r>
                    </a:p>
                  </a:txBody>
                  <a:tcPr marL="45720" marR="45720" marT="13716" marB="13716" anchor="ctr">
                    <a:solidFill>
                      <a:srgbClr val="EEF3FA"/>
                    </a:solidFill>
                  </a:tcPr>
                </a:tc>
              </a:tr>
              <a:tr h="676656">
                <a:tc>
                  <a:txBody>
                    <a:bodyPr wrap="square"/>
                    <a:lstStyle/>
                    <a:p>
                      <a:pPr algn="l"/>
                      <a:r>
                        <a:rPr sz="850" b="0" i="0">
                          <a:solidFill>
                            <a:srgbClr val="262626"/>
                          </a:solidFill>
                          <a:latin typeface="맑은 고딕"/>
                          <a:ea typeface="맑은 고딕"/>
                        </a:rPr>
                        <a:t>할인율</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0.95 또는 0.99</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0.99를 골랐습니다. 전환하고 100스텝 뒤에 넘어지는 일을 정책이 내다보려면 긴 시야가 필요합니다.</a:t>
                      </a:r>
                    </a:p>
                  </a:txBody>
                  <a:tcPr marL="45720" marR="45720" marT="13716" marB="13716" anchor="ctr">
                    <a:solidFill>
                      <a:srgbClr val="FFFFFF"/>
                    </a:solidFill>
                  </a:tcPr>
                </a:tc>
              </a:tr>
              <a:tr h="676656">
                <a:tc>
                  <a:txBody>
                    <a:bodyPr wrap="square"/>
                    <a:lstStyle/>
                    <a:p>
                      <a:pPr algn="l"/>
                      <a:r>
                        <a:rPr sz="850" b="0" i="0">
                          <a:solidFill>
                            <a:srgbClr val="262626"/>
                          </a:solidFill>
                          <a:latin typeface="맑은 고딕"/>
                          <a:ea typeface="맑은 고딕"/>
                        </a:rPr>
                        <a:t>학습 설정</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검증된 첫 단계 값</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학습률 1e-4, 에포크 2, KL 한도 0.04, 4천만 스텝입니다.</a:t>
                      </a:r>
                    </a:p>
                  </a:txBody>
                  <a:tcPr marL="45720" marR="45720" marT="13716" marB="13716" anchor="ctr">
                    <a:solidFill>
                      <a:srgbClr val="EEF3FA"/>
                    </a:solidFill>
                  </a:tcPr>
                </a:tc>
              </a:tr>
            </a:tbl>
          </a:graphicData>
        </a:graphic>
      </p:graphicFrame>
      <p:sp>
        <p:nvSpPr>
          <p:cNvPr id="4" name="Rounded Rectangle 3"/>
          <p:cNvSpPr/>
          <p:nvPr/>
        </p:nvSpPr>
        <p:spPr>
          <a:xfrm>
            <a:off x="502920" y="4754880"/>
            <a:ext cx="8138159" cy="14630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481888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설명 방식에 대한 피드백</a:t>
            </a:r>
          </a:p>
        </p:txBody>
      </p:sp>
      <p:sp>
        <p:nvSpPr>
          <p:cNvPr id="6" name="TextBox 5"/>
          <p:cNvSpPr txBox="1"/>
          <p:nvPr/>
        </p:nvSpPr>
        <p:spPr>
          <a:xfrm>
            <a:off x="612648" y="5084064"/>
            <a:ext cx="7918703" cy="109728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처음에는 선택지만 나열해서 설명이 비약된다는 지적을 받았습니다. 그 뒤로는 각 선택지의 뜻과 비용과 위험을 풀어서 설명한 다음 결정했습니다.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전문가 열 개를 정책 하나로 합치기</a:t>
            </a:r>
          </a:p>
        </p:txBody>
      </p:sp>
      <p:sp>
        <p:nvSpPr>
          <p:cNvPr id="3" name="Rounded Rectangle 2"/>
          <p:cNvSpPr/>
          <p:nvPr/>
        </p:nvSpPr>
        <p:spPr>
          <a:xfrm>
            <a:off x="502920" y="1188720"/>
            <a:ext cx="2639567"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1</a:t>
            </a:r>
          </a:p>
        </p:txBody>
      </p:sp>
      <p:sp>
        <p:nvSpPr>
          <p:cNvPr id="5" name="TextBox 4"/>
          <p:cNvSpPr txBox="1"/>
          <p:nvPr/>
        </p:nvSpPr>
        <p:spPr>
          <a:xfrm>
            <a:off x="941832" y="1261872"/>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모으기</a:t>
            </a:r>
          </a:p>
        </p:txBody>
      </p:sp>
      <p:sp>
        <p:nvSpPr>
          <p:cNvPr id="6" name="TextBox 5"/>
          <p:cNvSpPr txBox="1"/>
          <p:nvPr/>
        </p:nvSpPr>
        <p:spPr>
          <a:xfrm>
            <a:off x="594360" y="1609344"/>
            <a:ext cx="2456687" cy="9601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전문가 열 개를 각자 명령으로 돌리면서, 그때 본 것과 한 행동을 기록합니다.</a:t>
            </a:r>
          </a:p>
        </p:txBody>
      </p:sp>
      <p:sp>
        <p:nvSpPr>
          <p:cNvPr id="7" name="Rounded Rectangle 6"/>
          <p:cNvSpPr/>
          <p:nvPr/>
        </p:nvSpPr>
        <p:spPr>
          <a:xfrm>
            <a:off x="3252216" y="1188720"/>
            <a:ext cx="2639567"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43656"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2</a:t>
            </a:r>
          </a:p>
        </p:txBody>
      </p:sp>
      <p:sp>
        <p:nvSpPr>
          <p:cNvPr id="9" name="TextBox 8"/>
          <p:cNvSpPr txBox="1"/>
          <p:nvPr/>
        </p:nvSpPr>
        <p:spPr>
          <a:xfrm>
            <a:off x="3691128" y="1261872"/>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정규화 통일</a:t>
            </a:r>
          </a:p>
        </p:txBody>
      </p:sp>
      <p:sp>
        <p:nvSpPr>
          <p:cNvPr id="10" name="TextBox 9"/>
          <p:cNvSpPr txBox="1"/>
          <p:nvPr/>
        </p:nvSpPr>
        <p:spPr>
          <a:xfrm>
            <a:off x="3343656" y="1609344"/>
            <a:ext cx="2456687" cy="9601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전문가마다 달랐던 입력 정규화 값을 하나로 합칩니다.</a:t>
            </a:r>
          </a:p>
        </p:txBody>
      </p:sp>
      <p:sp>
        <p:nvSpPr>
          <p:cNvPr id="11" name="Rounded Rectangle 10"/>
          <p:cNvSpPr/>
          <p:nvPr/>
        </p:nvSpPr>
        <p:spPr>
          <a:xfrm>
            <a:off x="6001511" y="1188720"/>
            <a:ext cx="2639567"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92951"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3</a:t>
            </a:r>
          </a:p>
        </p:txBody>
      </p:sp>
      <p:sp>
        <p:nvSpPr>
          <p:cNvPr id="13" name="TextBox 12"/>
          <p:cNvSpPr txBox="1"/>
          <p:nvPr/>
        </p:nvSpPr>
        <p:spPr>
          <a:xfrm>
            <a:off x="6440424" y="1261872"/>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따라 하기 학습</a:t>
            </a:r>
          </a:p>
        </p:txBody>
      </p:sp>
      <p:sp>
        <p:nvSpPr>
          <p:cNvPr id="14" name="TextBox 13"/>
          <p:cNvSpPr txBox="1"/>
          <p:nvPr/>
        </p:nvSpPr>
        <p:spPr>
          <a:xfrm>
            <a:off x="6092951" y="1609344"/>
            <a:ext cx="2456687" cy="9601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새 정책이 전문가의 행동을 그대로 따라 하도록 학습합니다. 가치 함수도 미리 맞춰 둡니다.</a:t>
            </a:r>
          </a:p>
        </p:txBody>
      </p:sp>
      <p:sp>
        <p:nvSpPr>
          <p:cNvPr id="15" name="Rounded Rectangle 14"/>
          <p:cNvSpPr/>
          <p:nvPr/>
        </p:nvSpPr>
        <p:spPr>
          <a:xfrm>
            <a:off x="502920" y="2715768"/>
            <a:ext cx="2639567"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2807208"/>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4</a:t>
            </a:r>
          </a:p>
        </p:txBody>
      </p:sp>
      <p:sp>
        <p:nvSpPr>
          <p:cNvPr id="17" name="TextBox 16"/>
          <p:cNvSpPr txBox="1"/>
          <p:nvPr/>
        </p:nvSpPr>
        <p:spPr>
          <a:xfrm>
            <a:off x="941832" y="2788920"/>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보정</a:t>
            </a:r>
          </a:p>
        </p:txBody>
      </p:sp>
      <p:sp>
        <p:nvSpPr>
          <p:cNvPr id="18" name="TextBox 17"/>
          <p:cNvSpPr txBox="1"/>
          <p:nvPr/>
        </p:nvSpPr>
        <p:spPr>
          <a:xfrm>
            <a:off x="594360" y="3136391"/>
            <a:ext cx="2456687" cy="9601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새 정책을 직접 돌려 보고, 가 본 상태마다 전문가라면 어떻게 했을지 라벨을 붙여 다시 학습합니다.</a:t>
            </a:r>
          </a:p>
        </p:txBody>
      </p:sp>
      <p:sp>
        <p:nvSpPr>
          <p:cNvPr id="19" name="Rounded Rectangle 18"/>
          <p:cNvSpPr/>
          <p:nvPr/>
        </p:nvSpPr>
        <p:spPr>
          <a:xfrm>
            <a:off x="3252216" y="2715768"/>
            <a:ext cx="2639567"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343656" y="2807208"/>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5</a:t>
            </a:r>
          </a:p>
        </p:txBody>
      </p:sp>
      <p:sp>
        <p:nvSpPr>
          <p:cNvPr id="21" name="TextBox 20"/>
          <p:cNvSpPr txBox="1"/>
          <p:nvPr/>
        </p:nvSpPr>
        <p:spPr>
          <a:xfrm>
            <a:off x="3691128" y="2788920"/>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검증</a:t>
            </a:r>
          </a:p>
        </p:txBody>
      </p:sp>
      <p:sp>
        <p:nvSpPr>
          <p:cNvPr id="22" name="TextBox 21"/>
          <p:cNvSpPr txBox="1"/>
          <p:nvPr/>
        </p:nvSpPr>
        <p:spPr>
          <a:xfrm>
            <a:off x="3343656" y="3136391"/>
            <a:ext cx="2456687" cy="9601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명령마다 새 정책과 전문가를 열 판씩 비교합니다.</a:t>
            </a:r>
          </a:p>
        </p:txBody>
      </p:sp>
      <p:sp>
        <p:nvSpPr>
          <p:cNvPr id="23" name="Rounded Rectangle 22"/>
          <p:cNvSpPr/>
          <p:nvPr/>
        </p:nvSpPr>
        <p:spPr>
          <a:xfrm>
            <a:off x="6001511" y="2715768"/>
            <a:ext cx="2639567"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092951" y="2807208"/>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6</a:t>
            </a:r>
          </a:p>
        </p:txBody>
      </p:sp>
      <p:sp>
        <p:nvSpPr>
          <p:cNvPr id="25" name="TextBox 24"/>
          <p:cNvSpPr txBox="1"/>
          <p:nvPr/>
        </p:nvSpPr>
        <p:spPr>
          <a:xfrm>
            <a:off x="6440424" y="2788920"/>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저장</a:t>
            </a:r>
          </a:p>
        </p:txBody>
      </p:sp>
      <p:sp>
        <p:nvSpPr>
          <p:cNvPr id="26" name="TextBox 25"/>
          <p:cNvSpPr txBox="1"/>
          <p:nvPr/>
        </p:nvSpPr>
        <p:spPr>
          <a:xfrm>
            <a:off x="6092951" y="3136391"/>
            <a:ext cx="2456687" cy="9601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학습을 이어 갈 수 있는 형식으로 저장합니다. 모델과 정규화 값은 항상 같이 다닙니다.</a:t>
            </a:r>
          </a:p>
        </p:txBody>
      </p:sp>
      <p:sp>
        <p:nvSpPr>
          <p:cNvPr id="27" name="Rounded Rectangle 26"/>
          <p:cNvSpPr/>
          <p:nvPr/>
        </p:nvSpPr>
        <p:spPr>
          <a:xfrm>
            <a:off x="502920" y="4251960"/>
            <a:ext cx="8138159" cy="613562"/>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431596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29" name="TextBox 28"/>
          <p:cNvSpPr txBox="1"/>
          <p:nvPr/>
        </p:nvSpPr>
        <p:spPr>
          <a:xfrm>
            <a:off x="612648" y="4581144"/>
            <a:ext cx="7918703" cy="247802"/>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강화학습을 시작하기 전에, 열 가지 명령을 이미 할 줄 아는 출발점을 만들고 싶었습니다.</a:t>
            </a:r>
          </a:p>
        </p:txBody>
      </p:sp>
      <p:sp>
        <p:nvSpPr>
          <p:cNvPr id="30" name="Rounded Rectangle 29"/>
          <p:cNvSpPr/>
          <p:nvPr/>
        </p:nvSpPr>
        <p:spPr>
          <a:xfrm>
            <a:off x="502920" y="4956962"/>
            <a:ext cx="8138159" cy="1260957"/>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 y="5020970"/>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32" name="TextBox 31"/>
          <p:cNvSpPr txBox="1"/>
          <p:nvPr/>
        </p:nvSpPr>
        <p:spPr>
          <a:xfrm>
            <a:off x="612648" y="5286146"/>
            <a:ext cx="7918703" cy="895197"/>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50" b="0" i="0">
                <a:solidFill>
                  <a:srgbClr val="FFFFFF"/>
                </a:solidFill>
                <a:latin typeface="맑은 고딕"/>
                <a:ea typeface="맑은 고딕"/>
              </a:rPr>
              <a:t>처음에는 전문가의 정확한 행동만 기록했더니, 절반의 명령에서 새 정책이 넘어졌습니다. 조금만 벗어난 상태를 본 적이 없었기 때문입니다.</a:t>
            </a:r>
          </a:p>
          <a:p>
            <a:pPr algn="l" marL="146304" indent="-146304">
              <a:lnSpc>
                <a:spcPct val="106000"/>
              </a:lnSpc>
              <a:spcAft>
                <a:spcPts val="300"/>
              </a:spcAft>
              <a:buClr>
                <a:srgbClr val="9DC3E6"/>
              </a:buClr>
              <a:buChar char="▪"/>
            </a:pPr>
            <a:r>
              <a:rPr sz="950" b="0" i="0">
                <a:solidFill>
                  <a:srgbClr val="FFFFFF"/>
                </a:solidFill>
                <a:latin typeface="맑은 고딕"/>
                <a:ea typeface="맑은 고딕"/>
              </a:rPr>
              <a:t>전문가에 일부러 노이즈를 섞어 돌리고, 보정 단계를 네 번 넣자 열 개 중 아홉 개가 전문가 수준이 됐습니다.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i="0">
                <a:solidFill>
                  <a:srgbClr val="203864"/>
                </a:solidFill>
                <a:latin typeface="맑은 고딕"/>
                <a:ea typeface="맑은 고딕"/>
              </a:rPr>
              <a:t>gait 전환 학습 (20260911) ― 합친 정책의 실력</a:t>
            </a:r>
          </a:p>
        </p:txBody>
      </p:sp>
      <p:graphicFrame>
        <p:nvGraphicFramePr>
          <p:cNvPr id="3" name="Chart 2"/>
          <p:cNvGraphicFramePr>
            <a:graphicFrameLocks noGrp="1"/>
          </p:cNvGraphicFramePr>
          <p:nvPr/>
        </p:nvGraphicFramePr>
        <p:xfrm>
          <a:off x="502920" y="1188720"/>
          <a:ext cx="8138159" cy="2514600"/>
        </p:xfrm>
        <a:graphic>
          <a:graphicData uri="http://schemas.openxmlformats.org/drawingml/2006/chart">
            <c:chart xmlns:c="http://schemas.openxmlformats.org/drawingml/2006/chart" r:id="rId2"/>
          </a:graphicData>
        </a:graphic>
      </p:graphicFrame>
      <p:sp>
        <p:nvSpPr>
          <p:cNvPr id="4" name="TextBox 3"/>
          <p:cNvSpPr txBox="1"/>
          <p:nvPr/>
        </p:nvSpPr>
        <p:spPr>
          <a:xfrm>
            <a:off x="502920" y="3703320"/>
            <a:ext cx="8138159" cy="2743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첫 시도의 diag_fr는 실제로는 뒤로 갔습니다. 그림에서는 -0.3으로 잘라 그렸습니다.</a:t>
            </a:r>
          </a:p>
        </p:txBody>
      </p:sp>
      <p:sp>
        <p:nvSpPr>
          <p:cNvPr id="5" name="Rounded Rectangle 4"/>
          <p:cNvSpPr/>
          <p:nvPr/>
        </p:nvSpPr>
        <p:spPr>
          <a:xfrm>
            <a:off x="502920" y="4023360"/>
            <a:ext cx="3977639" cy="21945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08736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시계 회전만 0.6인 이유</a:t>
            </a:r>
          </a:p>
        </p:txBody>
      </p:sp>
      <p:sp>
        <p:nvSpPr>
          <p:cNvPr id="7" name="TextBox 6"/>
          <p:cNvSpPr txBox="1"/>
          <p:nvPr/>
        </p:nvSpPr>
        <p:spPr>
          <a:xfrm>
            <a:off x="612648" y="4352544"/>
            <a:ext cx="3758183" cy="182880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도는 속도는 정상인데, 시작점에서 천천히 밀려나다가 729스텝에 실패 판정을 받습니다.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행동에 작은 노이즈만 줘도 여덟 번 중 다섯 번은 끝까지 버팁니다. 아슬아슬한 경계에 있는 것입니다.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전문가의 기록에는 밀려났을 때 돌아오는 행동이 없어서, 따라 하기만으로는 못 배웁니다. 강화학습에서 고치기로 했습니다.</a:t>
            </a:r>
          </a:p>
        </p:txBody>
      </p:sp>
      <p:sp>
        <p:nvSpPr>
          <p:cNvPr id="8" name="Rounded Rectangle 7"/>
          <p:cNvSpPr/>
          <p:nvPr/>
        </p:nvSpPr>
        <p:spPr>
          <a:xfrm>
            <a:off x="4663440" y="4023360"/>
            <a:ext cx="3977639" cy="647395"/>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73168" y="408736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0" name="TextBox 9"/>
          <p:cNvSpPr txBox="1"/>
          <p:nvPr/>
        </p:nvSpPr>
        <p:spPr>
          <a:xfrm>
            <a:off x="4773168" y="4352544"/>
            <a:ext cx="3758183" cy="281635"/>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새 정책이 전문가의 90퍼센트 이상인지, 더 자주 넘어지지는 않는지 확인하고 싶었습니다.</a:t>
            </a:r>
          </a:p>
        </p:txBody>
      </p:sp>
      <p:sp>
        <p:nvSpPr>
          <p:cNvPr id="11" name="Rounded Rectangle 10"/>
          <p:cNvSpPr/>
          <p:nvPr/>
        </p:nvSpPr>
        <p:spPr>
          <a:xfrm>
            <a:off x="4663440" y="4762195"/>
            <a:ext cx="3977639" cy="1455724"/>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73168" y="4826203"/>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3" name="TextBox 12"/>
          <p:cNvSpPr txBox="1"/>
          <p:nvPr/>
        </p:nvSpPr>
        <p:spPr>
          <a:xfrm>
            <a:off x="4773168" y="5091379"/>
            <a:ext cx="3758183" cy="1089964"/>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850" b="0" i="0">
                <a:solidFill>
                  <a:srgbClr val="FFFFFF"/>
                </a:solidFill>
                <a:latin typeface="맑은 고딕"/>
                <a:ea typeface="맑은 고딕"/>
              </a:rPr>
              <a:t>열 개 중 아홉 개가 0.95에서 1.01 사이입니다. 넘어지는 일도 없습니다.</a:t>
            </a:r>
          </a:p>
          <a:p>
            <a:pPr algn="l" marL="146304" indent="-146304">
              <a:lnSpc>
                <a:spcPct val="106000"/>
              </a:lnSpc>
              <a:spcAft>
                <a:spcPts val="300"/>
              </a:spcAft>
              <a:buClr>
                <a:srgbClr val="9DC3E6"/>
              </a:buClr>
              <a:buChar char="▪"/>
            </a:pPr>
            <a:r>
              <a:rPr sz="850" b="0" i="0">
                <a:solidFill>
                  <a:srgbClr val="FFFFFF"/>
                </a:solidFill>
                <a:latin typeface="맑은 고딕"/>
                <a:ea typeface="맑은 고딕"/>
              </a:rPr>
              <a:t>데이터는 모두 180만 개를 썼고, 만드는 데 약 9분이 걸렸습니다.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명령이 무작위로 바뀌는 학습 환경</a:t>
            </a:r>
          </a:p>
        </p:txBody>
      </p:sp>
      <p:sp>
        <p:nvSpPr>
          <p:cNvPr id="3" name="Rounded Rectangle 2"/>
          <p:cNvSpPr/>
          <p:nvPr/>
        </p:nvSpPr>
        <p:spPr>
          <a:xfrm>
            <a:off x="502920" y="1188720"/>
            <a:ext cx="8138159" cy="13258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243584"/>
            <a:ext cx="7863840" cy="274320"/>
          </a:xfrm>
          <a:prstGeom prst="rect">
            <a:avLst/>
          </a:prstGeom>
          <a:noFill/>
        </p:spPr>
        <p:txBody>
          <a:bodyPr wrap="square" lIns="0" rIns="0" tIns="18288" bIns="18288" anchor="t">
            <a:spAutoFit/>
          </a:bodyPr>
          <a:lstStyle/>
          <a:p>
            <a:pPr algn="l">
              <a:lnSpc>
                <a:spcPct val="106000"/>
              </a:lnSpc>
              <a:spcAft>
                <a:spcPts val="200"/>
              </a:spcAft>
            </a:pPr>
            <a:r>
              <a:rPr sz="1050" b="1" i="0">
                <a:solidFill>
                  <a:srgbClr val="203864"/>
                </a:solidFill>
                <a:latin typeface="맑은 고딕"/>
                <a:ea typeface="맑은 고딕"/>
              </a:rPr>
              <a:t>한 에피소드는 이렇게 흘러갑니다 (1000스텝, 50초)</a:t>
            </a:r>
          </a:p>
        </p:txBody>
      </p:sp>
      <p:sp>
        <p:nvSpPr>
          <p:cNvPr id="5" name="Rectangle 4"/>
          <p:cNvSpPr/>
          <p:nvPr/>
        </p:nvSpPr>
        <p:spPr>
          <a:xfrm>
            <a:off x="685800" y="1783080"/>
            <a:ext cx="7772399" cy="182880"/>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783080"/>
            <a:ext cx="2176272" cy="18288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84248"/>
            <a:ext cx="2176272" cy="228600"/>
          </a:xfrm>
          <a:prstGeom prst="rect">
            <a:avLst/>
          </a:prstGeom>
          <a:noFill/>
        </p:spPr>
        <p:txBody>
          <a:bodyPr wrap="square" lIns="0" rIns="0" tIns="18288" bIns="18288" anchor="t">
            <a:spAutoFit/>
          </a:bodyPr>
          <a:lstStyle/>
          <a:p>
            <a:pPr algn="ctr">
              <a:lnSpc>
                <a:spcPct val="106000"/>
              </a:lnSpc>
              <a:spcAft>
                <a:spcPts val="200"/>
              </a:spcAft>
            </a:pPr>
            <a:r>
              <a:rPr sz="800" b="0" i="0">
                <a:solidFill>
                  <a:srgbClr val="262626"/>
                </a:solidFill>
                <a:latin typeface="맑은 고딕"/>
                <a:ea typeface="맑은 고딕"/>
              </a:rPr>
              <a:t>forward</a:t>
            </a:r>
          </a:p>
        </p:txBody>
      </p:sp>
      <p:sp>
        <p:nvSpPr>
          <p:cNvPr id="8" name="Rectangle 7"/>
          <p:cNvSpPr/>
          <p:nvPr/>
        </p:nvSpPr>
        <p:spPr>
          <a:xfrm>
            <a:off x="2862072" y="1783080"/>
            <a:ext cx="2098547" cy="18288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62072" y="1984248"/>
            <a:ext cx="2098547" cy="228600"/>
          </a:xfrm>
          <a:prstGeom prst="rect">
            <a:avLst/>
          </a:prstGeom>
          <a:noFill/>
        </p:spPr>
        <p:txBody>
          <a:bodyPr wrap="square" lIns="0" rIns="0" tIns="18288" bIns="18288" anchor="t">
            <a:spAutoFit/>
          </a:bodyPr>
          <a:lstStyle/>
          <a:p>
            <a:pPr algn="ctr">
              <a:lnSpc>
                <a:spcPct val="106000"/>
              </a:lnSpc>
              <a:spcAft>
                <a:spcPts val="200"/>
              </a:spcAft>
            </a:pPr>
            <a:r>
              <a:rPr sz="800" b="0" i="0">
                <a:solidFill>
                  <a:srgbClr val="262626"/>
                </a:solidFill>
                <a:latin typeface="맑은 고딕"/>
                <a:ea typeface="맑은 고딕"/>
              </a:rPr>
              <a:t>diag_bl</a:t>
            </a:r>
          </a:p>
        </p:txBody>
      </p:sp>
      <p:sp>
        <p:nvSpPr>
          <p:cNvPr id="10" name="Rectangle 9"/>
          <p:cNvSpPr/>
          <p:nvPr/>
        </p:nvSpPr>
        <p:spPr>
          <a:xfrm>
            <a:off x="4960620" y="1783080"/>
            <a:ext cx="2098547"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60620" y="1984248"/>
            <a:ext cx="2098547" cy="228600"/>
          </a:xfrm>
          <a:prstGeom prst="rect">
            <a:avLst/>
          </a:prstGeom>
          <a:noFill/>
        </p:spPr>
        <p:txBody>
          <a:bodyPr wrap="square" lIns="0" rIns="0" tIns="18288" bIns="18288" anchor="t">
            <a:spAutoFit/>
          </a:bodyPr>
          <a:lstStyle/>
          <a:p>
            <a:pPr algn="ctr">
              <a:lnSpc>
                <a:spcPct val="106000"/>
              </a:lnSpc>
              <a:spcAft>
                <a:spcPts val="200"/>
              </a:spcAft>
            </a:pPr>
            <a:r>
              <a:rPr sz="800" b="0" i="0">
                <a:solidFill>
                  <a:srgbClr val="262626"/>
                </a:solidFill>
                <a:latin typeface="맑은 고딕"/>
                <a:ea typeface="맑은 고딕"/>
              </a:rPr>
              <a:t>ccw</a:t>
            </a:r>
          </a:p>
        </p:txBody>
      </p:sp>
      <p:sp>
        <p:nvSpPr>
          <p:cNvPr id="12" name="Rectangle 11"/>
          <p:cNvSpPr/>
          <p:nvPr/>
        </p:nvSpPr>
        <p:spPr>
          <a:xfrm>
            <a:off x="7059167" y="1783080"/>
            <a:ext cx="1399032" cy="1828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9167" y="1984248"/>
            <a:ext cx="1399032" cy="228600"/>
          </a:xfrm>
          <a:prstGeom prst="rect">
            <a:avLst/>
          </a:prstGeom>
          <a:noFill/>
        </p:spPr>
        <p:txBody>
          <a:bodyPr wrap="square" lIns="0" rIns="0" tIns="18288" bIns="18288" anchor="t">
            <a:spAutoFit/>
          </a:bodyPr>
          <a:lstStyle/>
          <a:p>
            <a:pPr algn="ctr">
              <a:lnSpc>
                <a:spcPct val="106000"/>
              </a:lnSpc>
              <a:spcAft>
                <a:spcPts val="200"/>
              </a:spcAft>
            </a:pPr>
            <a:r>
              <a:rPr sz="800" b="0" i="0">
                <a:solidFill>
                  <a:srgbClr val="262626"/>
                </a:solidFill>
                <a:latin typeface="맑은 고딕"/>
                <a:ea typeface="맑은 고딕"/>
              </a:rPr>
              <a:t>right</a:t>
            </a:r>
          </a:p>
        </p:txBody>
      </p:sp>
      <p:sp>
        <p:nvSpPr>
          <p:cNvPr id="14" name="Oval 13"/>
          <p:cNvSpPr/>
          <p:nvPr/>
        </p:nvSpPr>
        <p:spPr>
          <a:xfrm>
            <a:off x="2770632" y="1627632"/>
            <a:ext cx="182880" cy="1828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i="0">
                <a:solidFill>
                  <a:srgbClr val="FFFFFF"/>
                </a:solidFill>
                <a:latin typeface="맑은 고딕"/>
                <a:ea typeface="맑은 고딕"/>
              </a:rPr>
              <a:t>↕</a:t>
            </a:r>
          </a:p>
        </p:txBody>
      </p:sp>
      <p:sp>
        <p:nvSpPr>
          <p:cNvPr id="15" name="Oval 14"/>
          <p:cNvSpPr/>
          <p:nvPr/>
        </p:nvSpPr>
        <p:spPr>
          <a:xfrm>
            <a:off x="4869180" y="1627632"/>
            <a:ext cx="182880" cy="1828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i="0">
                <a:solidFill>
                  <a:srgbClr val="FFFFFF"/>
                </a:solidFill>
                <a:latin typeface="맑은 고딕"/>
                <a:ea typeface="맑은 고딕"/>
              </a:rPr>
              <a:t>↕</a:t>
            </a:r>
          </a:p>
        </p:txBody>
      </p:sp>
      <p:sp>
        <p:nvSpPr>
          <p:cNvPr id="16" name="Oval 15"/>
          <p:cNvSpPr/>
          <p:nvPr/>
        </p:nvSpPr>
        <p:spPr>
          <a:xfrm>
            <a:off x="6967727" y="1627632"/>
            <a:ext cx="182880" cy="1828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i="0">
                <a:solidFill>
                  <a:srgbClr val="FFFFFF"/>
                </a:solidFill>
                <a:latin typeface="맑은 고딕"/>
                <a:ea typeface="맑은 고딕"/>
              </a:rPr>
              <a:t>↕</a:t>
            </a:r>
          </a:p>
        </p:txBody>
      </p:sp>
      <p:sp>
        <p:nvSpPr>
          <p:cNvPr id="17" name="TextBox 16"/>
          <p:cNvSpPr txBox="1"/>
          <p:nvPr/>
        </p:nvSpPr>
        <p:spPr>
          <a:xfrm>
            <a:off x="612648" y="2212848"/>
            <a:ext cx="7863840" cy="2743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빨간 표시가 명령이 바뀌는 순간입니다. 한 에피소드에 한 번에서 네 번 바뀌고, 최소 100스텝은 같은 명령을 유지합니다.</a:t>
            </a:r>
          </a:p>
        </p:txBody>
      </p:sp>
      <p:graphicFrame>
        <p:nvGraphicFramePr>
          <p:cNvPr id="18" name="Table 17"/>
          <p:cNvGraphicFramePr>
            <a:graphicFrameLocks noGrp="1"/>
          </p:cNvGraphicFramePr>
          <p:nvPr/>
        </p:nvGraphicFramePr>
        <p:xfrm>
          <a:off x="502920" y="2651760"/>
          <a:ext cx="8138160" cy="2011680"/>
        </p:xfrm>
        <a:graphic>
          <a:graphicData uri="http://schemas.openxmlformats.org/drawingml/2006/table">
            <a:tbl>
              <a:tblPr firstRow="1" bandRow="0">
                <a:tableStyleId>{5940675A-B579-460E-94D1-54222C63F5DA}</a:tableStyleId>
              </a:tblPr>
              <a:tblGrid>
                <a:gridCol w="1280160"/>
                <a:gridCol w="6858000"/>
              </a:tblGrid>
              <a:tr h="402336">
                <a:tc>
                  <a:txBody>
                    <a:bodyPr wrap="square"/>
                    <a:lstStyle/>
                    <a:p>
                      <a:pPr algn="l"/>
                      <a:r>
                        <a:rPr sz="900" b="1" i="0">
                          <a:solidFill>
                            <a:srgbClr val="FFFFFF"/>
                          </a:solidFill>
                          <a:latin typeface="맑은 고딕"/>
                          <a:ea typeface="맑은 고딕"/>
                        </a:rPr>
                        <a:t>항목</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내용</a:t>
                      </a:r>
                    </a:p>
                  </a:txBody>
                  <a:tcPr marL="45720" marR="45720" marT="13716" marB="13716" anchor="ctr">
                    <a:solidFill>
                      <a:srgbClr val="203864"/>
                    </a:solidFill>
                  </a:tcPr>
                </a:tc>
              </a:tr>
              <a:tr h="402336">
                <a:tc>
                  <a:txBody>
                    <a:bodyPr wrap="square"/>
                    <a:lstStyle/>
                    <a:p>
                      <a:pPr algn="l"/>
                      <a:r>
                        <a:rPr sz="850" b="0" i="0">
                          <a:solidFill>
                            <a:srgbClr val="262626"/>
                          </a:solidFill>
                          <a:latin typeface="맑은 고딕"/>
                          <a:ea typeface="맑은 고딕"/>
                        </a:rPr>
                        <a:t>다음 명령</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지금 명령을 뺀 나머지 아홉 개에서 똑같은 확률로 고릅니다. 전환 쌍은 모두 90가지입니다.</a:t>
                      </a:r>
                    </a:p>
                  </a:txBody>
                  <a:tcPr marL="45720" marR="45720" marT="13716" marB="13716" anchor="ctr">
                    <a:solidFill>
                      <a:srgbClr val="FFFFFF"/>
                    </a:solidFill>
                  </a:tcPr>
                </a:tc>
              </a:tr>
              <a:tr h="402336">
                <a:tc>
                  <a:txBody>
                    <a:bodyPr wrap="square"/>
                    <a:lstStyle/>
                    <a:p>
                      <a:pPr algn="l"/>
                      <a:r>
                        <a:rPr sz="850" b="0" i="0">
                          <a:solidFill>
                            <a:srgbClr val="262626"/>
                          </a:solidFill>
                          <a:latin typeface="맑은 고딕"/>
                          <a:ea typeface="맑은 고딕"/>
                        </a:rPr>
                        <a:t>바뀌는 시점</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물리 계산이 끝난 뒤, 정책에게 관측을 주기 전에 바꿉니다. 그래서 정책은 바뀐 gait를 바로 봅니다.</a:t>
                      </a:r>
                    </a:p>
                  </a:txBody>
                  <a:tcPr marL="45720" marR="45720" marT="13716" marB="13716" anchor="ctr">
                    <a:solidFill>
                      <a:srgbClr val="EEF3FA"/>
                    </a:solidFill>
                  </a:tcPr>
                </a:tc>
              </a:tr>
              <a:tr h="402336">
                <a:tc>
                  <a:txBody>
                    <a:bodyPr wrap="square"/>
                    <a:lstStyle/>
                    <a:p>
                      <a:pPr algn="l"/>
                      <a:r>
                        <a:rPr sz="850" b="0" i="0">
                          <a:solidFill>
                            <a:srgbClr val="262626"/>
                          </a:solidFill>
                          <a:latin typeface="맑은 고딕"/>
                          <a:ea typeface="맑은 고딕"/>
                        </a:rPr>
                        <a:t>시작 위상</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에피소드가 시작할 때 gait 위상도 무작위로 정합니다. 전환 순간의 몸 상태가 다양해집니다.</a:t>
                      </a:r>
                    </a:p>
                  </a:txBody>
                  <a:tcPr marL="45720" marR="45720" marT="13716" marB="13716" anchor="ctr">
                    <a:solidFill>
                      <a:srgbClr val="FFFFFF"/>
                    </a:solidFill>
                  </a:tcPr>
                </a:tc>
              </a:tr>
              <a:tr h="402336">
                <a:tc>
                  <a:txBody>
                    <a:bodyPr wrap="square"/>
                    <a:lstStyle/>
                    <a:p>
                      <a:pPr algn="l"/>
                      <a:r>
                        <a:rPr sz="850" b="0" i="0">
                          <a:solidFill>
                            <a:srgbClr val="262626"/>
                          </a:solidFill>
                          <a:latin typeface="맑은 고딕"/>
                          <a:ea typeface="맑은 고딕"/>
                        </a:rPr>
                        <a:t>확인한 것</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전문가로 40판을 돌려 보니 전환이 50번 일어났고, 위상 정렬은 모두 정확했습니다. 전문가는 27판에서 전환 직후 넘어졌습니다.</a:t>
                      </a:r>
                    </a:p>
                  </a:txBody>
                  <a:tcPr marL="45720" marR="45720" marT="13716" marB="13716" anchor="ctr">
                    <a:solidFill>
                      <a:srgbClr val="EEF3FA"/>
                    </a:solidFill>
                  </a:tcPr>
                </a:tc>
              </a:tr>
            </a:tbl>
          </a:graphicData>
        </a:graphic>
      </p:graphicFrame>
      <p:sp>
        <p:nvSpPr>
          <p:cNvPr id="19" name="Rounded Rectangle 18"/>
          <p:cNvSpPr/>
          <p:nvPr/>
        </p:nvSpPr>
        <p:spPr>
          <a:xfrm>
            <a:off x="502920" y="4800600"/>
            <a:ext cx="8138159"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486460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시험하다 찾은 실수 두 가지</a:t>
            </a:r>
          </a:p>
        </p:txBody>
      </p:sp>
      <p:sp>
        <p:nvSpPr>
          <p:cNvPr id="21" name="TextBox 20"/>
          <p:cNvSpPr txBox="1"/>
          <p:nvPr/>
        </p:nvSpPr>
        <p:spPr>
          <a:xfrm>
            <a:off x="612648" y="5129784"/>
            <a:ext cx="7918703" cy="10515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환경 인자 이름을 max_episode_steps로 지으면 gym이 가로채서 환경에 전달되지 않습니다. 이름을 episode_horizon으로 바꿨습니다.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거꾸로 재생하는 gait의 위상 정렬에서 부호를 안 뒤집는 버그가 있었습니다. 위험한 세 쌍이 모두 앞으로 가는 gait라 그동안 드러나지 않았습니다.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첫 학습에서 만난 문제 ① 회전 진입</a:t>
            </a:r>
          </a:p>
        </p:txBody>
      </p:sp>
      <p:graphicFrame>
        <p:nvGraphicFramePr>
          <p:cNvPr id="3" name="Table 2"/>
          <p:cNvGraphicFramePr>
            <a:graphicFrameLocks noGrp="1"/>
          </p:cNvGraphicFramePr>
          <p:nvPr/>
        </p:nvGraphicFramePr>
        <p:xfrm>
          <a:off x="502920" y="1188720"/>
          <a:ext cx="8138160" cy="1828800"/>
        </p:xfrm>
        <a:graphic>
          <a:graphicData uri="http://schemas.openxmlformats.org/drawingml/2006/table">
            <a:tbl>
              <a:tblPr firstRow="1" bandRow="0">
                <a:tableStyleId>{5940675A-B579-460E-94D1-54222C63F5DA}</a:tableStyleId>
              </a:tblPr>
              <a:tblGrid>
                <a:gridCol w="4023360"/>
                <a:gridCol w="4114800"/>
              </a:tblGrid>
              <a:tr h="365760">
                <a:tc>
                  <a:txBody>
                    <a:bodyPr wrap="square"/>
                    <a:lstStyle/>
                    <a:p>
                      <a:pPr algn="l"/>
                      <a:r>
                        <a:rPr sz="950" b="1" i="0">
                          <a:solidFill>
                            <a:srgbClr val="FFFFFF"/>
                          </a:solidFill>
                          <a:latin typeface="맑은 고딕"/>
                          <a:ea typeface="맑은 고딕"/>
                        </a:rPr>
                        <a:t>무엇을 쟀나 (회전으로 전환한 24번)</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값</a:t>
                      </a:r>
                    </a:p>
                  </a:txBody>
                  <a:tcPr marL="45720" marR="45720" marT="13716" marB="13716" anchor="ctr">
                    <a:solidFill>
                      <a:srgbClr val="203864"/>
                    </a:solidFill>
                  </a:tcPr>
                </a:tc>
              </a:tr>
              <a:tr h="365760">
                <a:tc>
                  <a:txBody>
                    <a:bodyPr wrap="square"/>
                    <a:lstStyle/>
                    <a:p>
                      <a:pPr algn="l"/>
                      <a:r>
                        <a:rPr sz="900" b="0" i="0">
                          <a:solidFill>
                            <a:srgbClr val="262626"/>
                          </a:solidFill>
                          <a:latin typeface="맑은 고딕"/>
                          <a:ea typeface="맑은 고딕"/>
                        </a:rPr>
                        <a:t>100스텝 안에 실패한 비율</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54퍼센트입니다. 걷기로 전환할 때는 9퍼센트입니다.</a:t>
                      </a:r>
                    </a:p>
                  </a:txBody>
                  <a:tcPr marL="45720" marR="45720" marT="13716" marB="13716" anchor="ctr">
                    <a:solidFill>
                      <a:srgbClr val="FFFFFF"/>
                    </a:solidFill>
                  </a:tcPr>
                </a:tc>
              </a:tr>
              <a:tr h="365760">
                <a:tc>
                  <a:txBody>
                    <a:bodyPr wrap="square"/>
                    <a:lstStyle/>
                    <a:p>
                      <a:pPr algn="l"/>
                      <a:r>
                        <a:rPr sz="900" b="0" i="0">
                          <a:solidFill>
                            <a:srgbClr val="262626"/>
                          </a:solidFill>
                          <a:latin typeface="맑은 고딕"/>
                          <a:ea typeface="맑은 고딕"/>
                        </a:rPr>
                        <a:t>전환 직전 속도</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초당 0.44미터입니다.</a:t>
                      </a:r>
                    </a:p>
                  </a:txBody>
                  <a:tcPr marL="45720" marR="45720" marT="13716" marB="13716" anchor="ctr">
                    <a:solidFill>
                      <a:srgbClr val="EEF3FA"/>
                    </a:solidFill>
                  </a:tcPr>
                </a:tc>
              </a:tr>
              <a:tr h="365760">
                <a:tc>
                  <a:txBody>
                    <a:bodyPr wrap="square"/>
                    <a:lstStyle/>
                    <a:p>
                      <a:pPr algn="l"/>
                      <a:r>
                        <a:rPr sz="900" b="0" i="0">
                          <a:solidFill>
                            <a:srgbClr val="262626"/>
                          </a:solidFill>
                          <a:latin typeface="맑은 고딕"/>
                          <a:ea typeface="맑은 고딕"/>
                        </a:rPr>
                        <a:t>전환 뒤 시작점에서 벗어난 거리</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평균 0.37미터입니다. 88퍼센트가 0.2미터를 넘었습니다.</a:t>
                      </a:r>
                    </a:p>
                  </a:txBody>
                  <a:tcPr marL="45720" marR="45720" marT="13716" marB="13716" anchor="ctr">
                    <a:solidFill>
                      <a:srgbClr val="FFFFFF"/>
                    </a:solidFill>
                  </a:tcPr>
                </a:tc>
              </a:tr>
              <a:tr h="365760">
                <a:tc>
                  <a:txBody>
                    <a:bodyPr wrap="square"/>
                    <a:lstStyle/>
                    <a:p>
                      <a:pPr algn="l"/>
                      <a:r>
                        <a:rPr sz="900" b="0" i="0">
                          <a:solidFill>
                            <a:srgbClr val="262626"/>
                          </a:solidFill>
                          <a:latin typeface="맑은 고딕"/>
                          <a:ea typeface="맑은 고딕"/>
                        </a:rPr>
                        <a:t>60스텝 뒤에 기준점을 다시 잡으면</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벗어난 거리가 0.04미터로 줄고, 0.2미터를 넘는 경우가 없습니다.</a:t>
                      </a:r>
                    </a:p>
                  </a:txBody>
                  <a:tcPr marL="45720" marR="45720" marT="13716" marB="13716" anchor="ctr">
                    <a:solidFill>
                      <a:srgbClr val="EEF3FA"/>
                    </a:solidFill>
                  </a:tcPr>
                </a:tc>
              </a:tr>
            </a:tbl>
          </a:graphicData>
        </a:graphic>
      </p:graphicFrame>
      <p:sp>
        <p:nvSpPr>
          <p:cNvPr id="4" name="Rounded Rectangle 3"/>
          <p:cNvSpPr/>
          <p:nvPr/>
        </p:nvSpPr>
        <p:spPr>
          <a:xfrm>
            <a:off x="502920" y="3200400"/>
            <a:ext cx="3977639" cy="30175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326440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무슨 일이 일어났나</a:t>
            </a:r>
          </a:p>
        </p:txBody>
      </p:sp>
      <p:sp>
        <p:nvSpPr>
          <p:cNvPr id="6" name="TextBox 5"/>
          <p:cNvSpPr txBox="1"/>
          <p:nvPr/>
        </p:nvSpPr>
        <p:spPr>
          <a:xfrm>
            <a:off x="612648" y="3529584"/>
            <a:ext cx="3758183" cy="26517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회전으로 바뀌는 순간 기준점이 찍히는데, 몸은 아직 미끄러지고 있습니다. 관성만으로 0.2미터를 넘습니다.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회전 gait는 미끄러짐을 멈추거나 되돌아오지 못합니다. 그래서 60스텝 규칙에 걸려 실패합니다.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이건 정책이 고칠 수 없는 규칙 문제입니다. 게다가 정책이 평소에 천천히 걷도록 잘못 배울 위험도 있습니다.</a:t>
            </a:r>
          </a:p>
        </p:txBody>
      </p:sp>
      <p:sp>
        <p:nvSpPr>
          <p:cNvPr id="7" name="Rounded Rectangle 6"/>
          <p:cNvSpPr/>
          <p:nvPr/>
        </p:nvSpPr>
        <p:spPr>
          <a:xfrm>
            <a:off x="4663440" y="3200400"/>
            <a:ext cx="3977639" cy="822959"/>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73168" y="326440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9" name="TextBox 8"/>
          <p:cNvSpPr txBox="1"/>
          <p:nvPr/>
        </p:nvSpPr>
        <p:spPr>
          <a:xfrm>
            <a:off x="4773168" y="3529584"/>
            <a:ext cx="3758183" cy="457199"/>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회전으로 전환할 때 자꾸 실패하는 것이 정책 탓인지 규칙 탓인지 가려내고 싶었습니다.</a:t>
            </a:r>
          </a:p>
        </p:txBody>
      </p:sp>
      <p:sp>
        <p:nvSpPr>
          <p:cNvPr id="10" name="Rounded Rectangle 9"/>
          <p:cNvSpPr/>
          <p:nvPr/>
        </p:nvSpPr>
        <p:spPr>
          <a:xfrm>
            <a:off x="4663440" y="4114800"/>
            <a:ext cx="3977639" cy="1828800"/>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73168" y="417880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2" name="TextBox 11"/>
          <p:cNvSpPr txBox="1"/>
          <p:nvPr/>
        </p:nvSpPr>
        <p:spPr>
          <a:xfrm>
            <a:off x="4773168" y="4443984"/>
            <a:ext cx="3758183" cy="1463040"/>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00" b="0" i="0">
                <a:solidFill>
                  <a:srgbClr val="FFFFFF"/>
                </a:solidFill>
                <a:latin typeface="맑은 고딕"/>
                <a:ea typeface="맑은 고딕"/>
              </a:rPr>
              <a:t>규칙 탓이었습니다. 처음에는 기준점을 조금 늦게 잡자고 제안했습니다.</a:t>
            </a:r>
          </a:p>
          <a:p>
            <a:pPr algn="l" marL="146304" indent="-146304">
              <a:lnSpc>
                <a:spcPct val="106000"/>
              </a:lnSpc>
              <a:spcAft>
                <a:spcPts val="300"/>
              </a:spcAft>
              <a:buClr>
                <a:srgbClr val="9DC3E6"/>
              </a:buClr>
              <a:buChar char="▪"/>
            </a:pPr>
            <a:r>
              <a:rPr sz="900" b="0" i="0">
                <a:solidFill>
                  <a:srgbClr val="FFFFFF"/>
                </a:solidFill>
                <a:latin typeface="맑은 고딕"/>
                <a:ea typeface="맑은 고딕"/>
              </a:rPr>
              <a:t>그런데 실패 대신 기준점 가까이 있으면 점수를 더 주자는 제안을 받았고, 그 방식이 더 좋았습니다.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첫 학습에서 만난 문제 ② 새 보상 설계</a:t>
            </a:r>
          </a:p>
        </p:txBody>
      </p:sp>
      <p:graphicFrame>
        <p:nvGraphicFramePr>
          <p:cNvPr id="3" name="Table 2"/>
          <p:cNvGraphicFramePr>
            <a:graphicFrameLocks noGrp="1"/>
          </p:cNvGraphicFramePr>
          <p:nvPr/>
        </p:nvGraphicFramePr>
        <p:xfrm>
          <a:off x="502920" y="1188720"/>
          <a:ext cx="4023360" cy="2103120"/>
        </p:xfrm>
        <a:graphic>
          <a:graphicData uri="http://schemas.openxmlformats.org/drawingml/2006/table">
            <a:tbl>
              <a:tblPr firstRow="1" bandRow="0">
                <a:tableStyleId>{5940675A-B579-460E-94D1-54222C63F5DA}</a:tableStyleId>
              </a:tblPr>
              <a:tblGrid>
                <a:gridCol w="1463040"/>
                <a:gridCol w="914400"/>
                <a:gridCol w="822960"/>
                <a:gridCol w="822960"/>
              </a:tblGrid>
              <a:tr h="350520">
                <a:tc>
                  <a:txBody>
                    <a:bodyPr wrap="square"/>
                    <a:lstStyle/>
                    <a:p>
                      <a:pPr algn="l"/>
                      <a:r>
                        <a:rPr sz="950" b="1" i="0">
                          <a:solidFill>
                            <a:srgbClr val="FFFFFF"/>
                          </a:solidFill>
                          <a:latin typeface="맑은 고딕"/>
                          <a:ea typeface="맑은 고딕"/>
                        </a:rPr>
                        <a:t>기준점과의 거리</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가까이 있어서 받는 점수</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멀어서 받는 벌점</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한 스텝 합계</a:t>
                      </a:r>
                    </a:p>
                  </a:txBody>
                  <a:tcPr marL="45720" marR="45720" marT="13716" marB="13716" anchor="ctr">
                    <a:solidFill>
                      <a:srgbClr val="203864"/>
                    </a:solidFill>
                  </a:tcPr>
                </a:tc>
              </a:tr>
              <a:tr h="350520">
                <a:tc>
                  <a:txBody>
                    <a:bodyPr wrap="square"/>
                    <a:lstStyle/>
                    <a:p>
                      <a:pPr algn="l"/>
                      <a:r>
                        <a:rPr sz="900" b="0" i="0">
                          <a:solidFill>
                            <a:srgbClr val="262626"/>
                          </a:solidFill>
                          <a:latin typeface="맑은 고딕"/>
                          <a:ea typeface="맑은 고딕"/>
                        </a:rPr>
                        <a:t>0미터</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+10</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+35</a:t>
                      </a:r>
                    </a:p>
                  </a:txBody>
                  <a:tcPr marL="45720" marR="45720" marT="13716" marB="13716" anchor="ctr">
                    <a:solidFill>
                      <a:srgbClr val="FFFFFF"/>
                    </a:solidFill>
                  </a:tcPr>
                </a:tc>
              </a:tr>
              <a:tr h="350520">
                <a:tc>
                  <a:txBody>
                    <a:bodyPr wrap="square"/>
                    <a:lstStyle/>
                    <a:p>
                      <a:pPr algn="l"/>
                      <a:r>
                        <a:rPr sz="900" b="0" i="0">
                          <a:solidFill>
                            <a:srgbClr val="262626"/>
                          </a:solidFill>
                          <a:latin typeface="맑은 고딕"/>
                          <a:ea typeface="맑은 고딕"/>
                        </a:rPr>
                        <a:t>0.1미터</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+5</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-5</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+25</a:t>
                      </a:r>
                    </a:p>
                  </a:txBody>
                  <a:tcPr marL="45720" marR="45720" marT="13716" marB="13716" anchor="ctr">
                    <a:solidFill>
                      <a:srgbClr val="EEF3FA"/>
                    </a:solidFill>
                  </a:tcPr>
                </a:tc>
              </a:tr>
              <a:tr h="350520">
                <a:tc>
                  <a:txBody>
                    <a:bodyPr wrap="square"/>
                    <a:lstStyle/>
                    <a:p>
                      <a:pPr algn="l"/>
                      <a:r>
                        <a:rPr sz="900" b="0" i="0">
                          <a:solidFill>
                            <a:srgbClr val="262626"/>
                          </a:solidFill>
                          <a:latin typeface="맑은 고딕"/>
                          <a:ea typeface="맑은 고딕"/>
                        </a:rPr>
                        <a:t>0.2미터</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-10</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+15</a:t>
                      </a:r>
                    </a:p>
                  </a:txBody>
                  <a:tcPr marL="45720" marR="45720" marT="13716" marB="13716" anchor="ctr">
                    <a:solidFill>
                      <a:srgbClr val="FFFFFF"/>
                    </a:solidFill>
                  </a:tcPr>
                </a:tc>
              </a:tr>
              <a:tr h="350520">
                <a:tc>
                  <a:txBody>
                    <a:bodyPr wrap="square"/>
                    <a:lstStyle/>
                    <a:p>
                      <a:pPr algn="l"/>
                      <a:r>
                        <a:rPr sz="900" b="0" i="0">
                          <a:solidFill>
                            <a:srgbClr val="262626"/>
                          </a:solidFill>
                          <a:latin typeface="맑은 고딕"/>
                          <a:ea typeface="맑은 고딕"/>
                        </a:rPr>
                        <a:t>0.4미터 (관성으로 밀린 평균)</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0</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-20</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+5</a:t>
                      </a:r>
                    </a:p>
                  </a:txBody>
                  <a:tcPr marL="45720" marR="45720" marT="13716" marB="13716" anchor="ctr">
                    <a:solidFill>
                      <a:srgbClr val="EEF3FA"/>
                    </a:solidFill>
                  </a:tcPr>
                </a:tc>
              </a:tr>
              <a:tr h="350520">
                <a:tc>
                  <a:txBody>
                    <a:bodyPr wrap="square"/>
                    <a:lstStyle/>
                    <a:p>
                      <a:pPr algn="l"/>
                      <a:r>
                        <a:rPr sz="900" b="0" i="0">
                          <a:solidFill>
                            <a:srgbClr val="262626"/>
                          </a:solidFill>
                          <a:latin typeface="맑은 고딕"/>
                          <a:ea typeface="맑은 고딕"/>
                        </a:rPr>
                        <a:t>0.55미터 이상</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-27 이하</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마이너스</a:t>
                      </a:r>
                    </a:p>
                  </a:txBody>
                  <a:tcPr marL="45720" marR="45720" marT="13716" marB="13716" anchor="ctr">
                    <a:solidFill>
                      <a:srgbClr val="FFFFFF"/>
                    </a:solidFill>
                  </a:tcPr>
                </a:tc>
              </a:tr>
            </a:tbl>
          </a:graphicData>
        </a:graphic>
      </p:graphicFrame>
      <p:sp>
        <p:nvSpPr>
          <p:cNvPr id="4" name="TextBox 3"/>
          <p:cNvSpPr txBox="1"/>
          <p:nvPr/>
        </p:nvSpPr>
        <p:spPr>
          <a:xfrm>
            <a:off x="502920" y="3337560"/>
            <a:ext cx="4023360" cy="64008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합계는 목표 속도로 돌 때 받는 점수 25를 더한 값입니다. 실패 판정은 없앴고, 멀어질수록 깎는 벌점은 그대로 두었습니다.</a:t>
            </a:r>
          </a:p>
        </p:txBody>
      </p:sp>
      <p:sp>
        <p:nvSpPr>
          <p:cNvPr id="5" name="Rounded Rectangle 4"/>
          <p:cNvSpPr/>
          <p:nvPr/>
        </p:nvSpPr>
        <p:spPr>
          <a:xfrm>
            <a:off x="4709160" y="1188720"/>
            <a:ext cx="3931920" cy="27889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18888" y="1252728"/>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설계할 때 지킨 원칙</a:t>
            </a:r>
          </a:p>
        </p:txBody>
      </p:sp>
      <p:sp>
        <p:nvSpPr>
          <p:cNvPr id="7" name="TextBox 6"/>
          <p:cNvSpPr txBox="1"/>
          <p:nvPr/>
        </p:nvSpPr>
        <p:spPr>
          <a:xfrm>
            <a:off x="4818888" y="1517904"/>
            <a:ext cx="3712463" cy="24231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가까울수록 점수가 올라가고, 아주 멀어져도 벌점이 무한히 커지지는 않게 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가까이 있는 점수 10은 도는 점수 22.5보다 작게 두었습니다. 그래야 가만히 있는 것이 도는 것보다 유리해지지 않습니다.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밀려난 거리를 줄이면 점수가 오르니, 정책이 부드럽게 진입하는 법을 배울 이유가 생깁니다.</a:t>
            </a:r>
          </a:p>
        </p:txBody>
      </p:sp>
      <p:sp>
        <p:nvSpPr>
          <p:cNvPr id="8" name="Rounded Rectangle 7"/>
          <p:cNvSpPr/>
          <p:nvPr/>
        </p:nvSpPr>
        <p:spPr>
          <a:xfrm>
            <a:off x="502920" y="4114800"/>
            <a:ext cx="8138159" cy="660196"/>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417880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0" name="TextBox 9"/>
          <p:cNvSpPr txBox="1"/>
          <p:nvPr/>
        </p:nvSpPr>
        <p:spPr>
          <a:xfrm>
            <a:off x="612648" y="4443984"/>
            <a:ext cx="7918703" cy="294436"/>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50" b="0" i="0">
                <a:solidFill>
                  <a:srgbClr val="262626"/>
                </a:solidFill>
                <a:latin typeface="맑은 고딕"/>
                <a:ea typeface="맑은 고딕"/>
              </a:rPr>
              <a:t>실패 판정을 점수로 바꿨을 때 계산이 맞는지, 부작용은 없는지 확인하고 싶었습니다.</a:t>
            </a:r>
          </a:p>
        </p:txBody>
      </p:sp>
      <p:sp>
        <p:nvSpPr>
          <p:cNvPr id="11" name="Rounded Rectangle 10"/>
          <p:cNvSpPr/>
          <p:nvPr/>
        </p:nvSpPr>
        <p:spPr>
          <a:xfrm>
            <a:off x="502920" y="4866436"/>
            <a:ext cx="8138159" cy="1351483"/>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4930444"/>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3" name="TextBox 12"/>
          <p:cNvSpPr txBox="1"/>
          <p:nvPr/>
        </p:nvSpPr>
        <p:spPr>
          <a:xfrm>
            <a:off x="612648" y="5195620"/>
            <a:ext cx="7918703" cy="985723"/>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50" b="0" i="0">
                <a:solidFill>
                  <a:srgbClr val="FFFFFF"/>
                </a:solidFill>
                <a:latin typeface="맑은 고딕"/>
                <a:ea typeface="맑은 고딕"/>
              </a:rPr>
              <a:t>점수는 설계한 대로 나왔습니다. 회전으로 전환할 때 실패하는 비율이 54퍼센트에서 19퍼센트로 줄었습니다. 남은 것은 넘어지는 경우입니다.</a:t>
            </a:r>
          </a:p>
          <a:p>
            <a:pPr algn="l" marL="146304" indent="-146304">
              <a:lnSpc>
                <a:spcPct val="106000"/>
              </a:lnSpc>
              <a:spcAft>
                <a:spcPts val="300"/>
              </a:spcAft>
              <a:buClr>
                <a:srgbClr val="9DC3E6"/>
              </a:buClr>
              <a:buChar char="▪"/>
            </a:pPr>
            <a:r>
              <a:rPr sz="950" b="0" i="0">
                <a:solidFill>
                  <a:srgbClr val="FFFFFF"/>
                </a:solidFill>
                <a:latin typeface="맑은 고딕"/>
                <a:ea typeface="맑은 고딕"/>
              </a:rPr>
              <a:t>기본 설정으로 만든 환경은 예전과 똑같이 동작하는 것도 확인했습니다. 첫 학습은 멈추고 다시 시작했습니다.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첫 단계 학습 결과 (4천만 스텝)</a:t>
            </a:r>
          </a:p>
        </p:txBody>
      </p:sp>
      <p:graphicFrame>
        <p:nvGraphicFramePr>
          <p:cNvPr id="3" name="Chart 2"/>
          <p:cNvGraphicFramePr>
            <a:graphicFrameLocks noGrp="1"/>
          </p:cNvGraphicFramePr>
          <p:nvPr/>
        </p:nvGraphicFramePr>
        <p:xfrm>
          <a:off x="502920" y="1188720"/>
          <a:ext cx="2743200" cy="201168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3200400" y="1188720"/>
          <a:ext cx="2697480" cy="201168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5943600" y="1188720"/>
          <a:ext cx="2697480" cy="2011680"/>
        </p:xfrm>
        <a:graphic>
          <a:graphicData uri="http://schemas.openxmlformats.org/drawingml/2006/chart">
            <c:chart xmlns:c="http://schemas.openxmlformats.org/drawingml/2006/chart" r:id="rId4"/>
          </a:graphicData>
        </a:graphic>
      </p:graphicFrame>
      <p:graphicFrame>
        <p:nvGraphicFramePr>
          <p:cNvPr id="6" name="Chart 5"/>
          <p:cNvGraphicFramePr>
            <a:graphicFrameLocks noGrp="1"/>
          </p:cNvGraphicFramePr>
          <p:nvPr/>
        </p:nvGraphicFramePr>
        <p:xfrm>
          <a:off x="502920" y="3291840"/>
          <a:ext cx="4846320" cy="2926080"/>
        </p:xfrm>
        <a:graphic>
          <a:graphicData uri="http://schemas.openxmlformats.org/drawingml/2006/chart">
            <c:chart xmlns:c="http://schemas.openxmlformats.org/drawingml/2006/chart" r:id="rId5"/>
          </a:graphicData>
        </a:graphic>
      </p:graphicFrame>
      <p:sp>
        <p:nvSpPr>
          <p:cNvPr id="7" name="Rounded Rectangle 6"/>
          <p:cNvSpPr/>
          <p:nvPr/>
        </p:nvSpPr>
        <p:spPr>
          <a:xfrm>
            <a:off x="5486400" y="3291840"/>
            <a:ext cx="3154680" cy="705916"/>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96128" y="3355848"/>
            <a:ext cx="2935224"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9" name="TextBox 8"/>
          <p:cNvSpPr txBox="1"/>
          <p:nvPr/>
        </p:nvSpPr>
        <p:spPr>
          <a:xfrm>
            <a:off x="5596128" y="3621024"/>
            <a:ext cx="2935224" cy="340156"/>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합쳐 둔 정책이 무너지지 않는지, 전환 실력이 붙는지 보고 싶었습니다.</a:t>
            </a:r>
          </a:p>
        </p:txBody>
      </p:sp>
      <p:sp>
        <p:nvSpPr>
          <p:cNvPr id="10" name="Rounded Rectangle 9"/>
          <p:cNvSpPr/>
          <p:nvPr/>
        </p:nvSpPr>
        <p:spPr>
          <a:xfrm>
            <a:off x="5486400" y="4089196"/>
            <a:ext cx="3154680" cy="2128723"/>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96128" y="4153204"/>
            <a:ext cx="2935224"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2" name="TextBox 11"/>
          <p:cNvSpPr txBox="1"/>
          <p:nvPr/>
        </p:nvSpPr>
        <p:spPr>
          <a:xfrm>
            <a:off x="5596128" y="4418380"/>
            <a:ext cx="2935224" cy="1762963"/>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850" b="0" i="0">
                <a:solidFill>
                  <a:srgbClr val="FFFFFF"/>
                </a:solidFill>
                <a:latin typeface="맑은 고딕"/>
                <a:ea typeface="맑은 고딕"/>
              </a:rPr>
              <a:t>무너지지 않았습니다. 학습 중 점수는 마이너스 1만 6천에서 플러스 1만 3천으로 올랐습니다.</a:t>
            </a:r>
          </a:p>
          <a:p>
            <a:pPr algn="l" marL="146304" indent="-146304">
              <a:lnSpc>
                <a:spcPct val="106000"/>
              </a:lnSpc>
              <a:spcAft>
                <a:spcPts val="300"/>
              </a:spcAft>
              <a:buClr>
                <a:srgbClr val="9DC3E6"/>
              </a:buClr>
              <a:buChar char="▪"/>
            </a:pPr>
            <a:r>
              <a:rPr sz="850" b="0" i="0">
                <a:solidFill>
                  <a:srgbClr val="FFFFFF"/>
                </a:solidFill>
                <a:latin typeface="맑은 고딕"/>
                <a:ea typeface="맑은 고딕"/>
              </a:rPr>
              <a:t>회전으로 바뀔 때 실패하던 문제가 사라졌습니다. 이제는 diag_fr와 diag_bl로 바뀔 때만 셋 중 하나꼴로 실패합니다.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둘째와 셋째 단계 결과</a:t>
            </a:r>
          </a:p>
        </p:txBody>
      </p:sp>
      <p:graphicFrame>
        <p:nvGraphicFramePr>
          <p:cNvPr id="3" name="Chart 2"/>
          <p:cNvGraphicFramePr>
            <a:graphicFrameLocks noGrp="1"/>
          </p:cNvGraphicFramePr>
          <p:nvPr/>
        </p:nvGraphicFramePr>
        <p:xfrm>
          <a:off x="502920" y="1188720"/>
          <a:ext cx="4023360" cy="237744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4709160" y="1188720"/>
          <a:ext cx="3931920" cy="237744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502920" y="3657600"/>
          <a:ext cx="4846320" cy="2560320"/>
        </p:xfrm>
        <a:graphic>
          <a:graphicData uri="http://schemas.openxmlformats.org/drawingml/2006/chart">
            <c:chart xmlns:c="http://schemas.openxmlformats.org/drawingml/2006/chart" r:id="rId4"/>
          </a:graphicData>
        </a:graphic>
      </p:graphicFrame>
      <p:sp>
        <p:nvSpPr>
          <p:cNvPr id="6" name="Rounded Rectangle 5"/>
          <p:cNvSpPr/>
          <p:nvPr/>
        </p:nvSpPr>
        <p:spPr>
          <a:xfrm>
            <a:off x="5486400" y="3657600"/>
            <a:ext cx="3154680" cy="2560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96128" y="3721608"/>
            <a:ext cx="2935224"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요약</a:t>
            </a:r>
          </a:p>
        </p:txBody>
      </p:sp>
      <p:sp>
        <p:nvSpPr>
          <p:cNvPr id="8" name="TextBox 7"/>
          <p:cNvSpPr txBox="1"/>
          <p:nvPr/>
        </p:nvSpPr>
        <p:spPr>
          <a:xfrm>
            <a:off x="5596128" y="3986784"/>
            <a:ext cx="2935224" cy="21945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둘째 단계에서는 에포크를 3으로 올렸지만 정책이 거의 바뀌지 않았습니다.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셋째 단계에서 학습률을 두 배로 올리자 정책이 움직이기 시작했습니다.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점수는 크게 오르지 않았지만, diag_bl로 바뀔 때 실패하는 비율이 0.35에서 0.12로 줄었습니다.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왜 더 좋아지지 않았나</a:t>
            </a:r>
          </a:p>
        </p:txBody>
      </p:sp>
      <p:sp>
        <p:nvSpPr>
          <p:cNvPr id="3" name="TextBox 2"/>
          <p:cNvSpPr txBox="1"/>
          <p:nvPr/>
        </p:nvSpPr>
        <p:spPr>
          <a:xfrm>
            <a:off x="502920" y="1188720"/>
            <a:ext cx="8138159"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위상을 맞춰도 부호가 몇 개나 같아질 수 있는가 (14가 전부 같음)</a:t>
            </a:r>
          </a:p>
        </p:txBody>
      </p:sp>
      <p:graphicFrame>
        <p:nvGraphicFramePr>
          <p:cNvPr id="4" name="Table 3"/>
          <p:cNvGraphicFramePr>
            <a:graphicFrameLocks noGrp="1"/>
          </p:cNvGraphicFramePr>
          <p:nvPr/>
        </p:nvGraphicFramePr>
        <p:xfrm>
          <a:off x="502920" y="1481328"/>
          <a:ext cx="8138160" cy="2606032"/>
        </p:xfrm>
        <a:graphic>
          <a:graphicData uri="http://schemas.openxmlformats.org/drawingml/2006/table">
            <a:tbl>
              <a:tblPr firstRow="1" bandRow="0">
                <a:tableStyleId>{5940675A-B579-460E-94D1-54222C63F5DA}</a:tableStyleId>
              </a:tblPr>
              <a:tblGrid>
                <a:gridCol w="1005840"/>
                <a:gridCol w="713232"/>
                <a:gridCol w="713232"/>
                <a:gridCol w="713232"/>
                <a:gridCol w="713232"/>
                <a:gridCol w="713232"/>
                <a:gridCol w="713232"/>
                <a:gridCol w="713232"/>
                <a:gridCol w="713232"/>
                <a:gridCol w="713232"/>
                <a:gridCol w="713232"/>
              </a:tblGrid>
              <a:tr h="236912">
                <a:tc>
                  <a:txBody>
                    <a:bodyPr wrap="square"/>
                    <a:lstStyle/>
                    <a:p>
                      <a:pPr algn="l"/>
                      <a:r>
                        <a:rPr sz="800" b="1" i="0">
                          <a:solidFill>
                            <a:srgbClr val="FFFFFF"/>
                          </a:solidFill>
                          <a:latin typeface="맑은 고딕"/>
                          <a:ea typeface="맑은 고딕"/>
                        </a:rPr>
                        <a:t>출발 \ 도착</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forward</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left</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right</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diag_fl</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diag_fr</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backward</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diag_bl</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diag_br</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ccw</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cw</a:t>
                      </a:r>
                    </a:p>
                  </a:txBody>
                  <a:tcPr marL="45720" marR="45720" marT="13716" marB="13716" anchor="ctr">
                    <a:solidFill>
                      <a:srgbClr val="203864"/>
                    </a:solidFill>
                  </a:tcPr>
                </a:tc>
              </a:tr>
              <a:tr h="236912">
                <a:tc>
                  <a:txBody>
                    <a:bodyPr wrap="square"/>
                    <a:lstStyle/>
                    <a:p>
                      <a:pPr algn="l"/>
                      <a:r>
                        <a:rPr sz="750" b="0" i="0">
                          <a:solidFill>
                            <a:srgbClr val="262626"/>
                          </a:solidFill>
                          <a:latin typeface="맑은 고딕"/>
                          <a:ea typeface="맑은 고딕"/>
                        </a:rPr>
                        <a:t>forward</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12.0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7.7</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5.3</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5.3</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11.7</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8.0</a:t>
                      </a:r>
                    </a:p>
                  </a:txBody>
                  <a:tcPr marL="45720" marR="45720" marT="13716" marB="13716" anchor="ctr">
                    <a:solidFill>
                      <a:srgbClr val="FFFFFF"/>
                    </a:solidFill>
                  </a:tcPr>
                </a:tc>
              </a:tr>
              <a:tr h="236912">
                <a:tc>
                  <a:txBody>
                    <a:bodyPr wrap="square"/>
                    <a:lstStyle/>
                    <a:p>
                      <a:pPr algn="l"/>
                      <a:r>
                        <a:rPr sz="750" b="0" i="0">
                          <a:solidFill>
                            <a:srgbClr val="262626"/>
                          </a:solidFill>
                          <a:latin typeface="맑은 고딕"/>
                          <a:ea typeface="맑은 고딕"/>
                        </a:rPr>
                        <a:t>left</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13.0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5.3</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13.0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13.0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13.0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8.2</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11.0</a:t>
                      </a:r>
                    </a:p>
                  </a:txBody>
                  <a:tcPr marL="45720" marR="45720" marT="13716" marB="13716" anchor="ctr">
                    <a:solidFill>
                      <a:srgbClr val="EEF3FA"/>
                    </a:solidFill>
                  </a:tcPr>
                </a:tc>
              </a:tr>
              <a:tr h="236912">
                <a:tc>
                  <a:txBody>
                    <a:bodyPr wrap="square"/>
                    <a:lstStyle/>
                    <a:p>
                      <a:pPr algn="l"/>
                      <a:r>
                        <a:rPr sz="750" b="0" i="0">
                          <a:solidFill>
                            <a:srgbClr val="262626"/>
                          </a:solidFill>
                          <a:latin typeface="맑은 고딕"/>
                          <a:ea typeface="맑은 고딕"/>
                        </a:rPr>
                        <a:t>right</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5.3</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13.0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13.0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11.0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8.2</a:t>
                      </a:r>
                    </a:p>
                  </a:txBody>
                  <a:tcPr marL="45720" marR="45720" marT="13716" marB="13716" anchor="ctr">
                    <a:solidFill>
                      <a:srgbClr val="FFFFFF"/>
                    </a:solidFill>
                  </a:tcPr>
                </a:tc>
              </a:tr>
              <a:tr h="236912">
                <a:tc>
                  <a:txBody>
                    <a:bodyPr wrap="square"/>
                    <a:lstStyle/>
                    <a:p>
                      <a:pPr algn="l"/>
                      <a:r>
                        <a:rPr sz="750" b="0" i="0">
                          <a:solidFill>
                            <a:srgbClr val="262626"/>
                          </a:solidFill>
                          <a:latin typeface="맑은 고딕"/>
                          <a:ea typeface="맑은 고딕"/>
                        </a:rPr>
                        <a:t>diag_fl</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13.5</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5.9</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9.9</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9.5</a:t>
                      </a:r>
                    </a:p>
                  </a:txBody>
                  <a:tcPr marL="45720" marR="45720" marT="13716" marB="13716" anchor="ctr">
                    <a:solidFill>
                      <a:srgbClr val="EEF3FA"/>
                    </a:solidFill>
                  </a:tcPr>
                </a:tc>
              </a:tr>
              <a:tr h="236912">
                <a:tc>
                  <a:txBody>
                    <a:bodyPr wrap="square"/>
                    <a:lstStyle/>
                    <a:p>
                      <a:pPr algn="l"/>
                      <a:r>
                        <a:rPr sz="750" b="0" i="0">
                          <a:solidFill>
                            <a:srgbClr val="262626"/>
                          </a:solidFill>
                          <a:latin typeface="맑은 고딕"/>
                          <a:ea typeface="맑은 고딕"/>
                        </a:rPr>
                        <a:t>diag_fr</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5.9</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13.5</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9.5</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9.9</a:t>
                      </a:r>
                    </a:p>
                  </a:txBody>
                  <a:tcPr marL="45720" marR="45720" marT="13716" marB="13716" anchor="ctr">
                    <a:solidFill>
                      <a:srgbClr val="FFFFFF"/>
                    </a:solidFill>
                  </a:tcPr>
                </a:tc>
              </a:tr>
              <a:tr h="236912">
                <a:tc>
                  <a:txBody>
                    <a:bodyPr wrap="square"/>
                    <a:lstStyle/>
                    <a:p>
                      <a:pPr algn="l"/>
                      <a:r>
                        <a:rPr sz="750" b="0" i="0">
                          <a:solidFill>
                            <a:srgbClr val="262626"/>
                          </a:solidFill>
                          <a:latin typeface="맑은 고딕"/>
                          <a:ea typeface="맑은 고딕"/>
                        </a:rPr>
                        <a:t>backward</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12.0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7.7</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5.3</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5.3</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11.7</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8.0</a:t>
                      </a:r>
                    </a:p>
                  </a:txBody>
                  <a:tcPr marL="45720" marR="45720" marT="13716" marB="13716" anchor="ctr">
                    <a:solidFill>
                      <a:srgbClr val="EEF3FA"/>
                    </a:solidFill>
                  </a:tcPr>
                </a:tc>
              </a:tr>
              <a:tr h="236912">
                <a:tc>
                  <a:txBody>
                    <a:bodyPr wrap="square"/>
                    <a:lstStyle/>
                    <a:p>
                      <a:pPr algn="l"/>
                      <a:r>
                        <a:rPr sz="750" b="0" i="0">
                          <a:solidFill>
                            <a:srgbClr val="262626"/>
                          </a:solidFill>
                          <a:latin typeface="맑은 고딕"/>
                          <a:ea typeface="맑은 고딕"/>
                        </a:rPr>
                        <a:t>diag_bl</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5.9</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13.5</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9.5</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9.9</a:t>
                      </a:r>
                    </a:p>
                  </a:txBody>
                  <a:tcPr marL="45720" marR="45720" marT="13716" marB="13716" anchor="ctr">
                    <a:solidFill>
                      <a:srgbClr val="FFFFFF"/>
                    </a:solidFill>
                  </a:tcPr>
                </a:tc>
              </a:tr>
              <a:tr h="236912">
                <a:tc>
                  <a:txBody>
                    <a:bodyPr wrap="square"/>
                    <a:lstStyle/>
                    <a:p>
                      <a:pPr algn="l"/>
                      <a:r>
                        <a:rPr sz="750" b="0" i="0">
                          <a:solidFill>
                            <a:srgbClr val="262626"/>
                          </a:solidFill>
                          <a:latin typeface="맑은 고딕"/>
                          <a:ea typeface="맑은 고딕"/>
                        </a:rPr>
                        <a:t>diag_br</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13.5</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5.9</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14.0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4.8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9.9</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9.5</a:t>
                      </a:r>
                    </a:p>
                  </a:txBody>
                  <a:tcPr marL="45720" marR="45720" marT="13716" marB="13716" anchor="ctr">
                    <a:solidFill>
                      <a:srgbClr val="EEF3FA"/>
                    </a:solidFill>
                  </a:tcPr>
                </a:tc>
              </a:tr>
              <a:tr h="236912">
                <a:tc>
                  <a:txBody>
                    <a:bodyPr wrap="square"/>
                    <a:lstStyle/>
                    <a:p>
                      <a:pPr algn="l"/>
                      <a:r>
                        <a:rPr sz="750" b="0" i="0">
                          <a:solidFill>
                            <a:srgbClr val="262626"/>
                          </a:solidFill>
                          <a:latin typeface="맑은 고딕"/>
                          <a:ea typeface="맑은 고딕"/>
                        </a:rPr>
                        <a:t>ccw</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12.8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8.8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11.0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12.8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7.0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12.8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7.0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12.8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5.7</a:t>
                      </a:r>
                    </a:p>
                  </a:txBody>
                  <a:tcPr marL="45720" marR="45720" marT="13716" marB="13716" anchor="ctr">
                    <a:solidFill>
                      <a:srgbClr val="FFFFFF"/>
                    </a:solidFill>
                  </a:tcPr>
                </a:tc>
              </a:tr>
              <a:tr h="236912">
                <a:tc>
                  <a:txBody>
                    <a:bodyPr wrap="square"/>
                    <a:lstStyle/>
                    <a:p>
                      <a:pPr algn="l"/>
                      <a:r>
                        <a:rPr sz="750" b="0" i="0">
                          <a:solidFill>
                            <a:srgbClr val="262626"/>
                          </a:solidFill>
                          <a:latin typeface="맑은 고딕"/>
                          <a:ea typeface="맑은 고딕"/>
                        </a:rPr>
                        <a:t>cw</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7.0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11.0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8.8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7.0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12.8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7.0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12.8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7.0</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5.7</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a:t>
                      </a:r>
                    </a:p>
                  </a:txBody>
                  <a:tcPr marL="45720" marR="45720" marT="13716" marB="13716" anchor="ctr">
                    <a:solidFill>
                      <a:srgbClr val="EEF3FA"/>
                    </a:solidFill>
                  </a:tcPr>
                </a:tc>
              </a:tr>
            </a:tbl>
          </a:graphicData>
        </a:graphic>
      </p:graphicFrame>
      <p:sp>
        <p:nvSpPr>
          <p:cNvPr id="5" name="Rounded Rectangle 4"/>
          <p:cNvSpPr/>
          <p:nvPr/>
        </p:nvSpPr>
        <p:spPr>
          <a:xfrm>
            <a:off x="502920" y="4206240"/>
            <a:ext cx="3977639" cy="20116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27024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gait가 두 집안으로 나뉩니다</a:t>
            </a:r>
          </a:p>
        </p:txBody>
      </p:sp>
      <p:sp>
        <p:nvSpPr>
          <p:cNvPr id="7" name="TextBox 6"/>
          <p:cNvSpPr txBox="1"/>
          <p:nvPr/>
        </p:nvSpPr>
        <p:spPr>
          <a:xfrm>
            <a:off x="612648" y="4535424"/>
            <a:ext cx="3758183" cy="164592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앞으로, 뒤로, 왼쪽, 그리고 대각선 두 개가 한 집안입니다. 오른쪽과 나머지 대각선 두 개가 다른 집안입니다.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같은 집안끼리는 부호가 거의 다 맞습니다. 집안을 건너면 어느 위상에서 시작해도 관절 아홉 개쯤이 뒤집힙니다.</a:t>
            </a:r>
          </a:p>
        </p:txBody>
      </p:sp>
      <p:sp>
        <p:nvSpPr>
          <p:cNvPr id="8" name="Rounded Rectangle 7"/>
          <p:cNvSpPr/>
          <p:nvPr/>
        </p:nvSpPr>
        <p:spPr>
          <a:xfrm>
            <a:off x="4663440" y="4206240"/>
            <a:ext cx="3977639" cy="20116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73168" y="427024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실험으로 확인한 것</a:t>
            </a:r>
          </a:p>
        </p:txBody>
      </p:sp>
      <p:sp>
        <p:nvSpPr>
          <p:cNvPr id="10" name="TextBox 9"/>
          <p:cNvSpPr txBox="1"/>
          <p:nvPr/>
        </p:nvSpPr>
        <p:spPr>
          <a:xfrm>
            <a:off x="4773168" y="4535424"/>
            <a:ext cx="3758183" cy="164592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diag_fr로 바뀔 때는 20스텝만 힘을 빼고 있으면 거의 넘어지지 않습니다. 정책이 그 방법을 못 배웠을 뿐입니다.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diag_bl로 바뀔 때는 힘을 빼도 넘어집니다. 위상 정렬이 고른 시작 위상 자체가 나쁜 경우입니다.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합친 정책 하나로 경로 따라가기 ①</a:t>
            </a:r>
          </a:p>
        </p:txBody>
      </p:sp>
      <p:sp>
        <p:nvSpPr>
          <p:cNvPr id="3" name="Rounded Rectangle 2"/>
          <p:cNvSpPr/>
          <p:nvPr/>
        </p:nvSpPr>
        <p:spPr>
          <a:xfrm>
            <a:off x="475488" y="1161288"/>
            <a:ext cx="2660904" cy="1520761"/>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ath_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2606040" cy="1465897"/>
          </a:xfrm>
          <a:prstGeom prst="rect">
            <a:avLst/>
          </a:prstGeom>
        </p:spPr>
      </p:pic>
      <p:sp>
        <p:nvSpPr>
          <p:cNvPr id="5" name="TextBox 4"/>
          <p:cNvSpPr txBox="1"/>
          <p:nvPr/>
        </p:nvSpPr>
        <p:spPr>
          <a:xfrm>
            <a:off x="502920" y="2700337"/>
            <a:ext cx="26060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네모: 오차 0.18미터, 전환 8번, 37초</a:t>
            </a:r>
          </a:p>
        </p:txBody>
      </p:sp>
      <p:sp>
        <p:nvSpPr>
          <p:cNvPr id="6" name="Rounded Rectangle 5"/>
          <p:cNvSpPr/>
          <p:nvPr/>
        </p:nvSpPr>
        <p:spPr>
          <a:xfrm>
            <a:off x="3236976" y="1161288"/>
            <a:ext cx="2660904" cy="1520761"/>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ath_demo.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3264408" y="1188720"/>
            <a:ext cx="2606040" cy="1465897"/>
          </a:xfrm>
          <a:prstGeom prst="rect">
            <a:avLst/>
          </a:prstGeom>
        </p:spPr>
      </p:pic>
      <p:sp>
        <p:nvSpPr>
          <p:cNvPr id="8" name="TextBox 7"/>
          <p:cNvSpPr txBox="1"/>
          <p:nvPr/>
        </p:nvSpPr>
        <p:spPr>
          <a:xfrm>
            <a:off x="3264408" y="2700337"/>
            <a:ext cx="26060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별: 오차 0.34미터, 전환 15번, 59초</a:t>
            </a:r>
          </a:p>
        </p:txBody>
      </p:sp>
      <p:sp>
        <p:nvSpPr>
          <p:cNvPr id="9" name="Rounded Rectangle 8"/>
          <p:cNvSpPr/>
          <p:nvPr/>
        </p:nvSpPr>
        <p:spPr>
          <a:xfrm>
            <a:off x="5998464" y="1161288"/>
            <a:ext cx="2660904" cy="1520761"/>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ath_demo.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10"/>
          <a:stretch>
            <a:fillRect/>
          </a:stretch>
        </p:blipFill>
        <p:spPr>
          <a:xfrm>
            <a:off x="6025896" y="1188720"/>
            <a:ext cx="2606040" cy="1465897"/>
          </a:xfrm>
          <a:prstGeom prst="rect">
            <a:avLst/>
          </a:prstGeom>
        </p:spPr>
      </p:pic>
      <p:sp>
        <p:nvSpPr>
          <p:cNvPr id="11" name="TextBox 10"/>
          <p:cNvSpPr txBox="1"/>
          <p:nvPr/>
        </p:nvSpPr>
        <p:spPr>
          <a:xfrm>
            <a:off x="6025896" y="2700337"/>
            <a:ext cx="26060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gauntlet: 오차 0.25미터, 전환 13번, 59초</a:t>
            </a:r>
          </a:p>
        </p:txBody>
      </p:sp>
      <p:sp>
        <p:nvSpPr>
          <p:cNvPr id="12" name="Rounded Rectangle 11"/>
          <p:cNvSpPr/>
          <p:nvPr/>
        </p:nvSpPr>
        <p:spPr>
          <a:xfrm>
            <a:off x="502920" y="3063240"/>
            <a:ext cx="8138159" cy="12801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31272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어떻게 돌렸나</a:t>
            </a:r>
          </a:p>
        </p:txBody>
      </p:sp>
      <p:sp>
        <p:nvSpPr>
          <p:cNvPr id="14" name="TextBox 13"/>
          <p:cNvSpPr txBox="1"/>
          <p:nvPr/>
        </p:nvSpPr>
        <p:spPr>
          <a:xfrm>
            <a:off x="612648" y="3392424"/>
            <a:ext cx="7918703" cy="914399"/>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정책 하나가 모든 명령을 맡습니다. 명령이 바뀌면 학습 때와 똑같이 위상을 정렬하고, 정책은 바뀐 gait를 바로 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두 정책의 행동을 섞는 단계는 없습니다. 전환을 다루는 일은 이제 정책의 몫입니다.</a:t>
            </a:r>
          </a:p>
        </p:txBody>
      </p:sp>
      <p:sp>
        <p:nvSpPr>
          <p:cNvPr id="15" name="Rounded Rectangle 14"/>
          <p:cNvSpPr/>
          <p:nvPr/>
        </p:nvSpPr>
        <p:spPr>
          <a:xfrm>
            <a:off x="502920" y="4480560"/>
            <a:ext cx="8138159" cy="570585"/>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454456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7" name="TextBox 16"/>
          <p:cNvSpPr txBox="1"/>
          <p:nvPr/>
        </p:nvSpPr>
        <p:spPr>
          <a:xfrm>
            <a:off x="612648" y="4809744"/>
            <a:ext cx="7918703" cy="204825"/>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전환을 배운 정책이 전문가를 바꿔 끼우던 방식보다 나은지 같은 경로에서 비교하고 싶었습니다.</a:t>
            </a:r>
          </a:p>
        </p:txBody>
      </p:sp>
      <p:sp>
        <p:nvSpPr>
          <p:cNvPr id="18" name="Rounded Rectangle 17"/>
          <p:cNvSpPr/>
          <p:nvPr/>
        </p:nvSpPr>
        <p:spPr>
          <a:xfrm>
            <a:off x="502920" y="5142585"/>
            <a:ext cx="8138159" cy="1075334"/>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 y="5206593"/>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20" name="TextBox 19"/>
          <p:cNvSpPr txBox="1"/>
          <p:nvPr/>
        </p:nvSpPr>
        <p:spPr>
          <a:xfrm>
            <a:off x="612648" y="5471769"/>
            <a:ext cx="7918703" cy="709574"/>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900" b="0" i="0">
                <a:solidFill>
                  <a:srgbClr val="FFFFFF"/>
                </a:solidFill>
                <a:latin typeface="맑은 고딕"/>
                <a:ea typeface="맑은 고딕"/>
              </a:rPr>
              <a:t>위험한 전환이 몰린 gauntlet에서 오차가 27퍼센트 줄고, 전환 횟수는 3분의 1, 시간은 절반이 됐습니다.</a:t>
            </a:r>
          </a:p>
          <a:p>
            <a:pPr algn="l" marL="146304" indent="-146304">
              <a:lnSpc>
                <a:spcPct val="106000"/>
              </a:lnSpc>
              <a:spcAft>
                <a:spcPts val="300"/>
              </a:spcAft>
              <a:buClr>
                <a:srgbClr val="9DC3E6"/>
              </a:buClr>
              <a:buChar char="▪"/>
            </a:pPr>
            <a:r>
              <a:rPr sz="900" b="0" i="0">
                <a:solidFill>
                  <a:srgbClr val="FFFFFF"/>
                </a:solidFill>
                <a:latin typeface="맑은 고딕"/>
                <a:ea typeface="맑은 고딕"/>
              </a:rPr>
              <a:t>네모와 별은 오차가 비슷하지만 시간이 더 걸렸습니다. 전환 직후에 속도가 줄기 때문입니다.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7"/>
                </p:tgtEl>
              </p:cMediaNode>
            </p:video>
            <p:video>
              <p:cMediaNode vol="80000">
                <p:cTn id="4" fill="hold" display="0">
                  <p:stCondLst>
                    <p:cond delay="indefinite"/>
                  </p:stCondLst>
                </p:cTn>
                <p:tgtEl>
                  <p:spTgt spid="10"/>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합친 정책 하나로 경로 따라가기 ②</a:t>
            </a:r>
          </a:p>
        </p:txBody>
      </p:sp>
      <p:graphicFrame>
        <p:nvGraphicFramePr>
          <p:cNvPr id="3" name="Chart 2"/>
          <p:cNvGraphicFramePr>
            <a:graphicFrameLocks noGrp="1"/>
          </p:cNvGraphicFramePr>
          <p:nvPr/>
        </p:nvGraphicFramePr>
        <p:xfrm>
          <a:off x="502920" y="1188720"/>
          <a:ext cx="4023360" cy="2286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4709160" y="1188720"/>
          <a:ext cx="3931920" cy="228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02920" y="3611880"/>
          <a:ext cx="8138160" cy="1920240"/>
        </p:xfrm>
        <a:graphic>
          <a:graphicData uri="http://schemas.openxmlformats.org/drawingml/2006/table">
            <a:tbl>
              <a:tblPr firstRow="1" bandRow="0">
                <a:tableStyleId>{5940675A-B579-460E-94D1-54222C63F5DA}</a:tableStyleId>
              </a:tblPr>
              <a:tblGrid>
                <a:gridCol w="1828800"/>
                <a:gridCol w="1325880"/>
                <a:gridCol w="1325880"/>
                <a:gridCol w="1325880"/>
                <a:gridCol w="1143000"/>
                <a:gridCol w="1188720"/>
              </a:tblGrid>
              <a:tr h="274320">
                <a:tc>
                  <a:txBody>
                    <a:bodyPr wrap="square"/>
                    <a:lstStyle/>
                    <a:p>
                      <a:pPr algn="l"/>
                      <a:r>
                        <a:rPr sz="850" b="1" i="0">
                          <a:solidFill>
                            <a:srgbClr val="FFFFFF"/>
                          </a:solidFill>
                          <a:latin typeface="맑은 고딕"/>
                          <a:ea typeface="맑은 고딕"/>
                        </a:rPr>
                        <a:t>어떤 정책</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네모</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별</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gauntlet</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평균 오차</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총 시간</a:t>
                      </a:r>
                    </a:p>
                  </a:txBody>
                  <a:tcPr marL="45720" marR="45720" marT="13716" marB="13716" anchor="ctr">
                    <a:solidFill>
                      <a:srgbClr val="203864"/>
                    </a:solidFill>
                  </a:tcPr>
                </a:tc>
              </a:tr>
              <a:tr h="274320">
                <a:tc>
                  <a:txBody>
                    <a:bodyPr wrap="square"/>
                    <a:lstStyle/>
                    <a:p>
                      <a:pPr algn="l"/>
                      <a:r>
                        <a:rPr sz="800" b="0" i="0">
                          <a:solidFill>
                            <a:srgbClr val="262626"/>
                          </a:solidFill>
                          <a:latin typeface="맑은 고딕"/>
                          <a:ea typeface="맑은 고딕"/>
                        </a:rPr>
                        <a:t>전문가 바꿔 끼우기</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0.193 / 20초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0.334 / 43초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0.345 / 129초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0.291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192초</a:t>
                      </a:r>
                    </a:p>
                  </a:txBody>
                  <a:tcPr marL="45720" marR="45720" marT="13716" marB="13716" anchor="ctr">
                    <a:solidFill>
                      <a:srgbClr val="FFFFFF"/>
                    </a:solidFill>
                  </a:tcPr>
                </a:tc>
              </a:tr>
              <a:tr h="274320">
                <a:tc>
                  <a:txBody>
                    <a:bodyPr wrap="square"/>
                    <a:lstStyle/>
                    <a:p>
                      <a:pPr algn="l"/>
                      <a:r>
                        <a:rPr sz="800" b="0" i="0">
                          <a:solidFill>
                            <a:srgbClr val="262626"/>
                          </a:solidFill>
                          <a:latin typeface="맑은 고딕"/>
                          <a:ea typeface="맑은 고딕"/>
                        </a:rPr>
                        <a:t>첫 단계 끝</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0.180 / 38초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0.343 / 59초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0.253 / 59초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0.259</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155초</a:t>
                      </a:r>
                    </a:p>
                  </a:txBody>
                  <a:tcPr marL="45720" marR="45720" marT="13716" marB="13716" anchor="ctr">
                    <a:solidFill>
                      <a:srgbClr val="EEF3FA"/>
                    </a:solidFill>
                  </a:tcPr>
                </a:tc>
              </a:tr>
              <a:tr h="274320">
                <a:tc>
                  <a:txBody>
                    <a:bodyPr wrap="square"/>
                    <a:lstStyle/>
                    <a:p>
                      <a:pPr algn="l"/>
                      <a:r>
                        <a:rPr sz="800" b="0" i="0">
                          <a:solidFill>
                            <a:srgbClr val="262626"/>
                          </a:solidFill>
                          <a:latin typeface="맑은 고딕"/>
                          <a:ea typeface="맑은 고딕"/>
                        </a:rPr>
                        <a:t>둘째 단계 최고</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0.321 / 30초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0.273 / 46초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0.219 / 70초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0.271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146초</a:t>
                      </a:r>
                    </a:p>
                  </a:txBody>
                  <a:tcPr marL="45720" marR="45720" marT="13716" marB="13716" anchor="ctr">
                    <a:solidFill>
                      <a:srgbClr val="FFFFFF"/>
                    </a:solidFill>
                  </a:tcPr>
                </a:tc>
              </a:tr>
              <a:tr h="274320">
                <a:tc>
                  <a:txBody>
                    <a:bodyPr wrap="square"/>
                    <a:lstStyle/>
                    <a:p>
                      <a:pPr algn="l"/>
                      <a:r>
                        <a:rPr sz="800" b="0" i="0">
                          <a:solidFill>
                            <a:srgbClr val="262626"/>
                          </a:solidFill>
                          <a:latin typeface="맑은 고딕"/>
                          <a:ea typeface="맑은 고딕"/>
                        </a:rPr>
                        <a:t>둘째 단계 끝</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0.164 / 21초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0.280 / 40초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0.408 / 86초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0.284</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147초</a:t>
                      </a:r>
                    </a:p>
                  </a:txBody>
                  <a:tcPr marL="45720" marR="45720" marT="13716" marB="13716" anchor="ctr">
                    <a:solidFill>
                      <a:srgbClr val="EEF3FA"/>
                    </a:solidFill>
                  </a:tcPr>
                </a:tc>
              </a:tr>
              <a:tr h="274320">
                <a:tc>
                  <a:txBody>
                    <a:bodyPr wrap="square"/>
                    <a:lstStyle/>
                    <a:p>
                      <a:pPr algn="l"/>
                      <a:r>
                        <a:rPr sz="800" b="0" i="0">
                          <a:solidFill>
                            <a:srgbClr val="262626"/>
                          </a:solidFill>
                          <a:latin typeface="맑은 고딕"/>
                          <a:ea typeface="맑은 고딕"/>
                        </a:rPr>
                        <a:t>셋째 단계 최고</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0.211 / 19초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0.472 / 125초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0.298 / 49초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0.327</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193초</a:t>
                      </a:r>
                    </a:p>
                  </a:txBody>
                  <a:tcPr marL="45720" marR="45720" marT="13716" marB="13716" anchor="ctr">
                    <a:solidFill>
                      <a:srgbClr val="FFFFFF"/>
                    </a:solidFill>
                  </a:tcPr>
                </a:tc>
              </a:tr>
              <a:tr h="274320">
                <a:tc>
                  <a:txBody>
                    <a:bodyPr wrap="square"/>
                    <a:lstStyle/>
                    <a:p>
                      <a:pPr algn="l"/>
                      <a:r>
                        <a:rPr sz="800" b="0" i="0">
                          <a:solidFill>
                            <a:srgbClr val="262626"/>
                          </a:solidFill>
                          <a:latin typeface="맑은 고딕"/>
                          <a:ea typeface="맑은 고딕"/>
                        </a:rPr>
                        <a:t>셋째 단계 끝</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0.447 / 50초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0.306 / 61초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0.223 / 33초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0.325</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144초</a:t>
                      </a:r>
                    </a:p>
                  </a:txBody>
                  <a:tcPr marL="45720" marR="45720" marT="13716" marB="13716" anchor="ctr">
                    <a:solidFill>
                      <a:srgbClr val="EEF3FA"/>
                    </a:solidFill>
                  </a:tcPr>
                </a:tc>
              </a:tr>
            </a:tbl>
          </a:graphicData>
        </a:graphic>
      </p:graphicFrame>
      <p:sp>
        <p:nvSpPr>
          <p:cNvPr id="6" name="TextBox 5"/>
          <p:cNvSpPr txBox="1"/>
          <p:nvPr/>
        </p:nvSpPr>
        <p:spPr>
          <a:xfrm>
            <a:off x="502920" y="5577840"/>
            <a:ext cx="8138159" cy="64008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한 경로를 한 번씩만 돈 결과라서, 전환 한 번의 실패가 평균을 크게 흔듭니다. 어떤 정책이 나은지는 뒤에 나오는 40판 벤치마크로 정했습니다.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시각화 ① 열 가지 명령 차례로</a:t>
            </a:r>
          </a:p>
        </p:txBody>
      </p:sp>
      <p:sp>
        <p:nvSpPr>
          <p:cNvPr id="3" name="Rounded Rectangle 2"/>
          <p:cNvSpPr/>
          <p:nvPr/>
        </p:nvSpPr>
        <p:spPr>
          <a:xfrm>
            <a:off x="475488" y="1161288"/>
            <a:ext cx="4261103" cy="242087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command_tou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4206240" cy="2366010"/>
          </a:xfrm>
          <a:prstGeom prst="rect">
            <a:avLst/>
          </a:prstGeom>
        </p:spPr>
      </p:pic>
      <p:sp>
        <p:nvSpPr>
          <p:cNvPr id="5" name="TextBox 4"/>
          <p:cNvSpPr txBox="1"/>
          <p:nvPr/>
        </p:nvSpPr>
        <p:spPr>
          <a:xfrm>
            <a:off x="502920" y="3600450"/>
            <a:ext cx="42062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열 가지 명령을 6초씩 차례로 바꿔 가며 돌린 영상입니다.</a:t>
            </a:r>
          </a:p>
        </p:txBody>
      </p:sp>
      <p:graphicFrame>
        <p:nvGraphicFramePr>
          <p:cNvPr id="6" name="Table 5"/>
          <p:cNvGraphicFramePr>
            <a:graphicFrameLocks noGrp="1"/>
          </p:cNvGraphicFramePr>
          <p:nvPr/>
        </p:nvGraphicFramePr>
        <p:xfrm>
          <a:off x="4892040" y="1188720"/>
          <a:ext cx="3749040" cy="2468879"/>
        </p:xfrm>
        <a:graphic>
          <a:graphicData uri="http://schemas.openxmlformats.org/drawingml/2006/table">
            <a:tbl>
              <a:tblPr firstRow="1" bandRow="0">
                <a:tableStyleId>{5940675A-B579-460E-94D1-54222C63F5DA}</a:tableStyleId>
              </a:tblPr>
              <a:tblGrid>
                <a:gridCol w="822960"/>
                <a:gridCol w="1828800"/>
                <a:gridCol w="1097280"/>
              </a:tblGrid>
              <a:tr h="352697">
                <a:tc>
                  <a:txBody>
                    <a:bodyPr wrap="square"/>
                    <a:lstStyle/>
                    <a:p>
                      <a:pPr algn="l"/>
                      <a:r>
                        <a:rPr sz="900" b="1" i="0">
                          <a:solidFill>
                            <a:srgbClr val="FFFFFF"/>
                          </a:solidFill>
                          <a:latin typeface="맑은 고딕"/>
                          <a:ea typeface="맑은 고딕"/>
                        </a:rPr>
                        <a:t>구간</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명령</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불안정했던 스텝 수 (120 중)</a:t>
                      </a:r>
                    </a:p>
                  </a:txBody>
                  <a:tcPr marL="45720" marR="45720" marT="13716" marB="13716" anchor="ctr">
                    <a:solidFill>
                      <a:srgbClr val="203864"/>
                    </a:solidFill>
                  </a:tcPr>
                </a:tc>
              </a:tr>
              <a:tr h="352697">
                <a:tc>
                  <a:txBody>
                    <a:bodyPr wrap="square"/>
                    <a:lstStyle/>
                    <a:p>
                      <a:pPr algn="l"/>
                      <a:r>
                        <a:rPr sz="850" b="0" i="0">
                          <a:solidFill>
                            <a:srgbClr val="262626"/>
                          </a:solidFill>
                          <a:latin typeface="맑은 고딕"/>
                          <a:ea typeface="맑은 고딕"/>
                        </a:rPr>
                        <a:t>1, 3, 4, 5</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forward, right, diag_br, backward</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a:t>
                      </a:r>
                    </a:p>
                  </a:txBody>
                  <a:tcPr marL="45720" marR="45720" marT="13716" marB="13716" anchor="ctr">
                    <a:solidFill>
                      <a:srgbClr val="FFFFFF"/>
                    </a:solidFill>
                  </a:tcPr>
                </a:tc>
              </a:tr>
              <a:tr h="352697">
                <a:tc>
                  <a:txBody>
                    <a:bodyPr wrap="square"/>
                    <a:lstStyle/>
                    <a:p>
                      <a:pPr algn="l"/>
                      <a:r>
                        <a:rPr sz="850" b="0" i="0">
                          <a:solidFill>
                            <a:srgbClr val="262626"/>
                          </a:solidFill>
                          <a:latin typeface="맑은 고딕"/>
                          <a:ea typeface="맑은 고딕"/>
                        </a:rPr>
                        <a:t>2</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diag_fr</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12</a:t>
                      </a:r>
                    </a:p>
                  </a:txBody>
                  <a:tcPr marL="45720" marR="45720" marT="13716" marB="13716" anchor="ctr">
                    <a:solidFill>
                      <a:srgbClr val="EEF3FA"/>
                    </a:solidFill>
                  </a:tcPr>
                </a:tc>
              </a:tr>
              <a:tr h="352697">
                <a:tc>
                  <a:txBody>
                    <a:bodyPr wrap="square"/>
                    <a:lstStyle/>
                    <a:p>
                      <a:pPr algn="l"/>
                      <a:r>
                        <a:rPr sz="850" b="0" i="0">
                          <a:solidFill>
                            <a:srgbClr val="262626"/>
                          </a:solidFill>
                          <a:latin typeface="맑은 고딕"/>
                          <a:ea typeface="맑은 고딕"/>
                        </a:rPr>
                        <a:t>6</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diag_bl</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24</a:t>
                      </a:r>
                    </a:p>
                  </a:txBody>
                  <a:tcPr marL="45720" marR="45720" marT="13716" marB="13716" anchor="ctr">
                    <a:solidFill>
                      <a:srgbClr val="FFFFFF"/>
                    </a:solidFill>
                  </a:tcPr>
                </a:tc>
              </a:tr>
              <a:tr h="352697">
                <a:tc>
                  <a:txBody>
                    <a:bodyPr wrap="square"/>
                    <a:lstStyle/>
                    <a:p>
                      <a:pPr algn="l"/>
                      <a:r>
                        <a:rPr sz="850" b="0" i="0">
                          <a:solidFill>
                            <a:srgbClr val="262626"/>
                          </a:solidFill>
                          <a:latin typeface="맑은 고딕"/>
                          <a:ea typeface="맑은 고딕"/>
                        </a:rPr>
                        <a:t>7</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left</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a:t>
                      </a:r>
                    </a:p>
                  </a:txBody>
                  <a:tcPr marL="45720" marR="45720" marT="13716" marB="13716" anchor="ctr">
                    <a:solidFill>
                      <a:srgbClr val="EEF3FA"/>
                    </a:solidFill>
                  </a:tcPr>
                </a:tc>
              </a:tr>
              <a:tr h="352697">
                <a:tc>
                  <a:txBody>
                    <a:bodyPr wrap="square"/>
                    <a:lstStyle/>
                    <a:p>
                      <a:pPr algn="l"/>
                      <a:r>
                        <a:rPr sz="850" b="0" i="0">
                          <a:solidFill>
                            <a:srgbClr val="262626"/>
                          </a:solidFill>
                          <a:latin typeface="맑은 고딕"/>
                          <a:ea typeface="맑은 고딕"/>
                        </a:rPr>
                        <a:t>8</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diag_fl (앞 구간의 여파)</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63</a:t>
                      </a:r>
                    </a:p>
                  </a:txBody>
                  <a:tcPr marL="45720" marR="45720" marT="13716" marB="13716" anchor="ctr">
                    <a:solidFill>
                      <a:srgbClr val="FFFFFF"/>
                    </a:solidFill>
                  </a:tcPr>
                </a:tc>
              </a:tr>
              <a:tr h="352697">
                <a:tc>
                  <a:txBody>
                    <a:bodyPr wrap="square"/>
                    <a:lstStyle/>
                    <a:p>
                      <a:pPr algn="l"/>
                      <a:r>
                        <a:rPr sz="850" b="0" i="0">
                          <a:solidFill>
                            <a:srgbClr val="262626"/>
                          </a:solidFill>
                          <a:latin typeface="맑은 고딕"/>
                          <a:ea typeface="맑은 고딕"/>
                        </a:rPr>
                        <a:t>9, 10</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ccw, cw</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a:t>
                      </a:r>
                    </a:p>
                  </a:txBody>
                  <a:tcPr marL="45720" marR="45720" marT="13716" marB="13716" anchor="ctr">
                    <a:solidFill>
                      <a:srgbClr val="EEF3FA"/>
                    </a:solidFill>
                  </a:tcPr>
                </a:tc>
              </a:tr>
            </a:tbl>
          </a:graphicData>
        </a:graphic>
      </p:graphicFrame>
      <p:sp>
        <p:nvSpPr>
          <p:cNvPr id="7" name="Rounded Rectangle 6"/>
          <p:cNvSpPr/>
          <p:nvPr/>
        </p:nvSpPr>
        <p:spPr>
          <a:xfrm>
            <a:off x="4892040" y="3794760"/>
            <a:ext cx="3749039" cy="24231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1768" y="3858768"/>
            <a:ext cx="35295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화면에 나오는 정보</a:t>
            </a:r>
          </a:p>
        </p:txBody>
      </p:sp>
      <p:sp>
        <p:nvSpPr>
          <p:cNvPr id="9" name="TextBox 8"/>
          <p:cNvSpPr txBox="1"/>
          <p:nvPr/>
        </p:nvSpPr>
        <p:spPr>
          <a:xfrm>
            <a:off x="5001768" y="4123944"/>
            <a:ext cx="3529583" cy="205740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왼쪽 위에는 지금 명령과 전환한 뒤 지난 시간이 나옵니다. 동그라미 안 화살표는 목표 방향입니다.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왼쪽 아래 막대는 정책이 관절 열네 개에 주는 힘의 세기입니다.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바닥의 노란 상자는 명령이 바뀐 자리이고, 파란 화살표는 로봇이 향한 방향입니다.</a:t>
            </a:r>
          </a:p>
        </p:txBody>
      </p:sp>
      <p:sp>
        <p:nvSpPr>
          <p:cNvPr id="10" name="Rounded Rectangle 9"/>
          <p:cNvSpPr/>
          <p:nvPr/>
        </p:nvSpPr>
        <p:spPr>
          <a:xfrm>
            <a:off x="502920" y="3902202"/>
            <a:ext cx="4206240" cy="778794"/>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3966210"/>
            <a:ext cx="39867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2" name="TextBox 11"/>
          <p:cNvSpPr txBox="1"/>
          <p:nvPr/>
        </p:nvSpPr>
        <p:spPr>
          <a:xfrm>
            <a:off x="612648" y="4231386"/>
            <a:ext cx="3986783" cy="413034"/>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정책 하나가 열 가지 명령과 그 사이 전환을 어떻게 해내는지 한 번에 보고 싶었습니다.</a:t>
            </a:r>
          </a:p>
        </p:txBody>
      </p:sp>
      <p:sp>
        <p:nvSpPr>
          <p:cNvPr id="13" name="Rounded Rectangle 12"/>
          <p:cNvSpPr/>
          <p:nvPr/>
        </p:nvSpPr>
        <p:spPr>
          <a:xfrm>
            <a:off x="502920" y="4772436"/>
            <a:ext cx="4206240" cy="1445483"/>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4836444"/>
            <a:ext cx="39867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5" name="TextBox 14"/>
          <p:cNvSpPr txBox="1"/>
          <p:nvPr/>
        </p:nvSpPr>
        <p:spPr>
          <a:xfrm>
            <a:off x="612648" y="5101620"/>
            <a:ext cx="3986783" cy="1079723"/>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850" b="0" i="0">
                <a:solidFill>
                  <a:srgbClr val="FFFFFF"/>
                </a:solidFill>
                <a:latin typeface="맑은 고딕"/>
                <a:ea typeface="맑은 고딕"/>
              </a:rPr>
              <a:t>열 구간 중 여덟 구간은 깨끗합니다. diag_fr와 diag_bl로 바뀔 때만 흔들렸습니다. 벤치마크와 같은 결과입니다.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시각화 ② 전환 느리게 보기</a:t>
            </a:r>
          </a:p>
        </p:txBody>
      </p:sp>
      <p:sp>
        <p:nvSpPr>
          <p:cNvPr id="3" name="Rounded Rectangle 2"/>
          <p:cNvSpPr/>
          <p:nvPr/>
        </p:nvSpPr>
        <p:spPr>
          <a:xfrm>
            <a:off x="475488" y="1161288"/>
            <a:ext cx="4078224" cy="231800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closeup_forward_to_diag_f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4023360" cy="2263140"/>
          </a:xfrm>
          <a:prstGeom prst="rect">
            <a:avLst/>
          </a:prstGeom>
        </p:spPr>
      </p:pic>
      <p:sp>
        <p:nvSpPr>
          <p:cNvPr id="5" name="TextBox 4"/>
          <p:cNvSpPr txBox="1"/>
          <p:nvPr/>
        </p:nvSpPr>
        <p:spPr>
          <a:xfrm>
            <a:off x="502920" y="3497580"/>
            <a:ext cx="40233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forward에서 diag_fr로. 150스텝 동안 안정했습니다.</a:t>
            </a:r>
          </a:p>
        </p:txBody>
      </p:sp>
      <p:sp>
        <p:nvSpPr>
          <p:cNvPr id="6" name="Rounded Rectangle 5"/>
          <p:cNvSpPr/>
          <p:nvPr/>
        </p:nvSpPr>
        <p:spPr>
          <a:xfrm>
            <a:off x="475488" y="3771900"/>
            <a:ext cx="4078224" cy="231800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closeup_backward_to_diag_bl.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502920" y="3799332"/>
            <a:ext cx="4023360" cy="2263140"/>
          </a:xfrm>
          <a:prstGeom prst="rect">
            <a:avLst/>
          </a:prstGeom>
        </p:spPr>
      </p:pic>
      <p:sp>
        <p:nvSpPr>
          <p:cNvPr id="8" name="TextBox 7"/>
          <p:cNvSpPr txBox="1"/>
          <p:nvPr/>
        </p:nvSpPr>
        <p:spPr>
          <a:xfrm>
            <a:off x="502920" y="6108192"/>
            <a:ext cx="402336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backward에서 diag_bl로. 61스텝 동안 불안정했습니다.</a:t>
            </a:r>
          </a:p>
        </p:txBody>
      </p:sp>
      <p:sp>
        <p:nvSpPr>
          <p:cNvPr id="9" name="Rounded Rectangle 8"/>
          <p:cNvSpPr/>
          <p:nvPr/>
        </p:nvSpPr>
        <p:spPr>
          <a:xfrm>
            <a:off x="4709160" y="1188720"/>
            <a:ext cx="3931920" cy="24231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18888" y="1252728"/>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힘의 막대를 보면</a:t>
            </a:r>
          </a:p>
        </p:txBody>
      </p:sp>
      <p:sp>
        <p:nvSpPr>
          <p:cNvPr id="11" name="TextBox 10"/>
          <p:cNvSpPr txBox="1"/>
          <p:nvPr/>
        </p:nvSpPr>
        <p:spPr>
          <a:xfrm>
            <a:off x="4818888" y="1517904"/>
            <a:ext cx="3712463" cy="205740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성공한 경우에는 전환 직후 몇 스텝 동안 힘을 낮췄다가 새 리듬에 맞춰 다시 올립니다. 학습된 부드러운 진입입니다.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실패한 경우에는 힘을 조절해도 몸이 뒤집힙니다. 시작 위상 자체가 나쁜 경우입니다.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나머지 세 쌍은 모두 안정했습니다.</a:t>
            </a:r>
          </a:p>
        </p:txBody>
      </p:sp>
      <p:sp>
        <p:nvSpPr>
          <p:cNvPr id="12" name="Rounded Rectangle 11"/>
          <p:cNvSpPr/>
          <p:nvPr/>
        </p:nvSpPr>
        <p:spPr>
          <a:xfrm>
            <a:off x="4709160" y="3749039"/>
            <a:ext cx="3931920" cy="784555"/>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18888" y="3813048"/>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4" name="TextBox 13"/>
          <p:cNvSpPr txBox="1"/>
          <p:nvPr/>
        </p:nvSpPr>
        <p:spPr>
          <a:xfrm>
            <a:off x="4818888" y="4078224"/>
            <a:ext cx="3712463" cy="418795"/>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위험한 전환에서 정책이 실제로 무엇을 하는지 절반 속도로 보고 싶었습니다.</a:t>
            </a:r>
          </a:p>
        </p:txBody>
      </p:sp>
      <p:sp>
        <p:nvSpPr>
          <p:cNvPr id="15" name="Rounded Rectangle 14"/>
          <p:cNvSpPr/>
          <p:nvPr/>
        </p:nvSpPr>
        <p:spPr>
          <a:xfrm>
            <a:off x="4709160" y="4625035"/>
            <a:ext cx="3931920" cy="1592884"/>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4689043"/>
            <a:ext cx="371246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7" name="TextBox 16"/>
          <p:cNvSpPr txBox="1"/>
          <p:nvPr/>
        </p:nvSpPr>
        <p:spPr>
          <a:xfrm>
            <a:off x="4818888" y="4954219"/>
            <a:ext cx="3712463" cy="1227124"/>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850" b="0" i="0">
                <a:solidFill>
                  <a:srgbClr val="FFFFFF"/>
                </a:solidFill>
                <a:latin typeface="맑은 고딕"/>
                <a:ea typeface="맑은 고딕"/>
              </a:rPr>
              <a:t>diag_fr로 가는 전환은 힘 조절로 풀리는 유형이고, diag_bl로 가는 전환은 시작 위상을 고쳐야 하는 유형입니다.</a:t>
            </a:r>
          </a:p>
          <a:p>
            <a:pPr algn="l" marL="146304" indent="-146304">
              <a:lnSpc>
                <a:spcPct val="106000"/>
              </a:lnSpc>
              <a:spcAft>
                <a:spcPts val="300"/>
              </a:spcAft>
              <a:buClr>
                <a:srgbClr val="9DC3E6"/>
              </a:buClr>
              <a:buChar char="▪"/>
            </a:pPr>
            <a:r>
              <a:rPr sz="850" b="0" i="0">
                <a:solidFill>
                  <a:srgbClr val="FFFFFF"/>
                </a:solidFill>
                <a:latin typeface="맑은 고딕"/>
                <a:ea typeface="맑은 고딕"/>
              </a:rPr>
              <a:t>그래서 다음 과제로 집안을 건너는 전환의 시작 위상 규칙 개선을 올려 두었습니다.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7"/>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시각화 ③ 경로 따라가기</a:t>
            </a:r>
          </a:p>
        </p:txBody>
      </p:sp>
      <p:sp>
        <p:nvSpPr>
          <p:cNvPr id="3" name="Rounded Rectangle 2"/>
          <p:cNvSpPr/>
          <p:nvPr/>
        </p:nvSpPr>
        <p:spPr>
          <a:xfrm>
            <a:off x="475488" y="1161288"/>
            <a:ext cx="2660904" cy="1520761"/>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ath_squar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188720"/>
            <a:ext cx="2606040" cy="1465897"/>
          </a:xfrm>
          <a:prstGeom prst="rect">
            <a:avLst/>
          </a:prstGeom>
        </p:spPr>
      </p:pic>
      <p:sp>
        <p:nvSpPr>
          <p:cNvPr id="5" name="TextBox 4"/>
          <p:cNvSpPr txBox="1"/>
          <p:nvPr/>
        </p:nvSpPr>
        <p:spPr>
          <a:xfrm>
            <a:off x="502920" y="2700337"/>
            <a:ext cx="26060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네모: 오차 0.34미터, 전환 24번, 91초</a:t>
            </a:r>
          </a:p>
        </p:txBody>
      </p:sp>
      <p:sp>
        <p:nvSpPr>
          <p:cNvPr id="6" name="Rounded Rectangle 5"/>
          <p:cNvSpPr/>
          <p:nvPr/>
        </p:nvSpPr>
        <p:spPr>
          <a:xfrm>
            <a:off x="3236976" y="1161288"/>
            <a:ext cx="2660904" cy="1520761"/>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ath_star.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3264408" y="1188720"/>
            <a:ext cx="2606040" cy="1465897"/>
          </a:xfrm>
          <a:prstGeom prst="rect">
            <a:avLst/>
          </a:prstGeom>
        </p:spPr>
      </p:pic>
      <p:sp>
        <p:nvSpPr>
          <p:cNvPr id="8" name="TextBox 7"/>
          <p:cNvSpPr txBox="1"/>
          <p:nvPr/>
        </p:nvSpPr>
        <p:spPr>
          <a:xfrm>
            <a:off x="3264408" y="2700337"/>
            <a:ext cx="26060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별: 오차 0.31미터, 전환 13번, 61초</a:t>
            </a:r>
          </a:p>
        </p:txBody>
      </p:sp>
      <p:sp>
        <p:nvSpPr>
          <p:cNvPr id="9" name="Rounded Rectangle 8"/>
          <p:cNvSpPr/>
          <p:nvPr/>
        </p:nvSpPr>
        <p:spPr>
          <a:xfrm>
            <a:off x="5998464" y="1161288"/>
            <a:ext cx="2660904" cy="1520761"/>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ath_gauntlet.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10"/>
          <a:stretch>
            <a:fillRect/>
          </a:stretch>
        </p:blipFill>
        <p:spPr>
          <a:xfrm>
            <a:off x="6025896" y="1188720"/>
            <a:ext cx="2606040" cy="1465897"/>
          </a:xfrm>
          <a:prstGeom prst="rect">
            <a:avLst/>
          </a:prstGeom>
        </p:spPr>
      </p:pic>
      <p:sp>
        <p:nvSpPr>
          <p:cNvPr id="11" name="TextBox 10"/>
          <p:cNvSpPr txBox="1"/>
          <p:nvPr/>
        </p:nvSpPr>
        <p:spPr>
          <a:xfrm>
            <a:off x="6025896" y="2700337"/>
            <a:ext cx="26060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gauntlet: 오차 0.22미터, 전환 7번, 33초</a:t>
            </a:r>
          </a:p>
        </p:txBody>
      </p:sp>
      <p:graphicFrame>
        <p:nvGraphicFramePr>
          <p:cNvPr id="12" name="Table 11"/>
          <p:cNvGraphicFramePr>
            <a:graphicFrameLocks noGrp="1"/>
          </p:cNvGraphicFramePr>
          <p:nvPr/>
        </p:nvGraphicFramePr>
        <p:xfrm>
          <a:off x="502920" y="3108960"/>
          <a:ext cx="8138160" cy="1417320"/>
        </p:xfrm>
        <a:graphic>
          <a:graphicData uri="http://schemas.openxmlformats.org/drawingml/2006/table">
            <a:tbl>
              <a:tblPr firstRow="1" bandRow="0">
                <a:tableStyleId>{5940675A-B579-460E-94D1-54222C63F5DA}</a:tableStyleId>
              </a:tblPr>
              <a:tblGrid>
                <a:gridCol w="1188720"/>
                <a:gridCol w="2377440"/>
                <a:gridCol w="2286000"/>
                <a:gridCol w="2286000"/>
              </a:tblGrid>
              <a:tr h="354330">
                <a:tc>
                  <a:txBody>
                    <a:bodyPr wrap="square"/>
                    <a:lstStyle/>
                    <a:p>
                      <a:pPr algn="l"/>
                      <a:r>
                        <a:rPr sz="900" b="1" i="0">
                          <a:solidFill>
                            <a:srgbClr val="FFFFFF"/>
                          </a:solidFill>
                          <a:latin typeface="맑은 고딕"/>
                          <a:ea typeface="맑은 고딕"/>
                        </a:rPr>
                        <a:t>경로</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전문가 바꿔 끼우기</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합친 정책, 첫 단계 끝</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합친 정책, 셋째 단계 끝</a:t>
                      </a:r>
                    </a:p>
                  </a:txBody>
                  <a:tcPr marL="45720" marR="45720" marT="13716" marB="13716" anchor="ctr">
                    <a:solidFill>
                      <a:srgbClr val="203864"/>
                    </a:solidFill>
                  </a:tcPr>
                </a:tc>
              </a:tr>
              <a:tr h="354330">
                <a:tc>
                  <a:txBody>
                    <a:bodyPr wrap="square"/>
                    <a:lstStyle/>
                    <a:p>
                      <a:pPr algn="l"/>
                      <a:r>
                        <a:rPr sz="850" b="0" i="0">
                          <a:solidFill>
                            <a:srgbClr val="262626"/>
                          </a:solidFill>
                          <a:latin typeface="맑은 고딕"/>
                          <a:ea typeface="맑은 고딕"/>
                        </a:rPr>
                        <a:t>네모</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0.193미터 / 5번 / 20초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0.180 / 8번 / 38초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0.341 / 24번 / 91초</a:t>
                      </a:r>
                    </a:p>
                  </a:txBody>
                  <a:tcPr marL="45720" marR="45720" marT="13716" marB="13716" anchor="ctr">
                    <a:solidFill>
                      <a:srgbClr val="FFFFFF"/>
                    </a:solidFill>
                  </a:tcPr>
                </a:tc>
              </a:tr>
              <a:tr h="354330">
                <a:tc>
                  <a:txBody>
                    <a:bodyPr wrap="square"/>
                    <a:lstStyle/>
                    <a:p>
                      <a:pPr algn="l"/>
                      <a:r>
                        <a:rPr sz="850" b="0" i="0">
                          <a:solidFill>
                            <a:srgbClr val="262626"/>
                          </a:solidFill>
                          <a:latin typeface="맑은 고딕"/>
                          <a:ea typeface="맑은 고딕"/>
                        </a:rPr>
                        <a:t>별</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0.334 / 10번 / 43초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0.343 / 15번 / 59초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0.306 / 13번 / 61초</a:t>
                      </a:r>
                    </a:p>
                  </a:txBody>
                  <a:tcPr marL="45720" marR="45720" marT="13716" marB="13716" anchor="ctr">
                    <a:solidFill>
                      <a:srgbClr val="EEF3FA"/>
                    </a:solidFill>
                  </a:tcPr>
                </a:tc>
              </a:tr>
              <a:tr h="354330">
                <a:tc>
                  <a:txBody>
                    <a:bodyPr wrap="square"/>
                    <a:lstStyle/>
                    <a:p>
                      <a:pPr algn="l"/>
                      <a:r>
                        <a:rPr sz="850" b="0" i="0">
                          <a:solidFill>
                            <a:srgbClr val="262626"/>
                          </a:solidFill>
                          <a:latin typeface="맑은 고딕"/>
                          <a:ea typeface="맑은 고딕"/>
                        </a:rPr>
                        <a:t>gauntlet</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0.345 / 34번 / 129초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0.253 / 13번 / 59초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0.223 / 7번 / 33초</a:t>
                      </a:r>
                    </a:p>
                  </a:txBody>
                  <a:tcPr marL="45720" marR="45720" marT="13716" marB="13716" anchor="ctr">
                    <a:solidFill>
                      <a:srgbClr val="FFFFFF"/>
                    </a:solidFill>
                  </a:tcPr>
                </a:tc>
              </a:tr>
            </a:tbl>
          </a:graphicData>
        </a:graphic>
      </p:graphicFrame>
      <p:sp>
        <p:nvSpPr>
          <p:cNvPr id="13" name="Rounded Rectangle 12"/>
          <p:cNvSpPr/>
          <p:nvPr/>
        </p:nvSpPr>
        <p:spPr>
          <a:xfrm>
            <a:off x="502920" y="4663440"/>
            <a:ext cx="8138159" cy="56692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47274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알고 싶었나</a:t>
            </a:r>
          </a:p>
        </p:txBody>
      </p:sp>
      <p:sp>
        <p:nvSpPr>
          <p:cNvPr id="15" name="TextBox 14"/>
          <p:cNvSpPr txBox="1"/>
          <p:nvPr/>
        </p:nvSpPr>
        <p:spPr>
          <a:xfrm>
            <a:off x="612648" y="4992624"/>
            <a:ext cx="7918703" cy="201168"/>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대표로 고른 정책으로 세 경로를 다시 돌려 기준과 비교하고 싶었습니다.</a:t>
            </a:r>
          </a:p>
        </p:txBody>
      </p:sp>
      <p:sp>
        <p:nvSpPr>
          <p:cNvPr id="16" name="Rounded Rectangle 15"/>
          <p:cNvSpPr/>
          <p:nvPr/>
        </p:nvSpPr>
        <p:spPr>
          <a:xfrm>
            <a:off x="502920" y="5321807"/>
            <a:ext cx="8138159" cy="896111"/>
          </a:xfrm>
          <a:prstGeom prst="roundRect">
            <a:avLst>
              <a:gd name="adj" fmla="val 5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5385816"/>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FFFFFF"/>
                </a:solidFill>
                <a:latin typeface="맑은 고딕"/>
                <a:ea typeface="맑은 고딕"/>
              </a:rPr>
              <a:t>무엇을 알게 됐나</a:t>
            </a:r>
          </a:p>
        </p:txBody>
      </p:sp>
      <p:sp>
        <p:nvSpPr>
          <p:cNvPr id="18" name="TextBox 17"/>
          <p:cNvSpPr txBox="1"/>
          <p:nvPr/>
        </p:nvSpPr>
        <p:spPr>
          <a:xfrm>
            <a:off x="612648" y="5650992"/>
            <a:ext cx="7918703" cy="530351"/>
          </a:xfrm>
          <a:prstGeom prst="rect">
            <a:avLst/>
          </a:prstGeom>
          <a:noFill/>
        </p:spPr>
        <p:txBody>
          <a:bodyPr wrap="square" lIns="0" rIns="0" tIns="18288" bIns="18288" anchor="t">
            <a:spAutoFit/>
          </a:bodyPr>
          <a:lstStyle/>
          <a:p>
            <a:pPr algn="l" marL="146304" indent="-146304">
              <a:lnSpc>
                <a:spcPct val="106000"/>
              </a:lnSpc>
              <a:spcAft>
                <a:spcPts val="300"/>
              </a:spcAft>
              <a:buClr>
                <a:srgbClr val="9DC3E6"/>
              </a:buClr>
              <a:buChar char="▪"/>
            </a:pPr>
            <a:r>
              <a:rPr sz="850" b="0" i="0">
                <a:solidFill>
                  <a:srgbClr val="FFFFFF"/>
                </a:solidFill>
                <a:latin typeface="맑은 고딕"/>
                <a:ea typeface="맑은 고딕"/>
              </a:rPr>
              <a:t>gauntlet과 별은 좋아졌습니다. gauntlet은 전환 7번, 33초로 전문가 방식의 4분의 1 시간입니다. 네모는 전환 한 번의 흔들림 때문에 시간이 늘었습니다.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7"/>
                </p:tgtEl>
              </p:cMediaNode>
            </p:video>
            <p:video>
              <p:cMediaNode vol="80000">
                <p:cTn id="4" fill="hold" display="0">
                  <p:stCondLst>
                    <p:cond delay="indefinite"/>
                  </p:stCondLst>
                </p:cTn>
                <p:tgtEl>
                  <p:spTgt spid="10"/>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i="0">
                <a:solidFill>
                  <a:srgbClr val="203864"/>
                </a:solidFill>
                <a:latin typeface="맑은 고딕"/>
                <a:ea typeface="맑은 고딕"/>
              </a:rPr>
              <a:t>gait 전환 학습 (20260911) ― 배운 것 일곱 가지</a:t>
            </a:r>
          </a:p>
        </p:txBody>
      </p:sp>
      <p:sp>
        <p:nvSpPr>
          <p:cNvPr id="3" name="Rounded Rectangle 2"/>
          <p:cNvSpPr/>
          <p:nvPr/>
        </p:nvSpPr>
        <p:spPr>
          <a:xfrm>
            <a:off x="502920" y="1188720"/>
            <a:ext cx="3977639" cy="1143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298448"/>
            <a:ext cx="292608" cy="29260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1</a:t>
            </a:r>
          </a:p>
        </p:txBody>
      </p:sp>
      <p:sp>
        <p:nvSpPr>
          <p:cNvPr id="5" name="TextBox 4"/>
          <p:cNvSpPr txBox="1"/>
          <p:nvPr/>
        </p:nvSpPr>
        <p:spPr>
          <a:xfrm>
            <a:off x="960120" y="1261872"/>
            <a:ext cx="3428999" cy="274320"/>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전환의 본질은 부호 맞추기</a:t>
            </a:r>
          </a:p>
        </p:txBody>
      </p:sp>
      <p:sp>
        <p:nvSpPr>
          <p:cNvPr id="6" name="TextBox 5"/>
          <p:cNvSpPr txBox="1"/>
          <p:nvPr/>
        </p:nvSpPr>
        <p:spPr>
          <a:xfrm>
            <a:off x="960120" y="1554480"/>
            <a:ext cx="3428999" cy="7315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방향은 gait가 정합니다. 전환이 실패하는 이유는 정책이 아니라, 두 gait의 위상과 부호가 부딪히기 때문입니다.</a:t>
            </a:r>
          </a:p>
        </p:txBody>
      </p:sp>
      <p:sp>
        <p:nvSpPr>
          <p:cNvPr id="7" name="Rounded Rectangle 6"/>
          <p:cNvSpPr/>
          <p:nvPr/>
        </p:nvSpPr>
        <p:spPr>
          <a:xfrm>
            <a:off x="4663440" y="1188720"/>
            <a:ext cx="3977639" cy="1143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754879" y="1298448"/>
            <a:ext cx="292608" cy="29260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2</a:t>
            </a:r>
          </a:p>
        </p:txBody>
      </p:sp>
      <p:sp>
        <p:nvSpPr>
          <p:cNvPr id="9" name="TextBox 8"/>
          <p:cNvSpPr txBox="1"/>
          <p:nvPr/>
        </p:nvSpPr>
        <p:spPr>
          <a:xfrm>
            <a:off x="5120640" y="1261872"/>
            <a:ext cx="3428999" cy="274320"/>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위상 정렬이 페이드보다 낫다</a:t>
            </a:r>
          </a:p>
        </p:txBody>
      </p:sp>
      <p:sp>
        <p:nvSpPr>
          <p:cNvPr id="10" name="TextBox 9"/>
          <p:cNvSpPr txBox="1"/>
          <p:nvPr/>
        </p:nvSpPr>
        <p:spPr>
          <a:xfrm>
            <a:off x="5120640" y="1554480"/>
            <a:ext cx="3428999" cy="7315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원인을 없애면 기다릴 필요가 없습니다. 페이드는 증상만 줄이고, 정렬 위에 얹으면 오히려 방해가 됩니다.</a:t>
            </a:r>
          </a:p>
        </p:txBody>
      </p:sp>
      <p:sp>
        <p:nvSpPr>
          <p:cNvPr id="11" name="Rounded Rectangle 10"/>
          <p:cNvSpPr/>
          <p:nvPr/>
        </p:nvSpPr>
        <p:spPr>
          <a:xfrm>
            <a:off x="502920" y="2450591"/>
            <a:ext cx="3977639" cy="1143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94360" y="2560320"/>
            <a:ext cx="292608" cy="29260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3</a:t>
            </a:r>
          </a:p>
        </p:txBody>
      </p:sp>
      <p:sp>
        <p:nvSpPr>
          <p:cNvPr id="13" name="TextBox 12"/>
          <p:cNvSpPr txBox="1"/>
          <p:nvPr/>
        </p:nvSpPr>
        <p:spPr>
          <a:xfrm>
            <a:off x="960120" y="2523744"/>
            <a:ext cx="3428999" cy="274320"/>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위험한 쌍에만 쓴다</a:t>
            </a:r>
          </a:p>
        </p:txBody>
      </p:sp>
      <p:sp>
        <p:nvSpPr>
          <p:cNvPr id="14" name="TextBox 13"/>
          <p:cNvSpPr txBox="1"/>
          <p:nvPr/>
        </p:nvSpPr>
        <p:spPr>
          <a:xfrm>
            <a:off x="960120" y="2816351"/>
            <a:ext cx="3428999" cy="7315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전문가는 처음 위상에서만 학습했습니다. 그래서 정렬과 섞기는 위험한 쌍에만 쓰고, 안전한 쌍은 그냥 바꿉니다.</a:t>
            </a:r>
          </a:p>
        </p:txBody>
      </p:sp>
      <p:sp>
        <p:nvSpPr>
          <p:cNvPr id="15" name="Rounded Rectangle 14"/>
          <p:cNvSpPr/>
          <p:nvPr/>
        </p:nvSpPr>
        <p:spPr>
          <a:xfrm>
            <a:off x="4663440" y="2450591"/>
            <a:ext cx="3977639" cy="1143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754879" y="2560320"/>
            <a:ext cx="292608" cy="29260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4</a:t>
            </a:r>
          </a:p>
        </p:txBody>
      </p:sp>
      <p:sp>
        <p:nvSpPr>
          <p:cNvPr id="17" name="TextBox 16"/>
          <p:cNvSpPr txBox="1"/>
          <p:nvPr/>
        </p:nvSpPr>
        <p:spPr>
          <a:xfrm>
            <a:off x="5120640" y="2523744"/>
            <a:ext cx="3428999" cy="274320"/>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안 되는 것도 기록한다</a:t>
            </a:r>
          </a:p>
        </p:txBody>
      </p:sp>
      <p:sp>
        <p:nvSpPr>
          <p:cNvPr id="18" name="TextBox 17"/>
          <p:cNvSpPr txBox="1"/>
          <p:nvPr/>
        </p:nvSpPr>
        <p:spPr>
          <a:xfrm>
            <a:off x="5120640" y="2816351"/>
            <a:ext cx="3428999" cy="7315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여러 스텝 맞추기, 정렬과 페이드 섞기, 모든 전환에 페이드 쓰기는 실험으로 버렸고, 이유를 적어 두었습니다.</a:t>
            </a:r>
          </a:p>
        </p:txBody>
      </p:sp>
      <p:sp>
        <p:nvSpPr>
          <p:cNvPr id="19" name="Rounded Rectangle 18"/>
          <p:cNvSpPr/>
          <p:nvPr/>
        </p:nvSpPr>
        <p:spPr>
          <a:xfrm>
            <a:off x="502920" y="3712463"/>
            <a:ext cx="3977639" cy="1143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4360" y="3822191"/>
            <a:ext cx="292608" cy="29260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5</a:t>
            </a:r>
          </a:p>
        </p:txBody>
      </p:sp>
      <p:sp>
        <p:nvSpPr>
          <p:cNvPr id="21" name="TextBox 20"/>
          <p:cNvSpPr txBox="1"/>
          <p:nvPr/>
        </p:nvSpPr>
        <p:spPr>
          <a:xfrm>
            <a:off x="960120" y="3785615"/>
            <a:ext cx="3428999" cy="274320"/>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합치는 일은 빠르지만 함정이 있다</a:t>
            </a:r>
          </a:p>
        </p:txBody>
      </p:sp>
      <p:sp>
        <p:nvSpPr>
          <p:cNvPr id="22" name="TextBox 21"/>
          <p:cNvSpPr txBox="1"/>
          <p:nvPr/>
        </p:nvSpPr>
        <p:spPr>
          <a:xfrm>
            <a:off x="960120" y="4078224"/>
            <a:ext cx="3428999" cy="7315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전문가의 정확한 행동만 기록하면 새 정책은 조금만 벗어나도 넘어집니다. 노이즈와 보정이 필요했습니다.</a:t>
            </a:r>
          </a:p>
        </p:txBody>
      </p:sp>
      <p:sp>
        <p:nvSpPr>
          <p:cNvPr id="23" name="Rounded Rectangle 22"/>
          <p:cNvSpPr/>
          <p:nvPr/>
        </p:nvSpPr>
        <p:spPr>
          <a:xfrm>
            <a:off x="4663440" y="3712463"/>
            <a:ext cx="3977639" cy="1143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54879" y="3822191"/>
            <a:ext cx="292608" cy="29260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6</a:t>
            </a:r>
          </a:p>
        </p:txBody>
      </p:sp>
      <p:sp>
        <p:nvSpPr>
          <p:cNvPr id="25" name="TextBox 24"/>
          <p:cNvSpPr txBox="1"/>
          <p:nvPr/>
        </p:nvSpPr>
        <p:spPr>
          <a:xfrm>
            <a:off x="5120640" y="3785615"/>
            <a:ext cx="3428999" cy="274320"/>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규칙이 물리를 이길 수 없다</a:t>
            </a:r>
          </a:p>
        </p:txBody>
      </p:sp>
      <p:sp>
        <p:nvSpPr>
          <p:cNvPr id="26" name="TextBox 25"/>
          <p:cNvSpPr txBox="1"/>
          <p:nvPr/>
        </p:nvSpPr>
        <p:spPr>
          <a:xfrm>
            <a:off x="5120640" y="4078224"/>
            <a:ext cx="3428999" cy="7315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미끄러지는 몸을 실패로 처벌하면 잘못 배웁니다. 점수로 바꾸자 실패가 54퍼센트에서 19퍼센트로 줄었습니다.</a:t>
            </a:r>
          </a:p>
        </p:txBody>
      </p:sp>
      <p:sp>
        <p:nvSpPr>
          <p:cNvPr id="27" name="Rounded Rectangle 26"/>
          <p:cNvSpPr/>
          <p:nvPr/>
        </p:nvSpPr>
        <p:spPr>
          <a:xfrm>
            <a:off x="502920" y="4974336"/>
            <a:ext cx="8138159" cy="1143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 y="5084064"/>
            <a:ext cx="292608" cy="29260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7</a:t>
            </a:r>
          </a:p>
        </p:txBody>
      </p:sp>
      <p:sp>
        <p:nvSpPr>
          <p:cNvPr id="29" name="TextBox 28"/>
          <p:cNvSpPr txBox="1"/>
          <p:nvPr/>
        </p:nvSpPr>
        <p:spPr>
          <a:xfrm>
            <a:off x="960120" y="5047488"/>
            <a:ext cx="7589519" cy="274320"/>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정책 하나의 장점은 어려운 곳에서 드러난다</a:t>
            </a:r>
          </a:p>
        </p:txBody>
      </p:sp>
      <p:sp>
        <p:nvSpPr>
          <p:cNvPr id="30" name="TextBox 29"/>
          <p:cNvSpPr txBox="1"/>
          <p:nvPr/>
        </p:nvSpPr>
        <p:spPr>
          <a:xfrm>
            <a:off x="960120" y="5340096"/>
            <a:ext cx="7589519" cy="73152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쉬운 경로는 비슷하지만, 위험한 전환이 몰린 경로에서 오차와 시간이 크게 줄었습니다. 남은 벽은 gait 집안을 건너는 전환입니다.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i="0">
                <a:solidFill>
                  <a:srgbClr val="FFFFFF"/>
                </a:solidFill>
                <a:latin typeface="맑은 고딕"/>
                <a:ea typeface="맑은 고딕"/>
              </a:rPr>
              <a:t>Part 3. 전문가를 움직이는 상태에서 다시 학습하기</a:t>
            </a:r>
          </a:p>
        </p:txBody>
      </p:sp>
      <p:sp>
        <p:nvSpPr>
          <p:cNvPr id="3" name="Text Placeholder 2"/>
          <p:cNvSpPr>
            <a:spLocks noGrp="1"/>
          </p:cNvSpPr>
          <p:nvPr>
            <p:ph type="body" idx="1"/>
          </p:nvPr>
        </p:nvSpPr>
        <p:spPr/>
        <p:txBody>
          <a:bodyPr/>
          <a:lstStyle/>
          <a:p>
            <a:r>
              <a:rPr sz="1200" b="0" i="0">
                <a:solidFill>
                  <a:srgbClr val="DCE6F2"/>
                </a:solidFill>
                <a:latin typeface="맑은 고딕"/>
                <a:ea typeface="맑은 고딕"/>
              </a:rPr>
              <a:t>전문가가 정지 상태가 아니라, 다른 정책이 움직이던 상태에서 시작하도록 이어 학습한 과정입니다. 2026년 9월 10일부터 11일까지입니다.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이어 학습 ① 왜 시작했나</a:t>
            </a:r>
          </a:p>
        </p:txBody>
      </p:sp>
      <p:sp>
        <p:nvSpPr>
          <p:cNvPr id="3" name="Rounded Rectangle 2"/>
          <p:cNvSpPr/>
          <p:nvPr/>
        </p:nvSpPr>
        <p:spPr>
          <a:xfrm>
            <a:off x="502920" y="1188720"/>
            <a:ext cx="3977639" cy="23774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25272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문제의식</a:t>
            </a:r>
          </a:p>
        </p:txBody>
      </p:sp>
      <p:sp>
        <p:nvSpPr>
          <p:cNvPr id="5" name="TextBox 4"/>
          <p:cNvSpPr txBox="1"/>
          <p:nvPr/>
        </p:nvSpPr>
        <p:spPr>
          <a:xfrm>
            <a:off x="612648" y="1517904"/>
            <a:ext cx="3758183" cy="201168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전문가는 늘 멈춘 자세에서, 처음 위상으로 학습을 시작했습니다.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그런데 실제로 전환이 일어나는 순간에는 로봇이 이미 다른 gait로 움직이고 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 상태는 전문가가 한 번도 본 적이 없는 상태입니다. 그래서 전환 직후에 자주 넘어집니다.</a:t>
            </a:r>
          </a:p>
        </p:txBody>
      </p:sp>
      <p:sp>
        <p:nvSpPr>
          <p:cNvPr id="6" name="Rounded Rectangle 5"/>
          <p:cNvSpPr/>
          <p:nvPr/>
        </p:nvSpPr>
        <p:spPr>
          <a:xfrm>
            <a:off x="4663440" y="1188720"/>
            <a:ext cx="3977639" cy="23774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73168" y="125272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해결 방향</a:t>
            </a:r>
          </a:p>
        </p:txBody>
      </p:sp>
      <p:sp>
        <p:nvSpPr>
          <p:cNvPr id="8" name="TextBox 7"/>
          <p:cNvSpPr txBox="1"/>
          <p:nvPr/>
        </p:nvSpPr>
        <p:spPr>
          <a:xfrm>
            <a:off x="4773168" y="1517904"/>
            <a:ext cx="3758183" cy="201168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에피소드의 절반은 다른 정책이 움직이던 상태에서 시작하게 합니다. 시작하는 순간 새 gait로 위상을 맞춰 바꿉니다.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나머지 절반은 예전처럼 멈춘 자세에서 시작합니다. 그래야 평소 걷는 실력이 떨어지지 않습니다.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은행에 상태를 많이 모아 두고, 학습이 끝나면 은행을 다시 만들어 반복합니다.</a:t>
            </a:r>
          </a:p>
        </p:txBody>
      </p:sp>
      <p:graphicFrame>
        <p:nvGraphicFramePr>
          <p:cNvPr id="9" name="Table 8"/>
          <p:cNvGraphicFramePr>
            <a:graphicFrameLocks noGrp="1"/>
          </p:cNvGraphicFramePr>
          <p:nvPr/>
        </p:nvGraphicFramePr>
        <p:xfrm>
          <a:off x="502920" y="3749039"/>
          <a:ext cx="8138160" cy="1463040"/>
        </p:xfrm>
        <a:graphic>
          <a:graphicData uri="http://schemas.openxmlformats.org/drawingml/2006/table">
            <a:tbl>
              <a:tblPr firstRow="1" bandRow="0">
                <a:tableStyleId>{5940675A-B579-460E-94D1-54222C63F5DA}</a:tableStyleId>
              </a:tblPr>
              <a:tblGrid>
                <a:gridCol w="1371600"/>
                <a:gridCol w="6766560"/>
              </a:tblGrid>
              <a:tr h="365760">
                <a:tc>
                  <a:txBody>
                    <a:bodyPr wrap="square"/>
                    <a:lstStyle/>
                    <a:p>
                      <a:pPr algn="l"/>
                      <a:r>
                        <a:rPr sz="950" b="1" i="0">
                          <a:solidFill>
                            <a:srgbClr val="FFFFFF"/>
                          </a:solidFill>
                          <a:latin typeface="맑은 고딕"/>
                          <a:ea typeface="맑은 고딕"/>
                        </a:rPr>
                        <a:t>용어</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뜻</a:t>
                      </a:r>
                    </a:p>
                  </a:txBody>
                  <a:tcPr marL="45720" marR="45720" marT="13716" marB="13716" anchor="ctr">
                    <a:solidFill>
                      <a:srgbClr val="203864"/>
                    </a:solidFill>
                  </a:tcPr>
                </a:tc>
              </a:tr>
              <a:tr h="365760">
                <a:tc>
                  <a:txBody>
                    <a:bodyPr wrap="square"/>
                    <a:lstStyle/>
                    <a:p>
                      <a:pPr algn="l"/>
                      <a:r>
                        <a:rPr sz="900" b="0" i="0">
                          <a:solidFill>
                            <a:srgbClr val="262626"/>
                          </a:solidFill>
                          <a:latin typeface="맑은 고딕"/>
                          <a:ea typeface="맑은 고딕"/>
                        </a:rPr>
                        <a:t>인계 시작</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다른 정책이 움직이던 몸 상태를 그대로 물려받아 에피소드를 시작하는 것입니다.</a:t>
                      </a:r>
                    </a:p>
                  </a:txBody>
                  <a:tcPr marL="45720" marR="45720" marT="13716" marB="13716" anchor="ctr">
                    <a:solidFill>
                      <a:srgbClr val="FFFFFF"/>
                    </a:solidFill>
                  </a:tcPr>
                </a:tc>
              </a:tr>
              <a:tr h="365760">
                <a:tc>
                  <a:txBody>
                    <a:bodyPr wrap="square"/>
                    <a:lstStyle/>
                    <a:p>
                      <a:pPr algn="l"/>
                      <a:r>
                        <a:rPr sz="900" b="0" i="0">
                          <a:solidFill>
                            <a:srgbClr val="262626"/>
                          </a:solidFill>
                          <a:latin typeface="맑은 고딕"/>
                          <a:ea typeface="맑은 고딕"/>
                        </a:rPr>
                        <a:t>위상 정렬 전환</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새 gait를 지금 부호와 가장 닮은 위상에서 시작하는 것입니다. 지금 쓰는 전환 방법입니다.</a:t>
                      </a:r>
                    </a:p>
                  </a:txBody>
                  <a:tcPr marL="45720" marR="45720" marT="13716" marB="13716" anchor="ctr">
                    <a:solidFill>
                      <a:srgbClr val="EEF3FA"/>
                    </a:solidFill>
                  </a:tcPr>
                </a:tc>
              </a:tr>
              <a:tr h="365760">
                <a:tc>
                  <a:txBody>
                    <a:bodyPr wrap="square"/>
                    <a:lstStyle/>
                    <a:p>
                      <a:pPr algn="l"/>
                      <a:r>
                        <a:rPr sz="900" b="0" i="0">
                          <a:solidFill>
                            <a:srgbClr val="262626"/>
                          </a:solidFill>
                          <a:latin typeface="맑은 고딕"/>
                          <a:ea typeface="맑은 고딕"/>
                        </a:rPr>
                        <a:t>상태 은행</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인계 시작에 쓸 몸 상태를 미리 모아 둔 파일입니다. 출발 명령마다 2만 개, 모두 22만 개입니다.</a:t>
                      </a:r>
                    </a:p>
                  </a:txBody>
                  <a:tcPr marL="45720" marR="45720" marT="13716" marB="13716" anchor="ctr">
                    <a:solidFill>
                      <a:srgbClr val="FFFFFF"/>
                    </a:solidFill>
                  </a:tcPr>
                </a:tc>
              </a:tr>
            </a:tbl>
          </a:graphicData>
        </a:graphic>
      </p:graphicFrame>
      <p:sp>
        <p:nvSpPr>
          <p:cNvPr id="10" name="TextBox 9"/>
          <p:cNvSpPr txBox="1"/>
          <p:nvPr/>
        </p:nvSpPr>
        <p:spPr>
          <a:xfrm>
            <a:off x="502920" y="5349240"/>
            <a:ext cx="8138159" cy="82296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이 방식은 DeepMimic에서 쓴 참조 상태 초기화와 같은 계열입니다. 학습 분포와 실제 전환 순간의 분포를 같게 만드는 것이 핵심입니다.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② 새로 만든 것</a:t>
            </a:r>
          </a:p>
        </p:txBody>
      </p:sp>
      <p:sp>
        <p:nvSpPr>
          <p:cNvPr id="3" name="Rounded Rectangle 2"/>
          <p:cNvSpPr/>
          <p:nvPr/>
        </p:nvSpPr>
        <p:spPr>
          <a:xfrm>
            <a:off x="502920" y="1188720"/>
            <a:ext cx="2639567"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1</a:t>
            </a:r>
          </a:p>
        </p:txBody>
      </p:sp>
      <p:sp>
        <p:nvSpPr>
          <p:cNvPr id="5" name="TextBox 4"/>
          <p:cNvSpPr txBox="1"/>
          <p:nvPr/>
        </p:nvSpPr>
        <p:spPr>
          <a:xfrm>
            <a:off x="941832" y="1261872"/>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상태 은행 만들기</a:t>
            </a:r>
          </a:p>
        </p:txBody>
      </p:sp>
      <p:sp>
        <p:nvSpPr>
          <p:cNvPr id="6" name="TextBox 5"/>
          <p:cNvSpPr txBox="1"/>
          <p:nvPr/>
        </p:nvSpPr>
        <p:spPr>
          <a:xfrm>
            <a:off x="594360" y="1609344"/>
            <a:ext cx="2456687" cy="114300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전문가 열 개를 돌리면서 매 스텝의 몸 상태를 저장합니다. 노이즈를 섞은 롤아웃, 전환 뒤의 상태, 합친 정책의 상태도 넣었습니다.</a:t>
            </a:r>
          </a:p>
        </p:txBody>
      </p:sp>
      <p:sp>
        <p:nvSpPr>
          <p:cNvPr id="7" name="Rounded Rectangle 6"/>
          <p:cNvSpPr/>
          <p:nvPr/>
        </p:nvSpPr>
        <p:spPr>
          <a:xfrm>
            <a:off x="3252216" y="1188720"/>
            <a:ext cx="2639567"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43656"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2</a:t>
            </a:r>
          </a:p>
        </p:txBody>
      </p:sp>
      <p:sp>
        <p:nvSpPr>
          <p:cNvPr id="9" name="TextBox 8"/>
          <p:cNvSpPr txBox="1"/>
          <p:nvPr/>
        </p:nvSpPr>
        <p:spPr>
          <a:xfrm>
            <a:off x="3691128" y="1261872"/>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인계 시작 환경</a:t>
            </a:r>
          </a:p>
        </p:txBody>
      </p:sp>
      <p:sp>
        <p:nvSpPr>
          <p:cNvPr id="10" name="TextBox 9"/>
          <p:cNvSpPr txBox="1"/>
          <p:nvPr/>
        </p:nvSpPr>
        <p:spPr>
          <a:xfrm>
            <a:off x="3343656" y="1609344"/>
            <a:ext cx="2456687" cy="114300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기존 환경의 보상과 판정은 그대로 두고, 시작만 절반 확률로 은행 상태에서 하도록 만들었습니다. 이름은 plane-moving-init-v0입니다.</a:t>
            </a:r>
          </a:p>
        </p:txBody>
      </p:sp>
      <p:sp>
        <p:nvSpPr>
          <p:cNvPr id="11" name="Rounded Rectangle 10"/>
          <p:cNvSpPr/>
          <p:nvPr/>
        </p:nvSpPr>
        <p:spPr>
          <a:xfrm>
            <a:off x="6001511" y="1188720"/>
            <a:ext cx="2639567"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92951" y="1280160"/>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3</a:t>
            </a:r>
          </a:p>
        </p:txBody>
      </p:sp>
      <p:sp>
        <p:nvSpPr>
          <p:cNvPr id="13" name="TextBox 12"/>
          <p:cNvSpPr txBox="1"/>
          <p:nvPr/>
        </p:nvSpPr>
        <p:spPr>
          <a:xfrm>
            <a:off x="6440424" y="1261872"/>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평가 도구</a:t>
            </a:r>
          </a:p>
        </p:txBody>
      </p:sp>
      <p:sp>
        <p:nvSpPr>
          <p:cNvPr id="14" name="TextBox 13"/>
          <p:cNvSpPr txBox="1"/>
          <p:nvPr/>
        </p:nvSpPr>
        <p:spPr>
          <a:xfrm>
            <a:off x="6092951" y="1609344"/>
            <a:ext cx="2456687" cy="114300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멈춘 자세에서 걷는 실력과, 아홉 가지 출발에서 들어올 때 100스텝 안에 넘어지는 비율을 재는 스크립트입니다.</a:t>
            </a:r>
          </a:p>
        </p:txBody>
      </p:sp>
      <p:sp>
        <p:nvSpPr>
          <p:cNvPr id="15" name="Rounded Rectangle 14"/>
          <p:cNvSpPr/>
          <p:nvPr/>
        </p:nvSpPr>
        <p:spPr>
          <a:xfrm>
            <a:off x="502920" y="2898648"/>
            <a:ext cx="2639567"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2990088"/>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4</a:t>
            </a:r>
          </a:p>
        </p:txBody>
      </p:sp>
      <p:sp>
        <p:nvSpPr>
          <p:cNvPr id="17" name="TextBox 16"/>
          <p:cNvSpPr txBox="1"/>
          <p:nvPr/>
        </p:nvSpPr>
        <p:spPr>
          <a:xfrm>
            <a:off x="941832" y="2971800"/>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학습 설정 파일</a:t>
            </a:r>
          </a:p>
        </p:txBody>
      </p:sp>
      <p:sp>
        <p:nvSpPr>
          <p:cNvPr id="18" name="TextBox 17"/>
          <p:cNvSpPr txBox="1"/>
          <p:nvPr/>
        </p:nvSpPr>
        <p:spPr>
          <a:xfrm>
            <a:off x="594360" y="3319272"/>
            <a:ext cx="2456687" cy="114300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세 전문가용으로 설정 파일을 만들었습니다. 각 전문가의 마지막 모델에서 이어서 학습합니다.</a:t>
            </a:r>
          </a:p>
        </p:txBody>
      </p:sp>
      <p:sp>
        <p:nvSpPr>
          <p:cNvPr id="19" name="Rounded Rectangle 18"/>
          <p:cNvSpPr/>
          <p:nvPr/>
        </p:nvSpPr>
        <p:spPr>
          <a:xfrm>
            <a:off x="3252216" y="2898648"/>
            <a:ext cx="2639567"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343656" y="2990088"/>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5</a:t>
            </a:r>
          </a:p>
        </p:txBody>
      </p:sp>
      <p:sp>
        <p:nvSpPr>
          <p:cNvPr id="21" name="TextBox 20"/>
          <p:cNvSpPr txBox="1"/>
          <p:nvPr/>
        </p:nvSpPr>
        <p:spPr>
          <a:xfrm>
            <a:off x="3691128" y="2971800"/>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기록 항목 추가</a:t>
            </a:r>
          </a:p>
        </p:txBody>
      </p:sp>
      <p:sp>
        <p:nvSpPr>
          <p:cNvPr id="22" name="TextBox 21"/>
          <p:cNvSpPr txBox="1"/>
          <p:nvPr/>
        </p:nvSpPr>
        <p:spPr>
          <a:xfrm>
            <a:off x="3343656" y="3319272"/>
            <a:ext cx="2456687" cy="114300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정지 시작과 인계 시작을 나누어 점수와 실패율을 텐서보드에 남기도록 콜백을 고쳤습니다.</a:t>
            </a:r>
          </a:p>
        </p:txBody>
      </p:sp>
      <p:sp>
        <p:nvSpPr>
          <p:cNvPr id="23" name="Rounded Rectangle 22"/>
          <p:cNvSpPr/>
          <p:nvPr/>
        </p:nvSpPr>
        <p:spPr>
          <a:xfrm>
            <a:off x="6001511" y="2898648"/>
            <a:ext cx="2639567"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092951" y="2990088"/>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6</a:t>
            </a:r>
          </a:p>
        </p:txBody>
      </p:sp>
      <p:sp>
        <p:nvSpPr>
          <p:cNvPr id="25" name="TextBox 24"/>
          <p:cNvSpPr txBox="1"/>
          <p:nvPr/>
        </p:nvSpPr>
        <p:spPr>
          <a:xfrm>
            <a:off x="6440424" y="2971800"/>
            <a:ext cx="2109215" cy="310896"/>
          </a:xfrm>
          <a:prstGeom prst="rect">
            <a:avLst/>
          </a:prstGeom>
          <a:noFill/>
        </p:spPr>
        <p:txBody>
          <a:bodyPr wrap="square" lIns="0" rIns="0" tIns="18288" bIns="18288" anchor="t">
            <a:spAutoFit/>
          </a:bodyPr>
          <a:lstStyle/>
          <a:p>
            <a:pPr algn="l">
              <a:lnSpc>
                <a:spcPct val="106000"/>
              </a:lnSpc>
              <a:spcAft>
                <a:spcPts val="200"/>
              </a:spcAft>
            </a:pPr>
            <a:r>
              <a:rPr sz="1000" b="1" i="0">
                <a:solidFill>
                  <a:srgbClr val="203864"/>
                </a:solidFill>
                <a:latin typeface="맑은 고딕"/>
                <a:ea typeface="맑은 고딕"/>
              </a:rPr>
              <a:t>녹화 카메라 수정</a:t>
            </a:r>
          </a:p>
        </p:txBody>
      </p:sp>
      <p:sp>
        <p:nvSpPr>
          <p:cNvPr id="26" name="TextBox 25"/>
          <p:cNvSpPr txBox="1"/>
          <p:nvPr/>
        </p:nvSpPr>
        <p:spPr>
          <a:xfrm>
            <a:off x="6092951" y="3319272"/>
            <a:ext cx="2456687" cy="1143000"/>
          </a:xfrm>
          <a:prstGeom prst="rect">
            <a:avLst/>
          </a:prstGeom>
          <a:noFill/>
        </p:spPr>
        <p:txBody>
          <a:bodyPr wrap="square" lIns="0" rIns="0" tIns="18288" bIns="18288" anchor="t">
            <a:spAutoFit/>
          </a:bodyPr>
          <a:lstStyle/>
          <a:p>
            <a:pPr algn="l">
              <a:lnSpc>
                <a:spcPct val="106000"/>
              </a:lnSpc>
              <a:spcAft>
                <a:spcPts val="200"/>
              </a:spcAft>
            </a:pPr>
            <a:r>
              <a:rPr sz="850" b="0" i="0">
                <a:solidFill>
                  <a:srgbClr val="262626"/>
                </a:solidFill>
                <a:latin typeface="맑은 고딕"/>
                <a:ea typeface="맑은 고딕"/>
              </a:rPr>
              <a:t>학습 중 저장하는 영상에서 로봇이 화면 밖으로 나가는 문제를 고쳤습니다. 이제 카메라가 로봇을 따라갑니다.</a:t>
            </a:r>
          </a:p>
        </p:txBody>
      </p:sp>
      <p:sp>
        <p:nvSpPr>
          <p:cNvPr id="27" name="Rounded Rectangle 26"/>
          <p:cNvSpPr/>
          <p:nvPr/>
        </p:nvSpPr>
        <p:spPr>
          <a:xfrm>
            <a:off x="475488" y="4590288"/>
            <a:ext cx="2889504" cy="1649349"/>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teration-006810-timesteps-141549568-episode-0.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4617720"/>
            <a:ext cx="2834640" cy="1594485"/>
          </a:xfrm>
          <a:prstGeom prst="rect">
            <a:avLst/>
          </a:prstGeom>
        </p:spPr>
      </p:pic>
      <p:sp>
        <p:nvSpPr>
          <p:cNvPr id="29" name="TextBox 28"/>
          <p:cNvSpPr txBox="1"/>
          <p:nvPr/>
        </p:nvSpPr>
        <p:spPr>
          <a:xfrm>
            <a:off x="502920" y="6257925"/>
            <a:ext cx="28346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두 번째 파일럿의 학습 영상입니다. 카메라가 로봇을 따라갑니다.</a:t>
            </a:r>
          </a:p>
        </p:txBody>
      </p:sp>
      <p:sp>
        <p:nvSpPr>
          <p:cNvPr id="30" name="Rounded Rectangle 29"/>
          <p:cNvSpPr/>
          <p:nvPr/>
        </p:nvSpPr>
        <p:spPr>
          <a:xfrm>
            <a:off x="3520440" y="4617720"/>
            <a:ext cx="5120640"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30168" y="4681728"/>
            <a:ext cx="4901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시험으로 확인한 것</a:t>
            </a:r>
          </a:p>
        </p:txBody>
      </p:sp>
      <p:sp>
        <p:nvSpPr>
          <p:cNvPr id="32" name="TextBox 31"/>
          <p:cNvSpPr txBox="1"/>
          <p:nvPr/>
        </p:nvSpPr>
        <p:spPr>
          <a:xfrm>
            <a:off x="3630168" y="4946904"/>
            <a:ext cx="4901183" cy="12344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인계 시작 비율은 0.53으로 설정값 0.5에 맞았고, 절단 규칙과 관측도 정상이었습니다.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기존 diag_fr 전문가는 인계 시작 32번 중 10번을 100스텝 안에 넘어졌습니다. 멈춘 자세에서는 한 번도 안 넘어졌습니다. 배울 것이 분명히 있었습니다.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8"/>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③ 첫 파일럿 결과</a:t>
            </a:r>
          </a:p>
        </p:txBody>
      </p:sp>
      <p:graphicFrame>
        <p:nvGraphicFramePr>
          <p:cNvPr id="3" name="Table 2"/>
          <p:cNvGraphicFramePr>
            <a:graphicFrameLocks noGrp="1"/>
          </p:cNvGraphicFramePr>
          <p:nvPr/>
        </p:nvGraphicFramePr>
        <p:xfrm>
          <a:off x="502920" y="1188720"/>
          <a:ext cx="8138160" cy="1463040"/>
        </p:xfrm>
        <a:graphic>
          <a:graphicData uri="http://schemas.openxmlformats.org/drawingml/2006/table">
            <a:tbl>
              <a:tblPr firstRow="1" bandRow="0">
                <a:tableStyleId>{5940675A-B579-460E-94D1-54222C63F5DA}</a:tableStyleId>
              </a:tblPr>
              <a:tblGrid>
                <a:gridCol w="1097280"/>
                <a:gridCol w="2926080"/>
                <a:gridCol w="4114800"/>
              </a:tblGrid>
              <a:tr h="365760">
                <a:tc>
                  <a:txBody>
                    <a:bodyPr wrap="square"/>
                    <a:lstStyle/>
                    <a:p>
                      <a:pPr algn="l"/>
                      <a:r>
                        <a:rPr sz="950" b="1" i="0">
                          <a:solidFill>
                            <a:srgbClr val="FFFFFF"/>
                          </a:solidFill>
                          <a:latin typeface="맑은 고딕"/>
                          <a:ea typeface="맑은 고딕"/>
                        </a:rPr>
                        <a:t>전문가</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멈춘 자세에서 걷는 속도 (전 → 후)</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전환 뒤 100스텝 안 실패 비율: 기준 → 학습 뒤 (final) → (best)</a:t>
                      </a:r>
                    </a:p>
                  </a:txBody>
                  <a:tcPr marL="45720" marR="45720" marT="13716" marB="13716" anchor="ctr">
                    <a:solidFill>
                      <a:srgbClr val="203864"/>
                    </a:solidFill>
                  </a:tcPr>
                </a:tc>
              </a:tr>
              <a:tr h="365760">
                <a:tc>
                  <a:txBody>
                    <a:bodyPr wrap="square"/>
                    <a:lstStyle/>
                    <a:p>
                      <a:pPr algn="l"/>
                      <a:r>
                        <a:rPr sz="900" b="0" i="0">
                          <a:solidFill>
                            <a:srgbClr val="262626"/>
                          </a:solidFill>
                          <a:latin typeface="맑은 고딕"/>
                          <a:ea typeface="맑은 고딕"/>
                        </a:rPr>
                        <a:t>diag_fr</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0.455 → 0.464 미터/초</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0.311 → 0.361 → 0.256</a:t>
                      </a:r>
                    </a:p>
                  </a:txBody>
                  <a:tcPr marL="45720" marR="45720" marT="13716" marB="13716" anchor="ctr">
                    <a:solidFill>
                      <a:srgbClr val="FFFFFF"/>
                    </a:solidFill>
                  </a:tcPr>
                </a:tc>
              </a:tr>
              <a:tr h="365760">
                <a:tc>
                  <a:txBody>
                    <a:bodyPr wrap="square"/>
                    <a:lstStyle/>
                    <a:p>
                      <a:pPr algn="l"/>
                      <a:r>
                        <a:rPr sz="900" b="0" i="0">
                          <a:solidFill>
                            <a:srgbClr val="262626"/>
                          </a:solidFill>
                          <a:latin typeface="맑은 고딕"/>
                          <a:ea typeface="맑은 고딕"/>
                        </a:rPr>
                        <a:t>diag_bl</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0.492 → 0.497 미터/초</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0.328 → 0.328 → 0.344</a:t>
                      </a:r>
                    </a:p>
                  </a:txBody>
                  <a:tcPr marL="45720" marR="45720" marT="13716" marB="13716" anchor="ctr">
                    <a:solidFill>
                      <a:srgbClr val="EEF3FA"/>
                    </a:solidFill>
                  </a:tcPr>
                </a:tc>
              </a:tr>
              <a:tr h="365760">
                <a:tc>
                  <a:txBody>
                    <a:bodyPr wrap="square"/>
                    <a:lstStyle/>
                    <a:p>
                      <a:pPr algn="l"/>
                      <a:r>
                        <a:rPr sz="900" b="0" i="0">
                          <a:solidFill>
                            <a:srgbClr val="262626"/>
                          </a:solidFill>
                          <a:latin typeface="맑은 고딕"/>
                          <a:ea typeface="맑은 고딕"/>
                        </a:rPr>
                        <a:t>forward</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0.617 → 0.620 미터/초</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0.167 → 0.144 → 0.133</a:t>
                      </a:r>
                    </a:p>
                  </a:txBody>
                  <a:tcPr marL="45720" marR="45720" marT="13716" marB="13716" anchor="ctr">
                    <a:solidFill>
                      <a:srgbClr val="FFFFFF"/>
                    </a:solidFill>
                  </a:tcPr>
                </a:tc>
              </a:tr>
            </a:tbl>
          </a:graphicData>
        </a:graphic>
      </p:graphicFrame>
      <p:sp>
        <p:nvSpPr>
          <p:cNvPr id="4" name="Rounded Rectangle 3"/>
          <p:cNvSpPr/>
          <p:nvPr/>
        </p:nvSpPr>
        <p:spPr>
          <a:xfrm>
            <a:off x="502920" y="2788920"/>
            <a:ext cx="3977639" cy="3429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2852927"/>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알게 됐나</a:t>
            </a:r>
          </a:p>
        </p:txBody>
      </p:sp>
      <p:sp>
        <p:nvSpPr>
          <p:cNvPr id="6" name="TextBox 5"/>
          <p:cNvSpPr txBox="1"/>
          <p:nvPr/>
        </p:nvSpPr>
        <p:spPr>
          <a:xfrm>
            <a:off x="612648" y="3118103"/>
            <a:ext cx="3758183" cy="30632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평소 걷는 실력은 세 전문가 모두 그대로였습니다. 정지 시작을 섞은 효과입니다.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그런데 전환 뒤에 넘어지는 비율은 거의 줄지 않았습니다. 학습 중에 오른 점수는 넘어지지 않은 경우의 주행이 좋아진 것이었습니다.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새 diag_fr 전문가에게 전환 직후 20스텝 동안 힘을 빼게 하면, left에서 들어올 때 실패가 0.6에서 0으로 줄었습니다. 피할 수 있는데 못 배운 것입니다.</a:t>
            </a:r>
          </a:p>
        </p:txBody>
      </p:sp>
      <p:sp>
        <p:nvSpPr>
          <p:cNvPr id="7" name="Rounded Rectangle 6"/>
          <p:cNvSpPr/>
          <p:nvPr/>
        </p:nvSpPr>
        <p:spPr>
          <a:xfrm>
            <a:off x="4663440" y="2788920"/>
            <a:ext cx="3977639" cy="34290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73168" y="2852927"/>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왜 못 배웠나</a:t>
            </a:r>
          </a:p>
        </p:txBody>
      </p:sp>
      <p:sp>
        <p:nvSpPr>
          <p:cNvPr id="9" name="TextBox 8"/>
          <p:cNvSpPr txBox="1"/>
          <p:nvPr/>
        </p:nvSpPr>
        <p:spPr>
          <a:xfrm>
            <a:off x="4773168" y="3118103"/>
            <a:ext cx="3758183" cy="30632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넘어질 때 받는 벌점이 2점뿐이었습니다. 게다가 할인율 0.95라 20스텝 뒤는 거의 보지 않습니다.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그래서 잠깐 힘을 빼고 버티는 것과, 바로 달리다 넘어지는 것의 기대 점수가 비슷했습니다. 배울 이유가 없었습니다.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diag_bl로 들어오는 경우는 힘을 빼도 넘어집니다. 이건 시작 위상 규칙을 고쳐야 하는 별개의 문제입니다.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④ 찾아낸 결함과 수정</a:t>
            </a:r>
          </a:p>
        </p:txBody>
      </p:sp>
      <p:sp>
        <p:nvSpPr>
          <p:cNvPr id="3" name="Rounded Rectangle 2"/>
          <p:cNvSpPr/>
          <p:nvPr/>
        </p:nvSpPr>
        <p:spPr>
          <a:xfrm>
            <a:off x="502920" y="1188720"/>
            <a:ext cx="8138159" cy="20116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25272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낙상 벌점이 한 번도 적용된 적이 없었습니다</a:t>
            </a:r>
          </a:p>
        </p:txBody>
      </p:sp>
      <p:sp>
        <p:nvSpPr>
          <p:cNvPr id="5" name="TextBox 4"/>
          <p:cNvSpPr txBox="1"/>
          <p:nvPr/>
        </p:nvSpPr>
        <p:spPr>
          <a:xfrm>
            <a:off x="612648" y="1517904"/>
            <a:ext cx="7918703" cy="164592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벌점을 200으로 올려 시험해 보니, 넘어지는 스텝의 벌점이 여전히 0이었습니다.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원인은 기존 환경이 실패 판정을 한 스텝에 두 번 확인하는 데 있었습니다. 보상을 계산할 때는 아직 실패 전이고, 그 직후에 에피소드가 끝납니다.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그래서 지금까지의 전문가 열 개는 넘어져도 벌점 2점조차 받은 적이 없었습니다. 실패 판정도 설정의 절반인 약 15스텝 만에 났습니다.</a:t>
            </a:r>
          </a:p>
        </p:txBody>
      </p:sp>
      <p:sp>
        <p:nvSpPr>
          <p:cNvPr id="6" name="Rounded Rectangle 5"/>
          <p:cNvSpPr/>
          <p:nvPr/>
        </p:nvSpPr>
        <p:spPr>
          <a:xfrm>
            <a:off x="502920" y="3337560"/>
            <a:ext cx="3977639" cy="28803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40156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어떻게 고쳤나</a:t>
            </a:r>
          </a:p>
        </p:txBody>
      </p:sp>
      <p:sp>
        <p:nvSpPr>
          <p:cNvPr id="8" name="TextBox 7"/>
          <p:cNvSpPr txBox="1"/>
          <p:nvPr/>
        </p:nvSpPr>
        <p:spPr>
          <a:xfrm>
            <a:off x="612648" y="3666744"/>
            <a:ext cx="3758183" cy="251460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기존 환경 파일은 손대지 않았습니다. 예전 정책들의 의미를 지키기 위해서입니다.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인계 시작 환경의 step 함수에서, 에피소드가 끝나는 스텝에 벌점을 한 번 얹도록 보정했습니다.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실패 판정이 나는 시점은 예전과 똑같이 두었습니다.</a:t>
            </a:r>
          </a:p>
        </p:txBody>
      </p:sp>
      <p:sp>
        <p:nvSpPr>
          <p:cNvPr id="9" name="Rounded Rectangle 8"/>
          <p:cNvSpPr/>
          <p:nvPr/>
        </p:nvSpPr>
        <p:spPr>
          <a:xfrm>
            <a:off x="4663440" y="3337560"/>
            <a:ext cx="3977639" cy="28803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3401568"/>
            <a:ext cx="37581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확인한 것</a:t>
            </a:r>
          </a:p>
        </p:txBody>
      </p:sp>
      <p:sp>
        <p:nvSpPr>
          <p:cNvPr id="11" name="TextBox 10"/>
          <p:cNvSpPr txBox="1"/>
          <p:nvPr/>
        </p:nvSpPr>
        <p:spPr>
          <a:xfrm>
            <a:off x="4773168" y="3666744"/>
            <a:ext cx="3758183" cy="251460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무작위로 움직여 넘어지게 해 보니, 끝나는 스텝의 벌점이 정확히 마이너스 200이었습니다. 기본 설정에서는 마이너스 2였습니다.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이 결함은 첫 파일럿에서 전환 실패가 줄지 않은 직접 원인이기도 합니다.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⑤ 두 번째 파일럿</a:t>
            </a:r>
          </a:p>
        </p:txBody>
      </p:sp>
      <p:graphicFrame>
        <p:nvGraphicFramePr>
          <p:cNvPr id="3" name="Table 2"/>
          <p:cNvGraphicFramePr>
            <a:graphicFrameLocks noGrp="1"/>
          </p:cNvGraphicFramePr>
          <p:nvPr/>
        </p:nvGraphicFramePr>
        <p:xfrm>
          <a:off x="502920" y="1188720"/>
          <a:ext cx="8138160" cy="1737360"/>
        </p:xfrm>
        <a:graphic>
          <a:graphicData uri="http://schemas.openxmlformats.org/drawingml/2006/table">
            <a:tbl>
              <a:tblPr firstRow="1" bandRow="0">
                <a:tableStyleId>{5940675A-B579-460E-94D1-54222C63F5DA}</a:tableStyleId>
              </a:tblPr>
              <a:tblGrid>
                <a:gridCol w="1371600"/>
                <a:gridCol w="3200400"/>
                <a:gridCol w="3566160"/>
              </a:tblGrid>
              <a:tr h="347472">
                <a:tc>
                  <a:txBody>
                    <a:bodyPr wrap="square"/>
                    <a:lstStyle/>
                    <a:p>
                      <a:pPr algn="l"/>
                      <a:r>
                        <a:rPr sz="950" b="1" i="0">
                          <a:solidFill>
                            <a:srgbClr val="FFFFFF"/>
                          </a:solidFill>
                          <a:latin typeface="맑은 고딕"/>
                          <a:ea typeface="맑은 고딕"/>
                        </a:rPr>
                        <a:t>항목</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첫 파일럿</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두 번째 파일럿</a:t>
                      </a:r>
                    </a:p>
                  </a:txBody>
                  <a:tcPr marL="45720" marR="45720" marT="13716" marB="13716" anchor="ctr">
                    <a:solidFill>
                      <a:srgbClr val="203864"/>
                    </a:solidFill>
                  </a:tcPr>
                </a:tc>
              </a:tr>
              <a:tr h="347472">
                <a:tc>
                  <a:txBody>
                    <a:bodyPr wrap="square"/>
                    <a:lstStyle/>
                    <a:p>
                      <a:pPr algn="l"/>
                      <a:r>
                        <a:rPr sz="900" b="0" i="0">
                          <a:solidFill>
                            <a:srgbClr val="262626"/>
                          </a:solidFill>
                          <a:latin typeface="맑은 고딕"/>
                          <a:ea typeface="맑은 고딕"/>
                        </a:rPr>
                        <a:t>시작 모델</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각 전문가의 셋째 단계 모델</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첫 파일럿의 마지막 모델</a:t>
                      </a:r>
                    </a:p>
                  </a:txBody>
                  <a:tcPr marL="45720" marR="45720" marT="13716" marB="13716" anchor="ctr">
                    <a:solidFill>
                      <a:srgbClr val="FFFFFF"/>
                    </a:solidFill>
                  </a:tcPr>
                </a:tc>
              </a:tr>
              <a:tr h="347472">
                <a:tc>
                  <a:txBody>
                    <a:bodyPr wrap="square"/>
                    <a:lstStyle/>
                    <a:p>
                      <a:pPr algn="l"/>
                      <a:r>
                        <a:rPr sz="900" b="0" i="0">
                          <a:solidFill>
                            <a:srgbClr val="262626"/>
                          </a:solidFill>
                          <a:latin typeface="맑은 고딕"/>
                          <a:ea typeface="맑은 고딕"/>
                        </a:rPr>
                        <a:t>넘어질 때 벌점</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2 (실제로는 적용 안 됨)</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200 (끝나는 스텝에 한 번)</a:t>
                      </a:r>
                    </a:p>
                  </a:txBody>
                  <a:tcPr marL="45720" marR="45720" marT="13716" marB="13716" anchor="ctr">
                    <a:solidFill>
                      <a:srgbClr val="EEF3FA"/>
                    </a:solidFill>
                  </a:tcPr>
                </a:tc>
              </a:tr>
              <a:tr h="347472">
                <a:tc>
                  <a:txBody>
                    <a:bodyPr wrap="square"/>
                    <a:lstStyle/>
                    <a:p>
                      <a:pPr algn="l"/>
                      <a:r>
                        <a:rPr sz="900" b="0" i="0">
                          <a:solidFill>
                            <a:srgbClr val="262626"/>
                          </a:solidFill>
                          <a:latin typeface="맑은 고딕"/>
                          <a:ea typeface="맑은 고딕"/>
                        </a:rPr>
                        <a:t>학습률</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1e-4</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5e-5 (첫 파일럿에서 정책이 너무 많이 바뀌어서)</a:t>
                      </a:r>
                    </a:p>
                  </a:txBody>
                  <a:tcPr marL="45720" marR="45720" marT="13716" marB="13716" anchor="ctr">
                    <a:solidFill>
                      <a:srgbClr val="FFFFFF"/>
                    </a:solidFill>
                  </a:tcPr>
                </a:tc>
              </a:tr>
              <a:tr h="347472">
                <a:tc>
                  <a:txBody>
                    <a:bodyPr wrap="square"/>
                    <a:lstStyle/>
                    <a:p>
                      <a:pPr algn="l"/>
                      <a:r>
                        <a:rPr sz="900" b="0" i="0">
                          <a:solidFill>
                            <a:srgbClr val="262626"/>
                          </a:solidFill>
                          <a:latin typeface="맑은 고딕"/>
                          <a:ea typeface="맑은 고딕"/>
                        </a:rPr>
                        <a:t>나머지</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인계 시작 50퍼센트, 위상 정렬 80퍼센트, 2천8백만 스텝</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같음</a:t>
                      </a:r>
                    </a:p>
                  </a:txBody>
                  <a:tcPr marL="45720" marR="45720" marT="13716" marB="13716" anchor="ctr">
                    <a:solidFill>
                      <a:srgbClr val="EEF3FA"/>
                    </a:solidFill>
                  </a:tcPr>
                </a:tc>
              </a:tr>
            </a:tbl>
          </a:graphicData>
        </a:graphic>
      </p:graphicFrame>
      <p:graphicFrame>
        <p:nvGraphicFramePr>
          <p:cNvPr id="4" name="Table 3"/>
          <p:cNvGraphicFramePr>
            <a:graphicFrameLocks noGrp="1"/>
          </p:cNvGraphicFramePr>
          <p:nvPr/>
        </p:nvGraphicFramePr>
        <p:xfrm>
          <a:off x="502920" y="3063240"/>
          <a:ext cx="8138160" cy="1463040"/>
        </p:xfrm>
        <a:graphic>
          <a:graphicData uri="http://schemas.openxmlformats.org/drawingml/2006/table">
            <a:tbl>
              <a:tblPr firstRow="1" bandRow="0">
                <a:tableStyleId>{5940675A-B579-460E-94D1-54222C63F5DA}</a:tableStyleId>
              </a:tblPr>
              <a:tblGrid>
                <a:gridCol w="1097280"/>
                <a:gridCol w="2926080"/>
                <a:gridCol w="4114800"/>
              </a:tblGrid>
              <a:tr h="365760">
                <a:tc>
                  <a:txBody>
                    <a:bodyPr wrap="square"/>
                    <a:lstStyle/>
                    <a:p>
                      <a:pPr algn="l"/>
                      <a:r>
                        <a:rPr sz="950" b="1" i="0">
                          <a:solidFill>
                            <a:srgbClr val="FFFFFF"/>
                          </a:solidFill>
                          <a:latin typeface="맑은 고딕"/>
                          <a:ea typeface="맑은 고딕"/>
                        </a:rPr>
                        <a:t>전문가</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멈춘 자세에서 걷는 속도 (기준 → 두 번째 뒤)</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전환 뒤 실패 비율: 기준 → 첫 파일럿 → 두 번째 (final) → (best)</a:t>
                      </a:r>
                    </a:p>
                  </a:txBody>
                  <a:tcPr marL="45720" marR="45720" marT="13716" marB="13716" anchor="ctr">
                    <a:solidFill>
                      <a:srgbClr val="203864"/>
                    </a:solidFill>
                  </a:tcPr>
                </a:tc>
              </a:tr>
              <a:tr h="365760">
                <a:tc>
                  <a:txBody>
                    <a:bodyPr wrap="square"/>
                    <a:lstStyle/>
                    <a:p>
                      <a:pPr algn="l"/>
                      <a:r>
                        <a:rPr sz="900" b="0" i="0">
                          <a:solidFill>
                            <a:srgbClr val="262626"/>
                          </a:solidFill>
                          <a:latin typeface="맑은 고딕"/>
                          <a:ea typeface="맑은 고딕"/>
                        </a:rPr>
                        <a:t>diag_fr</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0.455 → 0.470 미터/초</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0.311 → 0.361 → 0.361 → 0.333</a:t>
                      </a:r>
                    </a:p>
                  </a:txBody>
                  <a:tcPr marL="45720" marR="45720" marT="13716" marB="13716" anchor="ctr">
                    <a:solidFill>
                      <a:srgbClr val="FFFFFF"/>
                    </a:solidFill>
                  </a:tcPr>
                </a:tc>
              </a:tr>
              <a:tr h="365760">
                <a:tc>
                  <a:txBody>
                    <a:bodyPr wrap="square"/>
                    <a:lstStyle/>
                    <a:p>
                      <a:pPr algn="l"/>
                      <a:r>
                        <a:rPr sz="900" b="0" i="0">
                          <a:solidFill>
                            <a:srgbClr val="262626"/>
                          </a:solidFill>
                          <a:latin typeface="맑은 고딕"/>
                          <a:ea typeface="맑은 고딕"/>
                        </a:rPr>
                        <a:t>diag_bl</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0.492 → 0.497 미터/초</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0.328 → 0.328 → 0.289 → 0.289</a:t>
                      </a:r>
                    </a:p>
                  </a:txBody>
                  <a:tcPr marL="45720" marR="45720" marT="13716" marB="13716" anchor="ctr">
                    <a:solidFill>
                      <a:srgbClr val="EEF3FA"/>
                    </a:solidFill>
                  </a:tcPr>
                </a:tc>
              </a:tr>
              <a:tr h="365760">
                <a:tc>
                  <a:txBody>
                    <a:bodyPr wrap="square"/>
                    <a:lstStyle/>
                    <a:p>
                      <a:pPr algn="l"/>
                      <a:r>
                        <a:rPr sz="900" b="0" i="0">
                          <a:solidFill>
                            <a:srgbClr val="262626"/>
                          </a:solidFill>
                          <a:latin typeface="맑은 고딕"/>
                          <a:ea typeface="맑은 고딕"/>
                        </a:rPr>
                        <a:t>forward</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0.617 → 0.626 미터/초</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0.167 → 0.144 → 0.178 → 0.183</a:t>
                      </a:r>
                    </a:p>
                  </a:txBody>
                  <a:tcPr marL="45720" marR="45720" marT="13716" marB="13716" anchor="ctr">
                    <a:solidFill>
                      <a:srgbClr val="FFFFFF"/>
                    </a:solidFill>
                  </a:tcPr>
                </a:tc>
              </a:tr>
            </a:tbl>
          </a:graphicData>
        </a:graphic>
      </p:graphicFrame>
      <p:sp>
        <p:nvSpPr>
          <p:cNvPr id="5" name="Rounded Rectangle 4"/>
          <p:cNvSpPr/>
          <p:nvPr/>
        </p:nvSpPr>
        <p:spPr>
          <a:xfrm>
            <a:off x="502920" y="4663440"/>
            <a:ext cx="8138159" cy="169164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7274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판정</a:t>
            </a:r>
          </a:p>
        </p:txBody>
      </p:sp>
      <p:sp>
        <p:nvSpPr>
          <p:cNvPr id="7" name="TextBox 6"/>
          <p:cNvSpPr txBox="1"/>
          <p:nvPr/>
        </p:nvSpPr>
        <p:spPr>
          <a:xfrm>
            <a:off x="612648" y="4992624"/>
            <a:ext cx="7918703" cy="132588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걷는 실력은 그대로 유지됐고 벌점도 제대로 적용됐지만, 전환 뒤 실패 비율은 두 번째 파일럿에서도 줄지 않았습니다.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행동에 무작위를 섞어 평가해도 결과는 비슷했습니다. 평균 행동이 아슬아슬해서 생기는 문제가 아니라, 정책이 아직 그 상황을 배우지 못한 것입니다.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즉 벌점을 올리는 것만으로는 부족했습니다. 다음 수정 후보는 다음 단계 슬라이드에 적었습니다.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⑥ 바뀐 파일 목록</a:t>
            </a:r>
          </a:p>
        </p:txBody>
      </p:sp>
      <p:graphicFrame>
        <p:nvGraphicFramePr>
          <p:cNvPr id="3" name="Table 2"/>
          <p:cNvGraphicFramePr>
            <a:graphicFrameLocks noGrp="1"/>
          </p:cNvGraphicFramePr>
          <p:nvPr/>
        </p:nvGraphicFramePr>
        <p:xfrm>
          <a:off x="502920" y="1188720"/>
          <a:ext cx="8138160" cy="4206230"/>
        </p:xfrm>
        <a:graphic>
          <a:graphicData uri="http://schemas.openxmlformats.org/drawingml/2006/table">
            <a:tbl>
              <a:tblPr firstRow="1" bandRow="0">
                <a:tableStyleId>{5940675A-B579-460E-94D1-54222C63F5DA}</a:tableStyleId>
              </a:tblPr>
              <a:tblGrid>
                <a:gridCol w="3291840"/>
                <a:gridCol w="4846320"/>
              </a:tblGrid>
              <a:tr h="420623">
                <a:tc>
                  <a:txBody>
                    <a:bodyPr wrap="square"/>
                    <a:lstStyle/>
                    <a:p>
                      <a:pPr algn="l"/>
                      <a:r>
                        <a:rPr sz="900" b="1" i="0">
                          <a:solidFill>
                            <a:srgbClr val="FFFFFF"/>
                          </a:solidFill>
                          <a:latin typeface="맑은 고딕"/>
                          <a:ea typeface="맑은 고딕"/>
                        </a:rPr>
                        <a:t>파일</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무엇을 했나</a:t>
                      </a:r>
                    </a:p>
                  </a:txBody>
                  <a:tcPr marL="45720" marR="45720" marT="13716" marB="13716" anchor="ctr">
                    <a:solidFill>
                      <a:srgbClr val="203864"/>
                    </a:solidFill>
                  </a:tcPr>
                </a:tc>
              </a:tr>
              <a:tr h="420623">
                <a:tc>
                  <a:txBody>
                    <a:bodyPr wrap="square"/>
                    <a:lstStyle/>
                    <a:p>
                      <a:pPr algn="l"/>
                      <a:r>
                        <a:rPr sz="850" b="0" i="0">
                          <a:solidFill>
                            <a:srgbClr val="262626"/>
                          </a:solidFill>
                          <a:latin typeface="맑은 고딕"/>
                          <a:ea typeface="맑은 고딕"/>
                        </a:rPr>
                        <a:t>horcrux_env/envs/plane_moving_init_v1.py</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인계 시작 환경입니다. 새로 만들었고, 끝나는 스텝의 벌점 보정도 여기 있습니다.</a:t>
                      </a:r>
                    </a:p>
                  </a:txBody>
                  <a:tcPr marL="45720" marR="45720" marT="13716" marB="13716" anchor="ctr">
                    <a:solidFill>
                      <a:srgbClr val="FFFFFF"/>
                    </a:solidFill>
                  </a:tcPr>
                </a:tc>
              </a:tr>
              <a:tr h="420623">
                <a:tc>
                  <a:txBody>
                    <a:bodyPr wrap="square"/>
                    <a:lstStyle/>
                    <a:p>
                      <a:pPr algn="l"/>
                      <a:r>
                        <a:rPr sz="850" b="0" i="0">
                          <a:solidFill>
                            <a:srgbClr val="262626"/>
                          </a:solidFill>
                          <a:latin typeface="맑은 고딕"/>
                          <a:ea typeface="맑은 고딕"/>
                        </a:rPr>
                        <a:t>horcrux_env/__init__.py, envs/__init__.py</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새 환경을 plane-moving-init-v0 이름으로 등록했습니다.</a:t>
                      </a:r>
                    </a:p>
                  </a:txBody>
                  <a:tcPr marL="45720" marR="45720" marT="13716" marB="13716" anchor="ctr">
                    <a:solidFill>
                      <a:srgbClr val="EEF3FA"/>
                    </a:solidFill>
                  </a:tcPr>
                </a:tc>
              </a:tr>
              <a:tr h="420623">
                <a:tc>
                  <a:txBody>
                    <a:bodyPr wrap="square"/>
                    <a:lstStyle/>
                    <a:p>
                      <a:pPr algn="l"/>
                      <a:r>
                        <a:rPr sz="850" b="0" i="0">
                          <a:solidFill>
                            <a:srgbClr val="262626"/>
                          </a:solidFill>
                          <a:latin typeface="맑은 고딕"/>
                          <a:ea typeface="맑은 고딕"/>
                        </a:rPr>
                        <a:t>training/build_moving_state_bank.py</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상태 은행을 만드는 스크립트입니다. 새로 만들었습니다.</a:t>
                      </a:r>
                    </a:p>
                  </a:txBody>
                  <a:tcPr marL="45720" marR="45720" marT="13716" marB="13716" anchor="ctr">
                    <a:solidFill>
                      <a:srgbClr val="FFFFFF"/>
                    </a:solidFill>
                  </a:tcPr>
                </a:tc>
              </a:tr>
              <a:tr h="420623">
                <a:tc>
                  <a:txBody>
                    <a:bodyPr wrap="square"/>
                    <a:lstStyle/>
                    <a:p>
                      <a:pPr algn="l"/>
                      <a:r>
                        <a:rPr sz="850" b="0" i="0">
                          <a:solidFill>
                            <a:srgbClr val="262626"/>
                          </a:solidFill>
                          <a:latin typeface="맑은 고딕"/>
                          <a:ea typeface="맑은 고딕"/>
                        </a:rPr>
                        <a:t>training/eval_expert_transitions.py</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걷는 실력과 전환 실패율을 재는 평가 스크립트입니다. 새로 만들었습니다.</a:t>
                      </a:r>
                    </a:p>
                  </a:txBody>
                  <a:tcPr marL="45720" marR="45720" marT="13716" marB="13716" anchor="ctr">
                    <a:solidFill>
                      <a:srgbClr val="EEF3FA"/>
                    </a:solidFill>
                  </a:tcPr>
                </a:tc>
              </a:tr>
              <a:tr h="420623">
                <a:tc>
                  <a:txBody>
                    <a:bodyPr wrap="square"/>
                    <a:lstStyle/>
                    <a:p>
                      <a:pPr algn="l"/>
                      <a:r>
                        <a:rPr sz="850" b="0" i="0">
                          <a:solidFill>
                            <a:srgbClr val="262626"/>
                          </a:solidFill>
                          <a:latin typeface="맑은 고딕"/>
                          <a:ea typeface="맑은 고딕"/>
                        </a:rPr>
                        <a:t>training/callbacks/info_metrics.py</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정지 시작과 인계 시작을 나누어 기록하는 항목을 더했습니다.</a:t>
                      </a:r>
                    </a:p>
                  </a:txBody>
                  <a:tcPr marL="45720" marR="45720" marT="13716" marB="13716" anchor="ctr">
                    <a:solidFill>
                      <a:srgbClr val="FFFFFF"/>
                    </a:solidFill>
                  </a:tcPr>
                </a:tc>
              </a:tr>
              <a:tr h="420623">
                <a:tc>
                  <a:txBody>
                    <a:bodyPr wrap="square"/>
                    <a:lstStyle/>
                    <a:p>
                      <a:pPr algn="l"/>
                      <a:r>
                        <a:rPr sz="850" b="0" i="0">
                          <a:solidFill>
                            <a:srgbClr val="262626"/>
                          </a:solidFill>
                          <a:latin typeface="맑은 고딕"/>
                          <a:ea typeface="맑은 고딕"/>
                        </a:rPr>
                        <a:t>training/callbacks/video_recorder.py, train.py</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학습 녹화 카메라가 로봇을 따라가도록 고쳤습니다.</a:t>
                      </a:r>
                    </a:p>
                  </a:txBody>
                  <a:tcPr marL="45720" marR="45720" marT="13716" marB="13716" anchor="ctr">
                    <a:solidFill>
                      <a:srgbClr val="EEF3FA"/>
                    </a:solidFill>
                  </a:tcPr>
                </a:tc>
              </a:tr>
              <a:tr h="420623">
                <a:tc>
                  <a:txBody>
                    <a:bodyPr wrap="square"/>
                    <a:lstStyle/>
                    <a:p>
                      <a:pPr algn="l"/>
                      <a:r>
                        <a:rPr sz="850" b="0" i="0">
                          <a:solidFill>
                            <a:srgbClr val="262626"/>
                          </a:solidFill>
                          <a:latin typeface="맑은 고딕"/>
                          <a:ea typeface="맑은 고딕"/>
                        </a:rPr>
                        <a:t>training/path_following.py</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경로 시연에서 특정 전문가를 새 모델로 바꿔 끼우는 옵션을 더했습니다.</a:t>
                      </a:r>
                    </a:p>
                  </a:txBody>
                  <a:tcPr marL="45720" marR="45720" marT="13716" marB="13716" anchor="ctr">
                    <a:solidFill>
                      <a:srgbClr val="FFFFFF"/>
                    </a:solidFill>
                  </a:tcPr>
                </a:tc>
              </a:tr>
              <a:tr h="420623">
                <a:tc>
                  <a:txBody>
                    <a:bodyPr wrap="square"/>
                    <a:lstStyle/>
                    <a:p>
                      <a:pPr algn="l"/>
                      <a:r>
                        <a:rPr sz="850" b="0" i="0">
                          <a:solidFill>
                            <a:srgbClr val="262626"/>
                          </a:solidFill>
                          <a:latin typeface="맑은 고딕"/>
                          <a:ea typeface="맑은 고딕"/>
                        </a:rPr>
                        <a:t>training/configs/ppo_plane_*_moving_init_iter1.yaml, iter2.yaml</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세 전문가의 파일럿 설정 두 벌입니다.</a:t>
                      </a:r>
                    </a:p>
                  </a:txBody>
                  <a:tcPr marL="45720" marR="45720" marT="13716" marB="13716" anchor="ctr">
                    <a:solidFill>
                      <a:srgbClr val="EEF3FA"/>
                    </a:solidFill>
                  </a:tcPr>
                </a:tc>
              </a:tr>
              <a:tr h="420623">
                <a:tc>
                  <a:txBody>
                    <a:bodyPr wrap="square"/>
                    <a:lstStyle/>
                    <a:p>
                      <a:pPr algn="l"/>
                      <a:r>
                        <a:rPr sz="850" b="0" i="0">
                          <a:solidFill>
                            <a:srgbClr val="262626"/>
                          </a:solidFill>
                          <a:latin typeface="맑은 고딕"/>
                          <a:ea typeface="맑은 고딕"/>
                        </a:rPr>
                        <a:t>policies/path_tracking/MOVING_INIT_CAMPAIGN.txt</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이 캠페인의 기록 원장입니다. 은행, 기준선, 결과, 진단을 적어 둡니다.</a:t>
                      </a:r>
                    </a:p>
                  </a:txBody>
                  <a:tcPr marL="45720" marR="45720" marT="13716" marB="13716" anchor="ctr">
                    <a:solidFill>
                      <a:srgbClr val="FFFFFF"/>
                    </a:solidFill>
                  </a:tcPr>
                </a:tc>
              </a:tr>
            </a:tbl>
          </a:graphicData>
        </a:graphic>
      </p:graphicFrame>
      <p:sp>
        <p:nvSpPr>
          <p:cNvPr id="4" name="TextBox 3"/>
          <p:cNvSpPr txBox="1"/>
          <p:nvPr/>
        </p:nvSpPr>
        <p:spPr>
          <a:xfrm>
            <a:off x="502920" y="5486400"/>
            <a:ext cx="8138159" cy="73152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모든 변경은 CLAUDE_CHANGES.md에도 날짜와 이유와 함께 적혀 있습니다. 예전 정책 파일과 기존 환경 파일은 바꾸지 않았습니다.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⑦ 세 번째 파일럿</a:t>
            </a:r>
          </a:p>
        </p:txBody>
      </p:sp>
      <p:graphicFrame>
        <p:nvGraphicFramePr>
          <p:cNvPr id="3" name="Table 2"/>
          <p:cNvGraphicFramePr>
            <a:graphicFrameLocks noGrp="1"/>
          </p:cNvGraphicFramePr>
          <p:nvPr/>
        </p:nvGraphicFramePr>
        <p:xfrm>
          <a:off x="502920" y="1188720"/>
          <a:ext cx="8138160" cy="1463040"/>
        </p:xfrm>
        <a:graphic>
          <a:graphicData uri="http://schemas.openxmlformats.org/drawingml/2006/table">
            <a:tbl>
              <a:tblPr firstRow="1" bandRow="0">
                <a:tableStyleId>{5940675A-B579-460E-94D1-54222C63F5DA}</a:tableStyleId>
              </a:tblPr>
              <a:tblGrid>
                <a:gridCol w="1463040"/>
                <a:gridCol w="6675120"/>
              </a:tblGrid>
              <a:tr h="365760">
                <a:tc>
                  <a:txBody>
                    <a:bodyPr wrap="square"/>
                    <a:lstStyle/>
                    <a:p>
                      <a:pPr algn="l"/>
                      <a:r>
                        <a:rPr sz="950" b="1" i="0">
                          <a:solidFill>
                            <a:srgbClr val="FFFFFF"/>
                          </a:solidFill>
                          <a:latin typeface="맑은 고딕"/>
                          <a:ea typeface="맑은 고딕"/>
                        </a:rPr>
                        <a:t>항목</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세 번째 파일럿 (2026년 9월 11일)</a:t>
                      </a:r>
                    </a:p>
                  </a:txBody>
                  <a:tcPr marL="45720" marR="45720" marT="13716" marB="13716" anchor="ctr">
                    <a:solidFill>
                      <a:srgbClr val="203864"/>
                    </a:solidFill>
                  </a:tcPr>
                </a:tc>
              </a:tr>
              <a:tr h="365760">
                <a:tc>
                  <a:txBody>
                    <a:bodyPr wrap="square"/>
                    <a:lstStyle/>
                    <a:p>
                      <a:pPr algn="l"/>
                      <a:r>
                        <a:rPr sz="900" b="0" i="0">
                          <a:solidFill>
                            <a:srgbClr val="262626"/>
                          </a:solidFill>
                          <a:latin typeface="맑은 고딕"/>
                          <a:ea typeface="맑은 고딕"/>
                        </a:rPr>
                        <a:t>시작 모델</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원본인 셋째 단계 최종 모델. 두 번의 파일럿이 효과가 없어서 처음부터 다시 시작했습니다.</a:t>
                      </a:r>
                    </a:p>
                  </a:txBody>
                  <a:tcPr marL="45720" marR="45720" marT="13716" marB="13716" anchor="ctr">
                    <a:solidFill>
                      <a:srgbClr val="FFFFFF"/>
                    </a:solidFill>
                  </a:tcPr>
                </a:tc>
              </a:tr>
              <a:tr h="365760">
                <a:tc>
                  <a:txBody>
                    <a:bodyPr wrap="square"/>
                    <a:lstStyle/>
                    <a:p>
                      <a:pPr algn="l"/>
                      <a:r>
                        <a:rPr sz="900" b="0" i="0">
                          <a:solidFill>
                            <a:srgbClr val="262626"/>
                          </a:solidFill>
                          <a:latin typeface="맑은 고딕"/>
                          <a:ea typeface="맑은 고딕"/>
                        </a:rPr>
                        <a:t>새로 넣은 보상 항</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기울기 벌점과 기운 채로 세게 밀기 벌점, 각각 20점. 몸통이 15도 넘게 기울 때만 붙고, 인계 시작 에피소드에만 적용했습니다.</a:t>
                      </a:r>
                    </a:p>
                  </a:txBody>
                  <a:tcPr marL="45720" marR="45720" marT="13716" marB="13716" anchor="ctr">
                    <a:solidFill>
                      <a:srgbClr val="EEF3FA"/>
                    </a:solidFill>
                  </a:tcPr>
                </a:tc>
              </a:tr>
              <a:tr h="365760">
                <a:tc>
                  <a:txBody>
                    <a:bodyPr wrap="square"/>
                    <a:lstStyle/>
                    <a:p>
                      <a:pPr algn="l"/>
                      <a:r>
                        <a:rPr sz="900" b="0" i="0">
                          <a:solidFill>
                            <a:srgbClr val="262626"/>
                          </a:solidFill>
                          <a:latin typeface="맑은 고딕"/>
                          <a:ea typeface="맑은 고딕"/>
                        </a:rPr>
                        <a:t>나머지</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넘어질 때 벌점 200, 학습률 1e-4, 인계 시작 50퍼센트, 위상 정렬 80퍼센트, 2천8백만 스텝</a:t>
                      </a:r>
                    </a:p>
                  </a:txBody>
                  <a:tcPr marL="45720" marR="45720" marT="13716" marB="13716" anchor="ctr">
                    <a:solidFill>
                      <a:srgbClr val="FFFFFF"/>
                    </a:solidFill>
                  </a:tcPr>
                </a:tc>
              </a:tr>
            </a:tbl>
          </a:graphicData>
        </a:graphic>
      </p:graphicFrame>
      <p:graphicFrame>
        <p:nvGraphicFramePr>
          <p:cNvPr id="4" name="Table 3"/>
          <p:cNvGraphicFramePr>
            <a:graphicFrameLocks noGrp="1"/>
          </p:cNvGraphicFramePr>
          <p:nvPr/>
        </p:nvGraphicFramePr>
        <p:xfrm>
          <a:off x="502920" y="2788920"/>
          <a:ext cx="8138160" cy="1371600"/>
        </p:xfrm>
        <a:graphic>
          <a:graphicData uri="http://schemas.openxmlformats.org/drawingml/2006/table">
            <a:tbl>
              <a:tblPr firstRow="1" bandRow="0">
                <a:tableStyleId>{5940675A-B579-460E-94D1-54222C63F5DA}</a:tableStyleId>
              </a:tblPr>
              <a:tblGrid>
                <a:gridCol w="1097280"/>
                <a:gridCol w="3108960"/>
                <a:gridCol w="3931920"/>
              </a:tblGrid>
              <a:tr h="342900">
                <a:tc>
                  <a:txBody>
                    <a:bodyPr wrap="square"/>
                    <a:lstStyle/>
                    <a:p>
                      <a:pPr algn="l"/>
                      <a:r>
                        <a:rPr sz="950" b="1" i="0">
                          <a:solidFill>
                            <a:srgbClr val="FFFFFF"/>
                          </a:solidFill>
                          <a:latin typeface="맑은 고딕"/>
                          <a:ea typeface="맑은 고딕"/>
                        </a:rPr>
                        <a:t>전문가</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멈춘 자세에서 걷는 속도 (기준 → 세 번째 뒤)</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전환 뒤 실패 비율: 기준 → 세 번째 (final) → (best)</a:t>
                      </a:r>
                    </a:p>
                  </a:txBody>
                  <a:tcPr marL="45720" marR="45720" marT="13716" marB="13716" anchor="ctr">
                    <a:solidFill>
                      <a:srgbClr val="203864"/>
                    </a:solidFill>
                  </a:tcPr>
                </a:tc>
              </a:tr>
              <a:tr h="342900">
                <a:tc>
                  <a:txBody>
                    <a:bodyPr wrap="square"/>
                    <a:lstStyle/>
                    <a:p>
                      <a:pPr algn="l"/>
                      <a:r>
                        <a:rPr sz="900" b="0" i="0">
                          <a:solidFill>
                            <a:srgbClr val="262626"/>
                          </a:solidFill>
                          <a:latin typeface="맑은 고딕"/>
                          <a:ea typeface="맑은 고딕"/>
                        </a:rPr>
                        <a:t>diag_fr</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0.455 → 0.464 미터/초</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0.311 → 0.322 → 0.328</a:t>
                      </a:r>
                    </a:p>
                  </a:txBody>
                  <a:tcPr marL="45720" marR="45720" marT="13716" marB="13716" anchor="ctr">
                    <a:solidFill>
                      <a:srgbClr val="FFFFFF"/>
                    </a:solidFill>
                  </a:tcPr>
                </a:tc>
              </a:tr>
              <a:tr h="342900">
                <a:tc>
                  <a:txBody>
                    <a:bodyPr wrap="square"/>
                    <a:lstStyle/>
                    <a:p>
                      <a:pPr algn="l"/>
                      <a:r>
                        <a:rPr sz="900" b="0" i="0">
                          <a:solidFill>
                            <a:srgbClr val="262626"/>
                          </a:solidFill>
                          <a:latin typeface="맑은 고딕"/>
                          <a:ea typeface="맑은 고딕"/>
                        </a:rPr>
                        <a:t>diag_bl</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0.492 → 0.478 미터/초</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0.328 → 0.350 → 0.417</a:t>
                      </a:r>
                    </a:p>
                  </a:txBody>
                  <a:tcPr marL="45720" marR="45720" marT="13716" marB="13716" anchor="ctr">
                    <a:solidFill>
                      <a:srgbClr val="EEF3FA"/>
                    </a:solidFill>
                  </a:tcPr>
                </a:tc>
              </a:tr>
              <a:tr h="342900">
                <a:tc>
                  <a:txBody>
                    <a:bodyPr wrap="square"/>
                    <a:lstStyle/>
                    <a:p>
                      <a:pPr algn="l"/>
                      <a:r>
                        <a:rPr sz="900" b="0" i="0">
                          <a:solidFill>
                            <a:srgbClr val="262626"/>
                          </a:solidFill>
                          <a:latin typeface="맑은 고딕"/>
                          <a:ea typeface="맑은 고딕"/>
                        </a:rPr>
                        <a:t>forward</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0.617 → 0.611 미터/초</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0.167 → 0.117 → 0.172</a:t>
                      </a:r>
                    </a:p>
                  </a:txBody>
                  <a:tcPr marL="45720" marR="45720" marT="13716" marB="13716" anchor="ctr">
                    <a:solidFill>
                      <a:srgbClr val="FFFFFF"/>
                    </a:solidFill>
                  </a:tcPr>
                </a:tc>
              </a:tr>
            </a:tbl>
          </a:graphicData>
        </a:graphic>
      </p:graphicFrame>
      <p:sp>
        <p:nvSpPr>
          <p:cNvPr id="5" name="Rounded Rectangle 4"/>
          <p:cNvSpPr/>
          <p:nvPr/>
        </p:nvSpPr>
        <p:spPr>
          <a:xfrm>
            <a:off x="502920" y="4297680"/>
            <a:ext cx="8138159" cy="196596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36168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알게 됐나</a:t>
            </a:r>
          </a:p>
        </p:txBody>
      </p:sp>
      <p:sp>
        <p:nvSpPr>
          <p:cNvPr id="7" name="TextBox 6"/>
          <p:cNvSpPr txBox="1"/>
          <p:nvPr/>
        </p:nvSpPr>
        <p:spPr>
          <a:xfrm>
            <a:off x="612648" y="4626864"/>
            <a:ext cx="7918703" cy="160020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학습 내내 벌점의 크기가 처음 값 그대로였습니다. 매 스텝 신호를 줬는데도 정책이 그 벌점을 피하는 행동을 찾지 못했다는 뜻입니다.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forward만 0.167에서 0.117로 줄었고, diag_fr와 diag_bl은 그대로였습니다. 멈춘 자세 주행 점수는 2에서 4퍼센트 내려갔습니다.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그래서 힘의 크기를 조절하는 것으로는 이 출발 상태를 구하기 어렵다고 보고, 출발 상태 자체를 바꾸는 쪽으로 방향을 돌렸습니다.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⑧ 시작 위상 규칙의 발견</a:t>
            </a:r>
          </a:p>
        </p:txBody>
      </p:sp>
      <p:pic>
        <p:nvPicPr>
          <p:cNvPr id="3" name="Picture 2" descr="F3_agreement_heatmap.png"/>
          <p:cNvPicPr>
            <a:picLocks noChangeAspect="1"/>
          </p:cNvPicPr>
          <p:nvPr/>
        </p:nvPicPr>
        <p:blipFill>
          <a:blip r:embed="rId2"/>
          <a:stretch>
            <a:fillRect/>
          </a:stretch>
        </p:blipFill>
        <p:spPr>
          <a:xfrm>
            <a:off x="587771" y="1188720"/>
            <a:ext cx="3579336" cy="3291840"/>
          </a:xfrm>
          <a:prstGeom prst="rect">
            <a:avLst/>
          </a:prstGeom>
        </p:spPr>
      </p:pic>
      <p:sp>
        <p:nvSpPr>
          <p:cNvPr id="4" name="TextBox 3"/>
          <p:cNvSpPr txBox="1"/>
          <p:nvPr/>
        </p:nvSpPr>
        <p:spPr>
          <a:xfrm>
            <a:off x="502920" y="4507992"/>
            <a:ext cx="3749039"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위상을 맞춰도 부호가 몇 개나 같아지는지를 gait 쌍마다 그린 표입니다. 짙은 네모 두 개가 두 집안입니다.</a:t>
            </a:r>
          </a:p>
        </p:txBody>
      </p:sp>
      <p:sp>
        <p:nvSpPr>
          <p:cNvPr id="5" name="Rounded Rectangle 4"/>
          <p:cNvSpPr/>
          <p:nvPr/>
        </p:nvSpPr>
        <p:spPr>
          <a:xfrm>
            <a:off x="4434840" y="1188720"/>
            <a:ext cx="4206239" cy="36118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44568" y="1252728"/>
            <a:ext cx="398678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찾았나</a:t>
            </a:r>
          </a:p>
        </p:txBody>
      </p:sp>
      <p:sp>
        <p:nvSpPr>
          <p:cNvPr id="7" name="TextBox 6"/>
          <p:cNvSpPr txBox="1"/>
          <p:nvPr/>
        </p:nvSpPr>
        <p:spPr>
          <a:xfrm>
            <a:off x="4544568" y="1517904"/>
            <a:ext cx="3986783" cy="324612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부호 열네 개를 두 묶음으로 나눴습니다. 홀수 관절은 세로 파동이고 땅에 닿는 마디를 정합니다. 짝수 관절은 가로 파동이고 미는 방향을 정합니다.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집안을 건너는 전환에서는 둘을 동시에 맞출 수 없습니다. 후보 위상을 전부 시도한 기록으로 보니, 가로를 맞춘 위상은 0.86이 살아남고 세로를 맞춘 위상은 0.38만 살아남았습니다.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그래서 가로를 먼저 맞추고, 같으면 세로로 정하는 규칙을 만들었습니다. 코드 몇 줄이고 학습이 없습니다.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뜻은 이렇습니다. 집안을 건널 때는 미는 방향을 잇고 땅에 닿는 마디를 바꾸는 쪽이, 그 반대보다 안전합니다.</a:t>
            </a:r>
          </a:p>
        </p:txBody>
      </p:sp>
      <p:sp>
        <p:nvSpPr>
          <p:cNvPr id="8" name="Rounded Rectangle 7"/>
          <p:cNvSpPr/>
          <p:nvPr/>
        </p:nvSpPr>
        <p:spPr>
          <a:xfrm>
            <a:off x="502920" y="4937760"/>
            <a:ext cx="8138159" cy="132588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500176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확인한 것</a:t>
            </a:r>
          </a:p>
        </p:txBody>
      </p:sp>
      <p:sp>
        <p:nvSpPr>
          <p:cNvPr id="10" name="TextBox 9"/>
          <p:cNvSpPr txBox="1"/>
          <p:nvPr/>
        </p:nvSpPr>
        <p:spPr>
          <a:xfrm>
            <a:off x="612648" y="5266944"/>
            <a:ext cx="7918703" cy="960119"/>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대표 전문가 여덟 개를 같은 1,440개 상태에서 평가하니, 진입 실패가 평균 0.231에서 0.158로 줄었습니다. 여덟 목표 모두 줄었고, 집안을 건너는 전환은 0.34에서 0.22로 줄었으며 같은 집안은 그대로였습니다.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수학적 근거와 실험은 별도 덱 docs/Horcrux_phase_selection_math_2026-09.pptx에 정리했습니다. 규칙 함수는 horcrux_env/envs/phase_align.py에 있습니다.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⑨ 네 번째 파일럿</a:t>
            </a:r>
          </a:p>
        </p:txBody>
      </p:sp>
      <p:graphicFrame>
        <p:nvGraphicFramePr>
          <p:cNvPr id="3" name="Table 2"/>
          <p:cNvGraphicFramePr>
            <a:graphicFrameLocks noGrp="1"/>
          </p:cNvGraphicFramePr>
          <p:nvPr/>
        </p:nvGraphicFramePr>
        <p:xfrm>
          <a:off x="502920" y="1188720"/>
          <a:ext cx="8138160" cy="1600200"/>
        </p:xfrm>
        <a:graphic>
          <a:graphicData uri="http://schemas.openxmlformats.org/drawingml/2006/table">
            <a:tbl>
              <a:tblPr firstRow="1" bandRow="0">
                <a:tableStyleId>{5940675A-B579-460E-94D1-54222C63F5DA}</a:tableStyleId>
              </a:tblPr>
              <a:tblGrid>
                <a:gridCol w="1463040"/>
                <a:gridCol w="6675120"/>
              </a:tblGrid>
              <a:tr h="320040">
                <a:tc>
                  <a:txBody>
                    <a:bodyPr wrap="square"/>
                    <a:lstStyle/>
                    <a:p>
                      <a:pPr algn="l"/>
                      <a:r>
                        <a:rPr sz="950" b="1" i="0">
                          <a:solidFill>
                            <a:srgbClr val="FFFFFF"/>
                          </a:solidFill>
                          <a:latin typeface="맑은 고딕"/>
                          <a:ea typeface="맑은 고딕"/>
                        </a:rPr>
                        <a:t>항목</a:t>
                      </a:r>
                    </a:p>
                  </a:txBody>
                  <a:tcPr marL="45720" marR="45720" marT="13716" marB="13716" anchor="ctr">
                    <a:solidFill>
                      <a:srgbClr val="203864"/>
                    </a:solidFill>
                  </a:tcPr>
                </a:tc>
                <a:tc>
                  <a:txBody>
                    <a:bodyPr wrap="square"/>
                    <a:lstStyle/>
                    <a:p>
                      <a:pPr algn="ctr"/>
                      <a:r>
                        <a:rPr sz="950" b="1" i="0">
                          <a:solidFill>
                            <a:srgbClr val="FFFFFF"/>
                          </a:solidFill>
                          <a:latin typeface="맑은 고딕"/>
                          <a:ea typeface="맑은 고딕"/>
                        </a:rPr>
                        <a:t>네 번째 파일럿 (2026년 9월 12일)</a:t>
                      </a:r>
                    </a:p>
                  </a:txBody>
                  <a:tcPr marL="45720" marR="45720" marT="13716" marB="13716" anchor="ctr">
                    <a:solidFill>
                      <a:srgbClr val="203864"/>
                    </a:solidFill>
                  </a:tcPr>
                </a:tc>
              </a:tr>
              <a:tr h="320040">
                <a:tc>
                  <a:txBody>
                    <a:bodyPr wrap="square"/>
                    <a:lstStyle/>
                    <a:p>
                      <a:pPr algn="l"/>
                      <a:r>
                        <a:rPr sz="900" b="0" i="0">
                          <a:solidFill>
                            <a:srgbClr val="262626"/>
                          </a:solidFill>
                          <a:latin typeface="맑은 고딕"/>
                          <a:ea typeface="맑은 고딕"/>
                        </a:rPr>
                        <a:t>시작 모델</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원본인 셋째 단계 최종 모델</a:t>
                      </a:r>
                    </a:p>
                  </a:txBody>
                  <a:tcPr marL="45720" marR="45720" marT="13716" marB="13716" anchor="ctr">
                    <a:solidFill>
                      <a:srgbClr val="FFFFFF"/>
                    </a:solidFill>
                  </a:tcPr>
                </a:tc>
              </a:tr>
              <a:tr h="320040">
                <a:tc>
                  <a:txBody>
                    <a:bodyPr wrap="square"/>
                    <a:lstStyle/>
                    <a:p>
                      <a:pPr algn="l"/>
                      <a:r>
                        <a:rPr sz="900" b="0" i="0">
                          <a:solidFill>
                            <a:srgbClr val="262626"/>
                          </a:solidFill>
                          <a:latin typeface="맑은 고딕"/>
                          <a:ea typeface="맑은 고딕"/>
                        </a:rPr>
                        <a:t>바꾼 것</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인계 시작의 위상 규칙을 가로 먼저로 바꿨습니다. 80퍼센트는 이 규칙, 20퍼센트는 무작위 위상입니다.</a:t>
                      </a:r>
                    </a:p>
                  </a:txBody>
                  <a:tcPr marL="45720" marR="45720" marT="13716" marB="13716" anchor="ctr">
                    <a:solidFill>
                      <a:srgbClr val="EEF3FA"/>
                    </a:solidFill>
                  </a:tcPr>
                </a:tc>
              </a:tr>
              <a:tr h="320040">
                <a:tc>
                  <a:txBody>
                    <a:bodyPr wrap="square"/>
                    <a:lstStyle/>
                    <a:p>
                      <a:pPr algn="l"/>
                      <a:r>
                        <a:rPr sz="900" b="0" i="0">
                          <a:solidFill>
                            <a:srgbClr val="262626"/>
                          </a:solidFill>
                          <a:latin typeface="맑은 고딕"/>
                          <a:ea typeface="맑은 고딕"/>
                        </a:rPr>
                        <a:t>뺀 것</a:t>
                      </a:r>
                    </a:p>
                  </a:txBody>
                  <a:tcPr marL="45720" marR="45720" marT="13716" marB="13716" anchor="ctr">
                    <a:solidFill>
                      <a:srgbClr val="FFFFFF"/>
                    </a:solidFill>
                  </a:tcPr>
                </a:tc>
                <a:tc>
                  <a:txBody>
                    <a:bodyPr wrap="square"/>
                    <a:lstStyle/>
                    <a:p>
                      <a:pPr algn="ctr"/>
                      <a:r>
                        <a:rPr sz="900" b="0" i="0">
                          <a:solidFill>
                            <a:srgbClr val="262626"/>
                          </a:solidFill>
                          <a:latin typeface="맑은 고딕"/>
                          <a:ea typeface="맑은 고딕"/>
                        </a:rPr>
                        <a:t>세 번째 파일럿의 벌점 항 두 개. 효과가 없었고 주행 점수를 깎았기 때문입니다.</a:t>
                      </a:r>
                    </a:p>
                  </a:txBody>
                  <a:tcPr marL="45720" marR="45720" marT="13716" marB="13716" anchor="ctr">
                    <a:solidFill>
                      <a:srgbClr val="FFFFFF"/>
                    </a:solidFill>
                  </a:tcPr>
                </a:tc>
              </a:tr>
              <a:tr h="320040">
                <a:tc>
                  <a:txBody>
                    <a:bodyPr wrap="square"/>
                    <a:lstStyle/>
                    <a:p>
                      <a:pPr algn="l"/>
                      <a:r>
                        <a:rPr sz="900" b="0" i="0">
                          <a:solidFill>
                            <a:srgbClr val="262626"/>
                          </a:solidFill>
                          <a:latin typeface="맑은 고딕"/>
                          <a:ea typeface="맑은 고딕"/>
                        </a:rPr>
                        <a:t>나머지</a:t>
                      </a:r>
                    </a:p>
                  </a:txBody>
                  <a:tcPr marL="45720" marR="45720" marT="13716" marB="13716" anchor="ctr">
                    <a:solidFill>
                      <a:srgbClr val="EEF3FA"/>
                    </a:solidFill>
                  </a:tcPr>
                </a:tc>
                <a:tc>
                  <a:txBody>
                    <a:bodyPr wrap="square"/>
                    <a:lstStyle/>
                    <a:p>
                      <a:pPr algn="ctr"/>
                      <a:r>
                        <a:rPr sz="900" b="0" i="0">
                          <a:solidFill>
                            <a:srgbClr val="262626"/>
                          </a:solidFill>
                          <a:latin typeface="맑은 고딕"/>
                          <a:ea typeface="맑은 고딕"/>
                        </a:rPr>
                        <a:t>넘어질 때 벌점 200, 학습률 1e-4, 인계 시작 50퍼센트, 2천8백만 스텝</a:t>
                      </a:r>
                    </a:p>
                  </a:txBody>
                  <a:tcPr marL="45720" marR="45720" marT="13716" marB="13716" anchor="ctr">
                    <a:solidFill>
                      <a:srgbClr val="EEF3FA"/>
                    </a:solidFill>
                  </a:tcPr>
                </a:tc>
              </a:tr>
            </a:tbl>
          </a:graphicData>
        </a:graphic>
      </p:graphicFrame>
      <p:graphicFrame>
        <p:nvGraphicFramePr>
          <p:cNvPr id="4" name="Table 3"/>
          <p:cNvGraphicFramePr>
            <a:graphicFrameLocks noGrp="1"/>
          </p:cNvGraphicFramePr>
          <p:nvPr/>
        </p:nvGraphicFramePr>
        <p:xfrm>
          <a:off x="502920" y="2926080"/>
          <a:ext cx="8138160" cy="1371600"/>
        </p:xfrm>
        <a:graphic>
          <a:graphicData uri="http://schemas.openxmlformats.org/drawingml/2006/table">
            <a:tbl>
              <a:tblPr firstRow="1" bandRow="0">
                <a:tableStyleId>{5940675A-B579-460E-94D1-54222C63F5DA}</a:tableStyleId>
              </a:tblPr>
              <a:tblGrid>
                <a:gridCol w="1005840"/>
                <a:gridCol w="2011680"/>
                <a:gridCol w="3017520"/>
                <a:gridCol w="2103120"/>
              </a:tblGrid>
              <a:tr h="342900">
                <a:tc>
                  <a:txBody>
                    <a:bodyPr wrap="square"/>
                    <a:lstStyle/>
                    <a:p>
                      <a:pPr algn="l"/>
                      <a:r>
                        <a:rPr sz="900" b="1" i="0">
                          <a:solidFill>
                            <a:srgbClr val="FFFFFF"/>
                          </a:solidFill>
                          <a:latin typeface="맑은 고딕"/>
                          <a:ea typeface="맑은 고딕"/>
                        </a:rPr>
                        <a:t>전문가</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걷는 속도 (기준 → 네 번째 뒤)</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새 규칙으로 잰 실패: 원본 → 네 번째 (final) → (best)</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지금 규칙으로 잰 실패: 기준 → 네 번째</a:t>
                      </a:r>
                    </a:p>
                  </a:txBody>
                  <a:tcPr marL="45720" marR="45720" marT="13716" marB="13716" anchor="ctr">
                    <a:solidFill>
                      <a:srgbClr val="203864"/>
                    </a:solidFill>
                  </a:tcPr>
                </a:tc>
              </a:tr>
              <a:tr h="342900">
                <a:tc>
                  <a:txBody>
                    <a:bodyPr wrap="square"/>
                    <a:lstStyle/>
                    <a:p>
                      <a:pPr algn="l"/>
                      <a:r>
                        <a:rPr sz="850" b="0" i="0">
                          <a:solidFill>
                            <a:srgbClr val="262626"/>
                          </a:solidFill>
                          <a:latin typeface="맑은 고딕"/>
                          <a:ea typeface="맑은 고딕"/>
                        </a:rPr>
                        <a:t>diag_fr</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0.455 → 0.472</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0.261 → 0.272 → 0.317</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0.311 → 0.306</a:t>
                      </a:r>
                    </a:p>
                  </a:txBody>
                  <a:tcPr marL="45720" marR="45720" marT="13716" marB="13716" anchor="ctr">
                    <a:solidFill>
                      <a:srgbClr val="FFFFFF"/>
                    </a:solidFill>
                  </a:tcPr>
                </a:tc>
              </a:tr>
              <a:tr h="342900">
                <a:tc>
                  <a:txBody>
                    <a:bodyPr wrap="square"/>
                    <a:lstStyle/>
                    <a:p>
                      <a:pPr algn="l"/>
                      <a:r>
                        <a:rPr sz="850" b="0" i="0">
                          <a:solidFill>
                            <a:srgbClr val="262626"/>
                          </a:solidFill>
                          <a:latin typeface="맑은 고딕"/>
                          <a:ea typeface="맑은 고딕"/>
                        </a:rPr>
                        <a:t>diag_bl</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0.492 → 0.492</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0.161 → 0.122 → 0.172</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0.328 → 0.361</a:t>
                      </a:r>
                    </a:p>
                  </a:txBody>
                  <a:tcPr marL="45720" marR="45720" marT="13716" marB="13716" anchor="ctr">
                    <a:solidFill>
                      <a:srgbClr val="EEF3FA"/>
                    </a:solidFill>
                  </a:tcPr>
                </a:tc>
              </a:tr>
              <a:tr h="342900">
                <a:tc>
                  <a:txBody>
                    <a:bodyPr wrap="square"/>
                    <a:lstStyle/>
                    <a:p>
                      <a:pPr algn="l"/>
                      <a:r>
                        <a:rPr sz="850" b="0" i="0">
                          <a:solidFill>
                            <a:srgbClr val="262626"/>
                          </a:solidFill>
                          <a:latin typeface="맑은 고딕"/>
                          <a:ea typeface="맑은 고딕"/>
                        </a:rPr>
                        <a:t>forward</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0.617 → 0.623</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0.144 → 0.133 → 0.094</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0.167 → 0.200</a:t>
                      </a:r>
                    </a:p>
                  </a:txBody>
                  <a:tcPr marL="45720" marR="45720" marT="13716" marB="13716" anchor="ctr">
                    <a:solidFill>
                      <a:srgbClr val="FFFFFF"/>
                    </a:solidFill>
                  </a:tcPr>
                </a:tc>
              </a:tr>
            </a:tbl>
          </a:graphicData>
        </a:graphic>
      </p:graphicFrame>
      <p:sp>
        <p:nvSpPr>
          <p:cNvPr id="5" name="Rounded Rectangle 4"/>
          <p:cNvSpPr/>
          <p:nvPr/>
        </p:nvSpPr>
        <p:spPr>
          <a:xfrm>
            <a:off x="502920" y="4434840"/>
            <a:ext cx="8138159" cy="18288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4988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무엇을 알게 됐나</a:t>
            </a:r>
          </a:p>
        </p:txBody>
      </p:sp>
      <p:sp>
        <p:nvSpPr>
          <p:cNvPr id="7" name="TextBox 6"/>
          <p:cNvSpPr txBox="1"/>
          <p:nvPr/>
        </p:nvSpPr>
        <p:spPr>
          <a:xfrm>
            <a:off x="612648" y="4764024"/>
            <a:ext cx="7918703" cy="14630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멈춘 자세 주행은 완전히 유지됐습니다. 벌점 항을 뺀 덕에 점수 하락이 없었고 오히려 조금 올랐습니다.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새 규칙으로 잰 실패는 diag_bl이 0.161에서 0.122로 4분의 1 줄었고, forward는 조금 줄었으며, diag_fr는 그대로였습니다. 목표에는 셋 다 못 미쳤습니다.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남은 실패가 어디 있는지는 분명해졌습니다. diag_bl은 선형 출발 다섯 개에서 실패가 0이 됐고, 남은 것은 역재생 출발과 회전 출발입니다. forward도 남은 것은 거의 회전 출발입니다.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이어 학습 ⑩ 네 번의 파일럿 종합</a:t>
            </a:r>
          </a:p>
        </p:txBody>
      </p:sp>
      <p:graphicFrame>
        <p:nvGraphicFramePr>
          <p:cNvPr id="3" name="Table 2"/>
          <p:cNvGraphicFramePr>
            <a:graphicFrameLocks noGrp="1"/>
          </p:cNvGraphicFramePr>
          <p:nvPr/>
        </p:nvGraphicFramePr>
        <p:xfrm>
          <a:off x="502920" y="1188720"/>
          <a:ext cx="8138159" cy="2514596"/>
        </p:xfrm>
        <a:graphic>
          <a:graphicData uri="http://schemas.openxmlformats.org/drawingml/2006/table">
            <a:tbl>
              <a:tblPr firstRow="1" bandRow="0">
                <a:tableStyleId>{5940675A-B579-460E-94D1-54222C63F5DA}</a:tableStyleId>
              </a:tblPr>
              <a:tblGrid>
                <a:gridCol w="1234440"/>
                <a:gridCol w="1874519"/>
                <a:gridCol w="777240"/>
                <a:gridCol w="777240"/>
                <a:gridCol w="777240"/>
                <a:gridCol w="868680"/>
                <a:gridCol w="1828800"/>
              </a:tblGrid>
              <a:tr h="359228">
                <a:tc>
                  <a:txBody>
                    <a:bodyPr wrap="square"/>
                    <a:lstStyle/>
                    <a:p>
                      <a:pPr algn="l"/>
                      <a:r>
                        <a:rPr sz="900" b="1" i="0">
                          <a:solidFill>
                            <a:srgbClr val="FFFFFF"/>
                          </a:solidFill>
                          <a:latin typeface="맑은 고딕"/>
                          <a:ea typeface="맑은 고딕"/>
                        </a:rPr>
                        <a:t>파일럿</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바꾼 것</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diag_fr</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diag_bl</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forward</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주행</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한 줄 판정</a:t>
                      </a:r>
                    </a:p>
                  </a:txBody>
                  <a:tcPr marL="45720" marR="45720" marT="13716" marB="13716" anchor="ctr">
                    <a:solidFill>
                      <a:srgbClr val="203864"/>
                    </a:solidFill>
                  </a:tcPr>
                </a:tc>
              </a:tr>
              <a:tr h="359228">
                <a:tc>
                  <a:txBody>
                    <a:bodyPr wrap="square"/>
                    <a:lstStyle/>
                    <a:p>
                      <a:pPr algn="l"/>
                      <a:r>
                        <a:rPr sz="850" b="0" i="0">
                          <a:solidFill>
                            <a:srgbClr val="262626"/>
                          </a:solidFill>
                          <a:latin typeface="맑은 고딕"/>
                          <a:ea typeface="맑은 고딕"/>
                        </a:rPr>
                        <a:t>기준 (원본)</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지금 규칙으로 평가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0.311</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0.328</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0.167</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기준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출발선입니다.</a:t>
                      </a:r>
                    </a:p>
                  </a:txBody>
                  <a:tcPr marL="45720" marR="45720" marT="13716" marB="13716" anchor="ctr">
                    <a:solidFill>
                      <a:srgbClr val="FFFFFF"/>
                    </a:solidFill>
                  </a:tcPr>
                </a:tc>
              </a:tr>
              <a:tr h="359228">
                <a:tc>
                  <a:txBody>
                    <a:bodyPr wrap="square"/>
                    <a:lstStyle/>
                    <a:p>
                      <a:pPr algn="l"/>
                      <a:r>
                        <a:rPr sz="850" b="0" i="0">
                          <a:solidFill>
                            <a:srgbClr val="262626"/>
                          </a:solidFill>
                          <a:latin typeface="맑은 고딕"/>
                          <a:ea typeface="맑은 고딕"/>
                        </a:rPr>
                        <a:t>첫 번째</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인계 시작 절반 섞기</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0.361</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0.328</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0.144</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유지</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주행은 지켰지만 실패는 그대로였습니다.</a:t>
                      </a:r>
                    </a:p>
                  </a:txBody>
                  <a:tcPr marL="45720" marR="45720" marT="13716" marB="13716" anchor="ctr">
                    <a:solidFill>
                      <a:srgbClr val="EEF3FA"/>
                    </a:solidFill>
                  </a:tcPr>
                </a:tc>
              </a:tr>
              <a:tr h="359228">
                <a:tc>
                  <a:txBody>
                    <a:bodyPr wrap="square"/>
                    <a:lstStyle/>
                    <a:p>
                      <a:pPr algn="l"/>
                      <a:r>
                        <a:rPr sz="850" b="0" i="0">
                          <a:solidFill>
                            <a:srgbClr val="262626"/>
                          </a:solidFill>
                          <a:latin typeface="맑은 고딕"/>
                          <a:ea typeface="맑은 고딕"/>
                        </a:rPr>
                        <a:t>두 번째</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벌점 200, 학습률 낮춤</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0.361</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0.289</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0.178</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유지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벌점을 올려도 같았습니다.</a:t>
                      </a:r>
                    </a:p>
                  </a:txBody>
                  <a:tcPr marL="45720" marR="45720" marT="13716" marB="13716" anchor="ctr">
                    <a:solidFill>
                      <a:srgbClr val="FFFFFF"/>
                    </a:solidFill>
                  </a:tcPr>
                </a:tc>
              </a:tr>
              <a:tr h="359228">
                <a:tc>
                  <a:txBody>
                    <a:bodyPr wrap="square"/>
                    <a:lstStyle/>
                    <a:p>
                      <a:pPr algn="l"/>
                      <a:r>
                        <a:rPr sz="850" b="0" i="0">
                          <a:solidFill>
                            <a:srgbClr val="262626"/>
                          </a:solidFill>
                          <a:latin typeface="맑은 고딕"/>
                          <a:ea typeface="맑은 고딕"/>
                        </a:rPr>
                        <a:t>세 번째</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기울기 벌점 두 항, 원본 시작</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0.322</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0.350</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0.117</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2~4% 하락</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벌점을 피하는 행동을 못 찾았습니다.</a:t>
                      </a:r>
                    </a:p>
                  </a:txBody>
                  <a:tcPr marL="45720" marR="45720" marT="13716" marB="13716" anchor="ctr">
                    <a:solidFill>
                      <a:srgbClr val="EEF3FA"/>
                    </a:solidFill>
                  </a:tcPr>
                </a:tc>
              </a:tr>
              <a:tr h="359228">
                <a:tc>
                  <a:txBody>
                    <a:bodyPr wrap="square"/>
                    <a:lstStyle/>
                    <a:p>
                      <a:pPr algn="l"/>
                      <a:r>
                        <a:rPr sz="850" b="0" i="0">
                          <a:solidFill>
                            <a:srgbClr val="262626"/>
                          </a:solidFill>
                          <a:latin typeface="맑은 고딕"/>
                          <a:ea typeface="맑은 고딕"/>
                        </a:rPr>
                        <a:t>규칙만 (학습 없음)</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시작 위상 가로 먼저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0.261</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0.161</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0.144</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그대로</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학습 없이 가장 크게 줄었습니다.</a:t>
                      </a:r>
                    </a:p>
                  </a:txBody>
                  <a:tcPr marL="45720" marR="45720" marT="13716" marB="13716" anchor="ctr">
                    <a:solidFill>
                      <a:srgbClr val="FFFFFF"/>
                    </a:solidFill>
                  </a:tcPr>
                </a:tc>
              </a:tr>
              <a:tr h="359228">
                <a:tc>
                  <a:txBody>
                    <a:bodyPr wrap="square"/>
                    <a:lstStyle/>
                    <a:p>
                      <a:pPr algn="l"/>
                      <a:r>
                        <a:rPr sz="850" b="0" i="0">
                          <a:solidFill>
                            <a:srgbClr val="262626"/>
                          </a:solidFill>
                          <a:latin typeface="맑은 고딕"/>
                          <a:ea typeface="맑은 고딕"/>
                        </a:rPr>
                        <a:t>네 번째</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규칙 + 원본 시작 학습</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0.272</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0.122</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0.133</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유지</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diag_bl과 forward만 조금 더 줄었습니다.</a:t>
                      </a:r>
                    </a:p>
                  </a:txBody>
                  <a:tcPr marL="45720" marR="45720" marT="13716" marB="13716" anchor="ctr">
                    <a:solidFill>
                      <a:srgbClr val="EEF3FA"/>
                    </a:solidFill>
                  </a:tcPr>
                </a:tc>
              </a:tr>
            </a:tbl>
          </a:graphicData>
        </a:graphic>
      </p:graphicFrame>
      <p:sp>
        <p:nvSpPr>
          <p:cNvPr id="4" name="TextBox 3"/>
          <p:cNvSpPr txBox="1"/>
          <p:nvPr/>
        </p:nvSpPr>
        <p:spPr>
          <a:xfrm>
            <a:off x="502920" y="3749039"/>
            <a:ext cx="8138159" cy="41148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위 네 줄은 지금 규칙(부호 정렬)으로 잰 값이고, 아래 두 줄은 새 규칙(가로 먼저)으로 잰 값입니다. 같은 은행 상태 스무 개씩, 출발 아홉 개입니다.</a:t>
            </a:r>
          </a:p>
        </p:txBody>
      </p:sp>
      <p:sp>
        <p:nvSpPr>
          <p:cNvPr id="5" name="Rounded Rectangle 4"/>
          <p:cNvSpPr/>
          <p:nvPr/>
        </p:nvSpPr>
        <p:spPr>
          <a:xfrm>
            <a:off x="502920" y="4206240"/>
            <a:ext cx="8138159" cy="20574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2702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얻은 것 세 가지</a:t>
            </a:r>
          </a:p>
        </p:txBody>
      </p:sp>
      <p:sp>
        <p:nvSpPr>
          <p:cNvPr id="7" name="TextBox 6"/>
          <p:cNvSpPr txBox="1"/>
          <p:nvPr/>
        </p:nvSpPr>
        <p:spPr>
          <a:xfrm>
            <a:off x="612648" y="4535424"/>
            <a:ext cx="7918703" cy="16916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900" b="0" i="0">
                <a:solidFill>
                  <a:srgbClr val="262626"/>
                </a:solidFill>
                <a:latin typeface="맑은 고딕"/>
                <a:ea typeface="맑은 고딕"/>
              </a:rPr>
              <a:t>학습을 네 번 바꿔서 얻은 것보다, 시작 위상 규칙 하나를 바꿔서 얻은 것이 훨씬 큽니다. 규칙은 어떤 모델에도 그대로 붙습니다.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지금까지의 실패 원인은 정책의 실력이 아니라, 정책이 구할 수 없는 출발 상태를 우리가 만들어 주고 있었던 것입니다.</a:t>
            </a:r>
          </a:p>
          <a:p>
            <a:pPr algn="l" marL="146304" indent="-146304">
              <a:lnSpc>
                <a:spcPct val="106000"/>
              </a:lnSpc>
              <a:spcAft>
                <a:spcPts val="300"/>
              </a:spcAft>
              <a:buClr>
                <a:srgbClr val="2E75B6"/>
              </a:buClr>
              <a:buChar char="▪"/>
            </a:pPr>
            <a:r>
              <a:rPr sz="900" b="0" i="0">
                <a:solidFill>
                  <a:srgbClr val="262626"/>
                </a:solidFill>
                <a:latin typeface="맑은 고딕"/>
                <a:ea typeface="맑은 고딕"/>
              </a:rPr>
              <a:t>그래서 전문가 이어 학습은 여기서 멈춥니다. 남은 실패는 회전 출발과 diag_fr의 forward, left 출발에 몰려 있어서, 그쪽은 따로 다룹니다.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경로 추종 재실험 ① 결과</a:t>
            </a:r>
          </a:p>
        </p:txBody>
      </p:sp>
      <p:sp>
        <p:nvSpPr>
          <p:cNvPr id="3" name="TextBox 2"/>
          <p:cNvSpPr txBox="1"/>
          <p:nvPr/>
        </p:nvSpPr>
        <p:spPr>
          <a:xfrm>
            <a:off x="502920" y="1188720"/>
            <a:ext cx="8138159" cy="68580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어제 비교의 결함 세 곳을 고치고 다시 했습니다. 시드로 정한 난수로 시작 관절 각도에 0.03라디안 안팎의 잡음을 주고 경로를 8도 안팎으로 돌려서, 같은 시드면 모든 조합이 같은 조건을 받게 했습니다. 조합 여섯 개, 경로 세 개, 반복 열 번, 모두 180번입니다. 영상은 따로 세 번 찍었습니다.</a:t>
            </a:r>
          </a:p>
        </p:txBody>
      </p:sp>
      <p:graphicFrame>
        <p:nvGraphicFramePr>
          <p:cNvPr id="4" name="Table 3"/>
          <p:cNvGraphicFramePr>
            <a:graphicFrameLocks noGrp="1"/>
          </p:cNvGraphicFramePr>
          <p:nvPr/>
        </p:nvGraphicFramePr>
        <p:xfrm>
          <a:off x="502920" y="1920240"/>
          <a:ext cx="8138160" cy="2011674"/>
        </p:xfrm>
        <a:graphic>
          <a:graphicData uri="http://schemas.openxmlformats.org/drawingml/2006/table">
            <a:tbl>
              <a:tblPr firstRow="1" bandRow="0">
                <a:tableStyleId>{5940675A-B579-460E-94D1-54222C63F5DA}</a:tableStyleId>
              </a:tblPr>
              <a:tblGrid>
                <a:gridCol w="2834640"/>
                <a:gridCol w="1783080"/>
                <a:gridCol w="1783080"/>
                <a:gridCol w="1737360"/>
              </a:tblGrid>
              <a:tr h="287382">
                <a:tc>
                  <a:txBody>
                    <a:bodyPr wrap="square"/>
                    <a:lstStyle/>
                    <a:p>
                      <a:pPr algn="l"/>
                      <a:r>
                        <a:rPr sz="900" b="1" i="0">
                          <a:solidFill>
                            <a:srgbClr val="FFFFFF"/>
                          </a:solidFill>
                          <a:latin typeface="맑은 고딕"/>
                          <a:ea typeface="맑은 고딕"/>
                        </a:rPr>
                        <a:t>조합</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네모</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별</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장애물</a:t>
                      </a:r>
                    </a:p>
                  </a:txBody>
                  <a:tcPr marL="45720" marR="45720" marT="13716" marB="13716" anchor="ctr">
                    <a:solidFill>
                      <a:srgbClr val="203864"/>
                    </a:solidFill>
                  </a:tcPr>
                </a:tc>
              </a:tr>
              <a:tr h="287382">
                <a:tc>
                  <a:txBody>
                    <a:bodyPr wrap="square"/>
                    <a:lstStyle/>
                    <a:p>
                      <a:pPr algn="l"/>
                      <a:r>
                        <a:rPr sz="850" b="0" i="0">
                          <a:solidFill>
                            <a:srgbClr val="262626"/>
                          </a:solidFill>
                          <a:latin typeface="맑은 고딕"/>
                          <a:ea typeface="맑은 고딕"/>
                        </a:rPr>
                        <a:t>원본 전문가, 지금 규칙</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0.40±0.18 m, 61초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0.52±0.21 m, 116초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9/10, 오차 0.56±0.18 m, 144초</a:t>
                      </a:r>
                    </a:p>
                  </a:txBody>
                  <a:tcPr marL="45720" marR="45720" marT="13716" marB="13716" anchor="ctr">
                    <a:solidFill>
                      <a:srgbClr val="FFFFFF"/>
                    </a:solidFill>
                  </a:tcPr>
                </a:tc>
              </a:tr>
              <a:tr h="287382">
                <a:tc>
                  <a:txBody>
                    <a:bodyPr wrap="square"/>
                    <a:lstStyle/>
                    <a:p>
                      <a:pPr algn="l"/>
                      <a:r>
                        <a:rPr sz="850" b="0" i="0">
                          <a:solidFill>
                            <a:srgbClr val="262626"/>
                          </a:solidFill>
                          <a:latin typeface="맑은 고딕"/>
                          <a:ea typeface="맑은 고딕"/>
                        </a:rPr>
                        <a:t>원본 전문가, 새 규칙을 위험한 세 쌍에만</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0.39±0.17 m, 63초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0.54±0.14 m, 129초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0.52±0.16 m, 138초</a:t>
                      </a:r>
                    </a:p>
                  </a:txBody>
                  <a:tcPr marL="45720" marR="45720" marT="13716" marB="13716" anchor="ctr">
                    <a:solidFill>
                      <a:srgbClr val="EEF3FA"/>
                    </a:solidFill>
                  </a:tcPr>
                </a:tc>
              </a:tr>
              <a:tr h="287382">
                <a:tc>
                  <a:txBody>
                    <a:bodyPr wrap="square"/>
                    <a:lstStyle/>
                    <a:p>
                      <a:pPr algn="l"/>
                      <a:r>
                        <a:rPr sz="850" b="0" i="0">
                          <a:solidFill>
                            <a:srgbClr val="262626"/>
                          </a:solidFill>
                          <a:latin typeface="맑은 고딕"/>
                          <a:ea typeface="맑은 고딕"/>
                        </a:rPr>
                        <a:t>원본 전문가, 새 규칙을 모든 전환에</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0.59±0.29 m, 66초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0.44±0.13 m, 77초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0.37±0.11 m, 86초</a:t>
                      </a:r>
                    </a:p>
                  </a:txBody>
                  <a:tcPr marL="45720" marR="45720" marT="13716" marB="13716" anchor="ctr">
                    <a:solidFill>
                      <a:srgbClr val="FFFFFF"/>
                    </a:solidFill>
                  </a:tcPr>
                </a:tc>
              </a:tr>
              <a:tr h="287382">
                <a:tc>
                  <a:txBody>
                    <a:bodyPr wrap="square"/>
                    <a:lstStyle/>
                    <a:p>
                      <a:pPr algn="l"/>
                      <a:r>
                        <a:rPr sz="850" b="0" i="0">
                          <a:solidFill>
                            <a:srgbClr val="262626"/>
                          </a:solidFill>
                          <a:latin typeface="맑은 고딕"/>
                          <a:ea typeface="맑은 고딕"/>
                        </a:rPr>
                        <a:t>네 번째 파일럿 전문가, 새 규칙을 모든 전환에</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0.55±0.37 m, 47초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0.41±0.12 m, 93초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0.44±0.16 m, 93초</a:t>
                      </a:r>
                    </a:p>
                  </a:txBody>
                  <a:tcPr marL="45720" marR="45720" marT="13716" marB="13716" anchor="ctr">
                    <a:solidFill>
                      <a:srgbClr val="EEF3FA"/>
                    </a:solidFill>
                  </a:tcPr>
                </a:tc>
              </a:tr>
              <a:tr h="287382">
                <a:tc>
                  <a:txBody>
                    <a:bodyPr wrap="square"/>
                    <a:lstStyle/>
                    <a:p>
                      <a:pPr algn="l"/>
                      <a:r>
                        <a:rPr sz="850" b="0" i="0">
                          <a:solidFill>
                            <a:srgbClr val="262626"/>
                          </a:solidFill>
                          <a:latin typeface="맑은 고딕"/>
                          <a:ea typeface="맑은 고딕"/>
                        </a:rPr>
                        <a:t>합친 정책, 지금 규칙</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0.42±0.11 m, 47초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0.38±0.06 m, 101초</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완주 10/10, 오차 0.34±0.11 m, 78초</a:t>
                      </a:r>
                    </a:p>
                  </a:txBody>
                  <a:tcPr marL="45720" marR="45720" marT="13716" marB="13716" anchor="ctr">
                    <a:solidFill>
                      <a:srgbClr val="FFFFFF"/>
                    </a:solidFill>
                  </a:tcPr>
                </a:tc>
              </a:tr>
              <a:tr h="287382">
                <a:tc>
                  <a:txBody>
                    <a:bodyPr wrap="square"/>
                    <a:lstStyle/>
                    <a:p>
                      <a:pPr algn="l"/>
                      <a:r>
                        <a:rPr sz="850" b="0" i="0">
                          <a:solidFill>
                            <a:srgbClr val="262626"/>
                          </a:solidFill>
                          <a:latin typeface="맑은 고딕"/>
                          <a:ea typeface="맑은 고딕"/>
                        </a:rPr>
                        <a:t>합친 정책, 새 규칙</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0.29±0.09 m, 31초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0.32±0.11 m, 71초</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완주 10/10, 오차 0.30±0.10 m, 65초</a:t>
                      </a:r>
                    </a:p>
                  </a:txBody>
                  <a:tcPr marL="45720" marR="45720" marT="13716" marB="13716" anchor="ctr">
                    <a:solidFill>
                      <a:srgbClr val="EEF3FA"/>
                    </a:solidFill>
                  </a:tcPr>
                </a:tc>
              </a:tr>
            </a:tbl>
          </a:graphicData>
        </a:graphic>
      </p:graphicFrame>
      <p:sp>
        <p:nvSpPr>
          <p:cNvPr id="5" name="Rounded Rectangle 4"/>
          <p:cNvSpPr/>
          <p:nvPr/>
        </p:nvSpPr>
        <p:spPr>
          <a:xfrm>
            <a:off x="612648" y="4087368"/>
            <a:ext cx="2432304" cy="139217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ath_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4114800"/>
            <a:ext cx="2377440" cy="1337310"/>
          </a:xfrm>
          <a:prstGeom prst="rect">
            <a:avLst/>
          </a:prstGeom>
        </p:spPr>
      </p:pic>
      <p:sp>
        <p:nvSpPr>
          <p:cNvPr id="7" name="TextBox 6"/>
          <p:cNvSpPr txBox="1"/>
          <p:nvPr/>
        </p:nvSpPr>
        <p:spPr>
          <a:xfrm>
            <a:off x="640080" y="5497830"/>
            <a:ext cx="23774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장애물, 원본 전문가, 지금 규칙 (시드 1)</a:t>
            </a:r>
          </a:p>
        </p:txBody>
      </p:sp>
      <p:sp>
        <p:nvSpPr>
          <p:cNvPr id="8" name="Rounded Rectangle 7"/>
          <p:cNvSpPr/>
          <p:nvPr/>
        </p:nvSpPr>
        <p:spPr>
          <a:xfrm>
            <a:off x="3355848" y="4087368"/>
            <a:ext cx="2432304" cy="139217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ath_demo.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3383280" y="4114800"/>
            <a:ext cx="2377440" cy="1337310"/>
          </a:xfrm>
          <a:prstGeom prst="rect">
            <a:avLst/>
          </a:prstGeom>
        </p:spPr>
      </p:pic>
      <p:sp>
        <p:nvSpPr>
          <p:cNvPr id="10" name="TextBox 9"/>
          <p:cNvSpPr txBox="1"/>
          <p:nvPr/>
        </p:nvSpPr>
        <p:spPr>
          <a:xfrm>
            <a:off x="3383280" y="5497830"/>
            <a:ext cx="23774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장애물, 원본 전문가, 새 규칙 전부 (시드 1)</a:t>
            </a:r>
          </a:p>
        </p:txBody>
      </p:sp>
      <p:sp>
        <p:nvSpPr>
          <p:cNvPr id="11" name="Rounded Rectangle 10"/>
          <p:cNvSpPr/>
          <p:nvPr/>
        </p:nvSpPr>
        <p:spPr>
          <a:xfrm>
            <a:off x="6099048" y="4087368"/>
            <a:ext cx="2432304" cy="1392174"/>
          </a:xfrm>
          <a:prstGeom prst="roundRect">
            <a:avLst>
              <a:gd name="adj" fmla="val 2000"/>
            </a:avLst>
          </a:prstGeom>
          <a:solidFill>
            <a:srgbClr val="D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ath_demo.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10"/>
          <a:stretch>
            <a:fillRect/>
          </a:stretch>
        </p:blipFill>
        <p:spPr>
          <a:xfrm>
            <a:off x="6126480" y="4114800"/>
            <a:ext cx="2377440" cy="1337310"/>
          </a:xfrm>
          <a:prstGeom prst="rect">
            <a:avLst/>
          </a:prstGeom>
        </p:spPr>
      </p:pic>
      <p:sp>
        <p:nvSpPr>
          <p:cNvPr id="13" name="TextBox 12"/>
          <p:cNvSpPr txBox="1"/>
          <p:nvPr/>
        </p:nvSpPr>
        <p:spPr>
          <a:xfrm>
            <a:off x="6126480" y="5497830"/>
            <a:ext cx="2377440"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 장애물, 합친 정책, 새 규칙 (시드 1)</a:t>
            </a:r>
          </a:p>
        </p:txBody>
      </p:sp>
      <p:sp>
        <p:nvSpPr>
          <p:cNvPr id="14" name="TextBox 13"/>
          <p:cNvSpPr txBox="1"/>
          <p:nvPr/>
        </p:nvSpPr>
        <p:spPr>
          <a:xfrm>
            <a:off x="502920" y="5897880"/>
            <a:ext cx="8138159" cy="36576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오차는 매 스텝 경로까지의 거리를 평균한 값이고, 완주는 웨이포인트를 모두 지난 횟수입니다. 시간이 길어지면 전환도 오차도 같이 늘기 때문에 세 값은 한 현상의 세 얼굴입니다.</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video>
              <p:cMediaNode vol="80000">
                <p:cTn id="3" fill="hold" display="0">
                  <p:stCondLst>
                    <p:cond delay="indefinite"/>
                  </p:stCondLst>
                </p:cTn>
                <p:tgtEl>
                  <p:spTgt spid="9"/>
                </p:tgtEl>
              </p:cMediaNode>
            </p:video>
            <p:video>
              <p:cMediaNode vol="80000">
                <p:cTn id="4" fill="hold" display="0">
                  <p:stCondLst>
                    <p:cond delay="indefinite"/>
                  </p:stCondLst>
                </p:cTn>
                <p:tgtEl>
                  <p:spTgt spid="12"/>
                </p:tgtEl>
              </p:cMediaNode>
            </p:video>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경로 추종 재실험 ② 짝지은 비교</a:t>
            </a:r>
          </a:p>
        </p:txBody>
      </p:sp>
      <p:graphicFrame>
        <p:nvGraphicFramePr>
          <p:cNvPr id="3" name="Table 2"/>
          <p:cNvGraphicFramePr>
            <a:graphicFrameLocks noGrp="1"/>
          </p:cNvGraphicFramePr>
          <p:nvPr/>
        </p:nvGraphicFramePr>
        <p:xfrm>
          <a:off x="502920" y="1188720"/>
          <a:ext cx="8138160" cy="2103115"/>
        </p:xfrm>
        <a:graphic>
          <a:graphicData uri="http://schemas.openxmlformats.org/drawingml/2006/table">
            <a:tbl>
              <a:tblPr firstRow="1" bandRow="0">
                <a:tableStyleId>{5940675A-B579-460E-94D1-54222C63F5DA}</a:tableStyleId>
              </a:tblPr>
              <a:tblGrid>
                <a:gridCol w="3200400"/>
                <a:gridCol w="1645920"/>
                <a:gridCol w="1645920"/>
                <a:gridCol w="1645920"/>
              </a:tblGrid>
              <a:tr h="300445">
                <a:tc>
                  <a:txBody>
                    <a:bodyPr wrap="square"/>
                    <a:lstStyle/>
                    <a:p>
                      <a:pPr algn="l"/>
                      <a:r>
                        <a:rPr sz="900" b="1" i="0">
                          <a:solidFill>
                            <a:srgbClr val="FFFFFF"/>
                          </a:solidFill>
                          <a:latin typeface="맑은 고딕"/>
                          <a:ea typeface="맑은 고딕"/>
                        </a:rPr>
                        <a:t>비교 (앞 조합이 이긴 횟수 / 비김 / 진 횟수, 오차 차이, p)</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네모</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별</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장애물</a:t>
                      </a:r>
                    </a:p>
                  </a:txBody>
                  <a:tcPr marL="45720" marR="45720" marT="13716" marB="13716" anchor="ctr">
                    <a:solidFill>
                      <a:srgbClr val="203864"/>
                    </a:solidFill>
                  </a:tcPr>
                </a:tc>
              </a:tr>
              <a:tr h="300445">
                <a:tc>
                  <a:txBody>
                    <a:bodyPr wrap="square"/>
                    <a:lstStyle/>
                    <a:p>
                      <a:pPr algn="l"/>
                      <a:r>
                        <a:rPr sz="850" b="0" i="0">
                          <a:solidFill>
                            <a:srgbClr val="262626"/>
                          </a:solidFill>
                          <a:latin typeface="맑은 고딕"/>
                          <a:ea typeface="맑은 고딕"/>
                        </a:rPr>
                        <a:t>새 규칙 전부 vs 지금 규칙 (원본 전문가)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3/0/7, +0.19 m, p=0.34</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5/0/5, -0.08 m, p=1.00</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9/0/1, -0.19 m, p=0.02</a:t>
                      </a:r>
                    </a:p>
                  </a:txBody>
                  <a:tcPr marL="45720" marR="45720" marT="13716" marB="13716" anchor="ctr">
                    <a:solidFill>
                      <a:srgbClr val="FFFFFF"/>
                    </a:solidFill>
                  </a:tcPr>
                </a:tc>
              </a:tr>
              <a:tr h="300445">
                <a:tc>
                  <a:txBody>
                    <a:bodyPr wrap="square"/>
                    <a:lstStyle/>
                    <a:p>
                      <a:pPr algn="l"/>
                      <a:r>
                        <a:rPr sz="850" b="0" i="0">
                          <a:solidFill>
                            <a:srgbClr val="262626"/>
                          </a:solidFill>
                          <a:latin typeface="맑은 고딕"/>
                          <a:ea typeface="맑은 고딕"/>
                        </a:rPr>
                        <a:t>새 규칙 위험 세 쌍만 vs 지금 규칙</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2/6/2, -0.01 m, p=1.00</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4/2/4, +0.02 m, p=1.00</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5/0/5, -0.04 m, p=1.00</a:t>
                      </a:r>
                    </a:p>
                  </a:txBody>
                  <a:tcPr marL="45720" marR="45720" marT="13716" marB="13716" anchor="ctr">
                    <a:solidFill>
                      <a:srgbClr val="EEF3FA"/>
                    </a:solidFill>
                  </a:tcPr>
                </a:tc>
              </a:tr>
              <a:tr h="300445">
                <a:tc>
                  <a:txBody>
                    <a:bodyPr wrap="square"/>
                    <a:lstStyle/>
                    <a:p>
                      <a:pPr algn="l"/>
                      <a:r>
                        <a:rPr sz="850" b="0" i="0">
                          <a:solidFill>
                            <a:srgbClr val="262626"/>
                          </a:solidFill>
                          <a:latin typeface="맑은 고딕"/>
                          <a:ea typeface="맑은 고딕"/>
                        </a:rPr>
                        <a:t>네 번째 파일럿 vs 원본 (둘 다 새 규칙 전부)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7/0/3, -0.04 m, p=0.34</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5/0/5, -0.03 m, p=1.00</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5/0/5, +0.07 m, p=1.00</a:t>
                      </a:r>
                    </a:p>
                  </a:txBody>
                  <a:tcPr marL="45720" marR="45720" marT="13716" marB="13716" anchor="ctr">
                    <a:solidFill>
                      <a:srgbClr val="FFFFFF"/>
                    </a:solidFill>
                  </a:tcPr>
                </a:tc>
              </a:tr>
              <a:tr h="300445">
                <a:tc>
                  <a:txBody>
                    <a:bodyPr wrap="square"/>
                    <a:lstStyle/>
                    <a:p>
                      <a:pPr algn="l"/>
                      <a:r>
                        <a:rPr sz="850" b="0" i="0">
                          <a:solidFill>
                            <a:srgbClr val="262626"/>
                          </a:solidFill>
                          <a:latin typeface="맑은 고딕"/>
                          <a:ea typeface="맑은 고딕"/>
                        </a:rPr>
                        <a:t>합친 정책: 새 규칙 vs 지금 규칙</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10/0/0, -0.13 m, p=0.00</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8/0/2, -0.05 m, p=0.11</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6/0/4, -0.04 m, p=0.75</a:t>
                      </a:r>
                    </a:p>
                  </a:txBody>
                  <a:tcPr marL="45720" marR="45720" marT="13716" marB="13716" anchor="ctr">
                    <a:solidFill>
                      <a:srgbClr val="EEF3FA"/>
                    </a:solidFill>
                  </a:tcPr>
                </a:tc>
              </a:tr>
              <a:tr h="300445">
                <a:tc>
                  <a:txBody>
                    <a:bodyPr wrap="square"/>
                    <a:lstStyle/>
                    <a:p>
                      <a:pPr algn="l"/>
                      <a:r>
                        <a:rPr sz="850" b="0" i="0">
                          <a:solidFill>
                            <a:srgbClr val="262626"/>
                          </a:solidFill>
                          <a:latin typeface="맑은 고딕"/>
                          <a:ea typeface="맑은 고딕"/>
                        </a:rPr>
                        <a:t>합친 정책 새 규칙 vs 전문가 새 규칙 전부</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8/0/2, -0.30 m, p=0.11</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8/0/2, -0.12 m, p=0.11</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7/0/3, -0.08 m, p=0.34</a:t>
                      </a:r>
                    </a:p>
                  </a:txBody>
                  <a:tcPr marL="45720" marR="45720" marT="13716" marB="13716" anchor="ctr">
                    <a:solidFill>
                      <a:srgbClr val="FFFFFF"/>
                    </a:solidFill>
                  </a:tcPr>
                </a:tc>
              </a:tr>
              <a:tr h="300445">
                <a:tc>
                  <a:txBody>
                    <a:bodyPr wrap="square"/>
                    <a:lstStyle/>
                    <a:p>
                      <a:pPr algn="l"/>
                      <a:r>
                        <a:rPr sz="850" b="0" i="0">
                          <a:solidFill>
                            <a:srgbClr val="262626"/>
                          </a:solidFill>
                          <a:latin typeface="맑은 고딕"/>
                          <a:ea typeface="맑은 고딕"/>
                        </a:rPr>
                        <a:t>합친 정책 새 규칙 vs 전문가 지금 규칙</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7/0/3, -0.11 m, p=0.34</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9/0/1, -0.20 m, p=0.02</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8/0/2, -0.27 m, p=0.11</a:t>
                      </a:r>
                    </a:p>
                  </a:txBody>
                  <a:tcPr marL="45720" marR="45720" marT="13716" marB="13716" anchor="ctr">
                    <a:solidFill>
                      <a:srgbClr val="EEF3FA"/>
                    </a:solidFill>
                  </a:tcPr>
                </a:tc>
              </a:tr>
            </a:tbl>
          </a:graphicData>
        </a:graphic>
      </p:graphicFrame>
      <p:sp>
        <p:nvSpPr>
          <p:cNvPr id="4" name="Rounded Rectangle 3"/>
          <p:cNvSpPr/>
          <p:nvPr/>
        </p:nvSpPr>
        <p:spPr>
          <a:xfrm>
            <a:off x="502920" y="3474720"/>
            <a:ext cx="8138159" cy="27889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3538727"/>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판정 (검토 에이전트의 확인을 거친 문장)</a:t>
            </a:r>
          </a:p>
        </p:txBody>
      </p:sp>
      <p:sp>
        <p:nvSpPr>
          <p:cNvPr id="6" name="TextBox 5"/>
          <p:cNvSpPr txBox="1"/>
          <p:nvPr/>
        </p:nvSpPr>
        <p:spPr>
          <a:xfrm>
            <a:off x="612648" y="3803904"/>
            <a:ext cx="7918703" cy="24231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합친 정책에 새 규칙을 쓴 조합이 오차와 시간 모두 가장 좋았습니다. 다른 다섯 조합과 30쌍씩 비교해 모두 이겼습니다. 이긴 횟수는 22에서 24이고 p는 0.016 이하입니다. 다만 경로와 시드별로 항상 1등은 아니어서 30칸 중 16칸입니다.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규칙만 바꿔 얻은 것은 합친 정책 안에서 평균 0.08미터입니다. 전문가 대비 우위 0.19미터에는 합친 정책의 학습이 함께 들어 있습니다.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전문가에 새 규칙을 모든 전환에 쓰면 장애물에서는 좋아지는 쪽이고 네모에서는 나빠지는 쪽이라, 세 경로를 합치면 이득이 없습니다. 위험한 세 쌍에만 쓰는 것은 그 쌍이 모두 같은 집안이라 차이가 나기 어렵습니다.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네 번째 파일럿 전문가의 이득은 찾지 못했습니다. 열 번으로는 0.1미터 안쪽 차이를 잡을 수 없습니다.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한계입니다. 여러 비교를 한꺼번에 했으므로 보정하면 남는 결과는 합친 정책의 네모 10대 0 하나입니다. 회전각 표본이 양수 쪽에 치우쳤고, 새 규칙은 가로 우선과 표 가운데 열 고르기 두 가지가 함께 바뀐 것이라 어느 쪽 효과인지 모릅니다. 명령 기록을 저장하지 않아 실제 전환 구성은 확인하지 못했습니다.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경로 추종 재실험 ③ 갱신 주기</a:t>
            </a:r>
          </a:p>
        </p:txBody>
      </p:sp>
      <p:sp>
        <p:nvSpPr>
          <p:cNvPr id="3" name="TextBox 2"/>
          <p:cNvSpPr txBox="1"/>
          <p:nvPr/>
        </p:nvSpPr>
        <p:spPr>
          <a:xfrm>
            <a:off x="502920" y="1188720"/>
            <a:ext cx="8138159" cy="54864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갱신 주기가 너무 길다는 지적을 검증했습니다. 합친 정책과 새 규칙으로 고정하고, 주기 25, 10, 5, 2, 1스텝과 도착 판정 두 가지(원, 수직면)를 조합해 경로 세 개, 시드 열 개로 270번 돌렸습니다. 기준은 지금 설정인 주기 25스텝과 원 판정입니다.</a:t>
            </a:r>
          </a:p>
        </p:txBody>
      </p:sp>
      <p:graphicFrame>
        <p:nvGraphicFramePr>
          <p:cNvPr id="4" name="Table 3"/>
          <p:cNvGraphicFramePr>
            <a:graphicFrameLocks noGrp="1"/>
          </p:cNvGraphicFramePr>
          <p:nvPr/>
        </p:nvGraphicFramePr>
        <p:xfrm>
          <a:off x="502920" y="1783080"/>
          <a:ext cx="8138160" cy="2514600"/>
        </p:xfrm>
        <a:graphic>
          <a:graphicData uri="http://schemas.openxmlformats.org/drawingml/2006/table">
            <a:tbl>
              <a:tblPr firstRow="1" bandRow="0">
                <a:tableStyleId>{5940675A-B579-460E-94D1-54222C63F5DA}</a:tableStyleId>
              </a:tblPr>
              <a:tblGrid>
                <a:gridCol w="1828800"/>
                <a:gridCol w="1828800"/>
                <a:gridCol w="1645920"/>
                <a:gridCol w="1645920"/>
                <a:gridCol w="1188720"/>
              </a:tblGrid>
              <a:tr h="251460">
                <a:tc>
                  <a:txBody>
                    <a:bodyPr wrap="square"/>
                    <a:lstStyle/>
                    <a:p>
                      <a:pPr algn="l"/>
                      <a:r>
                        <a:rPr sz="850" b="1" i="0">
                          <a:solidFill>
                            <a:srgbClr val="FFFFFF"/>
                          </a:solidFill>
                          <a:latin typeface="맑은 고딕"/>
                          <a:ea typeface="맑은 고딕"/>
                        </a:rPr>
                        <a:t>변형</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네모 (오차 / 최대 / 시간)</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별</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장애물</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기준 대비 30쌍</a:t>
                      </a:r>
                    </a:p>
                  </a:txBody>
                  <a:tcPr marL="45720" marR="45720" marT="13716" marB="13716" anchor="ctr">
                    <a:solidFill>
                      <a:srgbClr val="203864"/>
                    </a:solidFill>
                  </a:tcPr>
                </a:tc>
              </a:tr>
              <a:tr h="251460">
                <a:tc>
                  <a:txBody>
                    <a:bodyPr wrap="square"/>
                    <a:lstStyle/>
                    <a:p>
                      <a:pPr algn="l"/>
                      <a:r>
                        <a:rPr sz="800" b="0" i="0">
                          <a:solidFill>
                            <a:srgbClr val="262626"/>
                          </a:solidFill>
                          <a:latin typeface="맑은 고딕"/>
                          <a:ea typeface="맑은 고딕"/>
                        </a:rPr>
                        <a:t>주기 25, 원 (지금)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0.29 / 1.00 m / 31초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0.32 / 1.29 m / 71초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0.30 / 1.12 m / 65초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기준</a:t>
                      </a:r>
                    </a:p>
                  </a:txBody>
                  <a:tcPr marL="45720" marR="45720" marT="13716" marB="13716" anchor="ctr">
                    <a:solidFill>
                      <a:srgbClr val="FFFFFF"/>
                    </a:solidFill>
                  </a:tcPr>
                </a:tc>
              </a:tr>
              <a:tr h="251460">
                <a:tc>
                  <a:txBody>
                    <a:bodyPr wrap="square"/>
                    <a:lstStyle/>
                    <a:p>
                      <a:pPr algn="l"/>
                      <a:r>
                        <a:rPr sz="800" b="0" i="0">
                          <a:solidFill>
                            <a:srgbClr val="262626"/>
                          </a:solidFill>
                          <a:latin typeface="맑은 고딕"/>
                          <a:ea typeface="맑은 고딕"/>
                        </a:rPr>
                        <a:t>주기 25, 수직면</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0.23 / 0.64 m / 24초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0.25 / 0.93 m / 56초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0.24 / 0.67 m / 51초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이김 19 / 비김 8 / 짐 3</a:t>
                      </a:r>
                    </a:p>
                  </a:txBody>
                  <a:tcPr marL="45720" marR="45720" marT="13716" marB="13716" anchor="ctr">
                    <a:solidFill>
                      <a:srgbClr val="EEF3FA"/>
                    </a:solidFill>
                  </a:tcPr>
                </a:tc>
              </a:tr>
              <a:tr h="251460">
                <a:tc>
                  <a:txBody>
                    <a:bodyPr wrap="square"/>
                    <a:lstStyle/>
                    <a:p>
                      <a:pPr algn="l"/>
                      <a:r>
                        <a:rPr sz="800" b="0" i="0">
                          <a:solidFill>
                            <a:srgbClr val="262626"/>
                          </a:solidFill>
                          <a:latin typeface="맑은 고딕"/>
                          <a:ea typeface="맑은 고딕"/>
                        </a:rPr>
                        <a:t>주기 10, 원</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0.20 / 0.59 m / 33초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0.26 / 1.04 m / 61초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0.25 / 0.96 m / 62초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이김 20 / 비김 1 / 짐 9</a:t>
                      </a:r>
                    </a:p>
                  </a:txBody>
                  <a:tcPr marL="45720" marR="45720" marT="13716" marB="13716" anchor="ctr">
                    <a:solidFill>
                      <a:srgbClr val="FFFFFF"/>
                    </a:solidFill>
                  </a:tcPr>
                </a:tc>
              </a:tr>
              <a:tr h="251460">
                <a:tc>
                  <a:txBody>
                    <a:bodyPr wrap="square"/>
                    <a:lstStyle/>
                    <a:p>
                      <a:pPr algn="l"/>
                      <a:r>
                        <a:rPr sz="800" b="0" i="0">
                          <a:solidFill>
                            <a:srgbClr val="262626"/>
                          </a:solidFill>
                          <a:latin typeface="맑은 고딕"/>
                          <a:ea typeface="맑은 고딕"/>
                        </a:rPr>
                        <a:t>주기 10, 수직면</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0.18 / 0.50 m / 27초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0.19 / 0.77 m / 56초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0.18 / 0.48 m / 44초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이김 25 / 비김 0 / 짐 5</a:t>
                      </a:r>
                    </a:p>
                  </a:txBody>
                  <a:tcPr marL="45720" marR="45720" marT="13716" marB="13716" anchor="ctr">
                    <a:solidFill>
                      <a:srgbClr val="EEF3FA"/>
                    </a:solidFill>
                  </a:tcPr>
                </a:tc>
              </a:tr>
              <a:tr h="251460">
                <a:tc>
                  <a:txBody>
                    <a:bodyPr wrap="square"/>
                    <a:lstStyle/>
                    <a:p>
                      <a:pPr algn="l"/>
                      <a:r>
                        <a:rPr sz="800" b="0" i="0">
                          <a:solidFill>
                            <a:srgbClr val="262626"/>
                          </a:solidFill>
                          <a:latin typeface="맑은 고딕"/>
                          <a:ea typeface="맑은 고딕"/>
                        </a:rPr>
                        <a:t>주기 5, 원</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0.20 / 0.65 m / 25초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0.25 / 1.02 m / 60초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0.16 / 0.58 m / 42초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이김 26 / 비김 0 / 짐 4</a:t>
                      </a:r>
                    </a:p>
                  </a:txBody>
                  <a:tcPr marL="45720" marR="45720" marT="13716" marB="13716" anchor="ctr">
                    <a:solidFill>
                      <a:srgbClr val="FFFFFF"/>
                    </a:solidFill>
                  </a:tcPr>
                </a:tc>
              </a:tr>
              <a:tr h="251460">
                <a:tc>
                  <a:txBody>
                    <a:bodyPr wrap="square"/>
                    <a:lstStyle/>
                    <a:p>
                      <a:pPr algn="l"/>
                      <a:r>
                        <a:rPr sz="800" b="0" i="0">
                          <a:solidFill>
                            <a:srgbClr val="262626"/>
                          </a:solidFill>
                          <a:latin typeface="맑은 고딕"/>
                          <a:ea typeface="맑은 고딕"/>
                        </a:rPr>
                        <a:t>주기 5, 수직면</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0.17 / 0.50 m / 23초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0.21 / 0.79 m / 51초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0.16 / 0.54 m / 42초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이김 27 / 비김 0 / 짐 3</a:t>
                      </a:r>
                    </a:p>
                  </a:txBody>
                  <a:tcPr marL="45720" marR="45720" marT="13716" marB="13716" anchor="ctr">
                    <a:solidFill>
                      <a:srgbClr val="EEF3FA"/>
                    </a:solidFill>
                  </a:tcPr>
                </a:tc>
              </a:tr>
              <a:tr h="251460">
                <a:tc>
                  <a:txBody>
                    <a:bodyPr wrap="square"/>
                    <a:lstStyle/>
                    <a:p>
                      <a:pPr algn="l"/>
                      <a:r>
                        <a:rPr sz="800" b="0" i="0">
                          <a:solidFill>
                            <a:srgbClr val="262626"/>
                          </a:solidFill>
                          <a:latin typeface="맑은 고딕"/>
                          <a:ea typeface="맑은 고딕"/>
                        </a:rPr>
                        <a:t>주기 2 (0.1초), 원</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0.22 / 0.69 m / 32초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0.20 / 0.87 m / 57초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0.24 / 0.87 m / 50초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이김 22 / 비김 0 / 짐 8</a:t>
                      </a:r>
                    </a:p>
                  </a:txBody>
                  <a:tcPr marL="45720" marR="45720" marT="13716" marB="13716" anchor="ctr">
                    <a:solidFill>
                      <a:srgbClr val="FFFFFF"/>
                    </a:solidFill>
                  </a:tcPr>
                </a:tc>
              </a:tr>
              <a:tr h="251460">
                <a:tc>
                  <a:txBody>
                    <a:bodyPr wrap="square"/>
                    <a:lstStyle/>
                    <a:p>
                      <a:pPr algn="l"/>
                      <a:r>
                        <a:rPr sz="800" b="0" i="0">
                          <a:solidFill>
                            <a:srgbClr val="262626"/>
                          </a:solidFill>
                          <a:latin typeface="맑은 고딕"/>
                          <a:ea typeface="맑은 고딕"/>
                        </a:rPr>
                        <a:t>주기 2 (0.1초), 수직면</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0.21 / 0.61 m / 31초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0.18 / 0.72 m / 53초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0.20 / 0.54 m / 43초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이김 24 / 비김 0 / 짐 6</a:t>
                      </a:r>
                    </a:p>
                  </a:txBody>
                  <a:tcPr marL="45720" marR="45720" marT="13716" marB="13716" anchor="ctr">
                    <a:solidFill>
                      <a:srgbClr val="EEF3FA"/>
                    </a:solidFill>
                  </a:tcPr>
                </a:tc>
              </a:tr>
              <a:tr h="251460">
                <a:tc>
                  <a:txBody>
                    <a:bodyPr wrap="square"/>
                    <a:lstStyle/>
                    <a:p>
                      <a:pPr algn="l"/>
                      <a:r>
                        <a:rPr sz="800" b="0" i="0">
                          <a:solidFill>
                            <a:srgbClr val="262626"/>
                          </a:solidFill>
                          <a:latin typeface="맑은 고딕"/>
                          <a:ea typeface="맑은 고딕"/>
                        </a:rPr>
                        <a:t>주기 1 (매 스텝), 수직면</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0.17 / 0.43 m / 26초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0.16 / 0.53 m / 50초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0.19 / 0.50 m / 42초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이김 27 / 비김 0 / 짐 3</a:t>
                      </a:r>
                    </a:p>
                  </a:txBody>
                  <a:tcPr marL="45720" marR="45720" marT="13716" marB="13716" anchor="ctr">
                    <a:solidFill>
                      <a:srgbClr val="FFFFFF"/>
                    </a:solidFill>
                  </a:tcPr>
                </a:tc>
              </a:tr>
            </a:tbl>
          </a:graphicData>
        </a:graphic>
      </p:graphicFrame>
      <p:sp>
        <p:nvSpPr>
          <p:cNvPr id="5" name="Rounded Rectangle 4"/>
          <p:cNvSpPr/>
          <p:nvPr/>
        </p:nvSpPr>
        <p:spPr>
          <a:xfrm>
            <a:off x="502920" y="4434840"/>
            <a:ext cx="8138159" cy="18288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4988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판정 (검토 에이전트의 재계산을 거친 문장)</a:t>
            </a:r>
          </a:p>
        </p:txBody>
      </p:sp>
      <p:sp>
        <p:nvSpPr>
          <p:cNvPr id="7" name="TextBox 6"/>
          <p:cNvSpPr txBox="1"/>
          <p:nvPr/>
        </p:nvSpPr>
        <p:spPr>
          <a:xfrm>
            <a:off x="612648" y="4764024"/>
            <a:ext cx="7918703" cy="14630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00" b="0" i="0">
                <a:solidFill>
                  <a:srgbClr val="262626"/>
                </a:solidFill>
                <a:latin typeface="맑은 고딕"/>
                <a:ea typeface="맑은 고딕"/>
              </a:rPr>
              <a:t>기준 설정의 큰 오차는 코너 오버슛이 아니라, 판정 순간 사이에 도착 원을 지나쳐 놓친 뒤 0.85미터 동결을 벗어나서야 되돌아오는 데서 났습니다. 기준의 최대 오차 30개 중 23개가 이 경우였습니다. 주기를 줄이면 이 놓침이 150개 중 24개에서 1~4개로, 수직면 판정을 켜면 구간 중간에 되돌아간 전환이 네모 18에서 2, 별 41에서 4, 장애물 36에서 1로 줄었습니다.</a:t>
            </a:r>
          </a:p>
          <a:p>
            <a:pPr algn="l" marL="146304" indent="-146304">
              <a:lnSpc>
                <a:spcPct val="106000"/>
              </a:lnSpc>
              <a:spcAft>
                <a:spcPts val="300"/>
              </a:spcAft>
              <a:buClr>
                <a:srgbClr val="2E75B6"/>
              </a:buClr>
              <a:buChar char="▪"/>
            </a:pPr>
            <a:r>
              <a:rPr sz="800" b="0" i="0">
                <a:solidFill>
                  <a:srgbClr val="262626"/>
                </a:solidFill>
                <a:latin typeface="맑은 고딕"/>
                <a:ea typeface="맑은 고딕"/>
              </a:rPr>
              <a:t>주기 5나 10에 수직면 판정을 합치면 평균 오차가 0.29에서 0.32미터에서 0.16에서 0.21미터로, 최대 오차가 1.0에서 1.3미터에서 0.5에서 0.8미터로 줄었습니다. 주기를 0.1초나 매 스텝으로 더 줄여도 평균 오차와 시간은 같고, 구간 중간 전환만 30퍼센트 늡니다. 매 스텝 판단은 큰 실패가 가장 적었습니다(최대 오차 0.8미터 초과가 30번 중 1번).</a:t>
            </a:r>
          </a:p>
          <a:p>
            <a:pPr algn="l" marL="146304" indent="-146304">
              <a:lnSpc>
                <a:spcPct val="106000"/>
              </a:lnSpc>
              <a:spcAft>
                <a:spcPts val="300"/>
              </a:spcAft>
              <a:buClr>
                <a:srgbClr val="2E75B6"/>
              </a:buClr>
              <a:buChar char="▪"/>
            </a:pPr>
            <a:r>
              <a:rPr sz="800" b="0" i="0">
                <a:solidFill>
                  <a:srgbClr val="262626"/>
                </a:solidFill>
                <a:latin typeface="맑은 고딕"/>
                <a:ea typeface="맑은 고딕"/>
              </a:rPr>
              <a:t>남은 최대 오차(중앙값 0.47미터)의 3분의 2는 구간을 따라가며 옆으로 쌓인 오차이고 3분의 1은 코너 직후 흔들림입니다. 옆 오차는 이웃한 두 명령을 번갈아 내는 동안 커져서 여덟 방향 양자화가 의심되지만, 몸통 방향을 기록하지 않아 보행 편향과 가르지 못했습니다. 수직면 판정은 웨이포인트를 옆으로 지나가도 도착으로 치므로 끝점 오차가 커질 수 있습니다.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경로 검증 ① 아홉 경로</a:t>
            </a:r>
          </a:p>
        </p:txBody>
      </p:sp>
      <p:sp>
        <p:nvSpPr>
          <p:cNvPr id="3" name="TextBox 2"/>
          <p:cNvSpPr txBox="1"/>
          <p:nvPr/>
        </p:nvSpPr>
        <p:spPr>
          <a:xfrm>
            <a:off x="502920" y="1188720"/>
            <a:ext cx="8138159" cy="54864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네모, 별, 장애물 셋에 여섯 경로를 더했습니다. 지그재그는 63도 꺾임, S자는 완만한 굽이, 팔각형은 45도 꺾임 여덟 번, 굽이길은 직각 되돌기, 유턴은 168도 되돌기, 무작위는 시드마다 다른 여섯 점입니다. 시작 관절 잡음 0.03라디안과 경로 회전 8도는 이전과 같습니다.</a:t>
            </a:r>
          </a:p>
        </p:txBody>
      </p:sp>
      <p:pic>
        <p:nvPicPr>
          <p:cNvPr id="4" name="Picture 3" descr="paths_grid.png"/>
          <p:cNvPicPr>
            <a:picLocks noChangeAspect="1"/>
          </p:cNvPicPr>
          <p:nvPr/>
        </p:nvPicPr>
        <p:blipFill>
          <a:blip r:embed="rId2"/>
          <a:stretch>
            <a:fillRect/>
          </a:stretch>
        </p:blipFill>
        <p:spPr>
          <a:xfrm>
            <a:off x="502920" y="1998878"/>
            <a:ext cx="3931920" cy="3774643"/>
          </a:xfrm>
          <a:prstGeom prst="rect">
            <a:avLst/>
          </a:prstGeom>
        </p:spPr>
      </p:pic>
      <p:graphicFrame>
        <p:nvGraphicFramePr>
          <p:cNvPr id="5" name="Table 4"/>
          <p:cNvGraphicFramePr>
            <a:graphicFrameLocks noGrp="1"/>
          </p:cNvGraphicFramePr>
          <p:nvPr/>
        </p:nvGraphicFramePr>
        <p:xfrm>
          <a:off x="4617720" y="1783080"/>
          <a:ext cx="4206240" cy="3108960"/>
        </p:xfrm>
        <a:graphic>
          <a:graphicData uri="http://schemas.openxmlformats.org/drawingml/2006/table">
            <a:tbl>
              <a:tblPr firstRow="1" bandRow="0">
                <a:tableStyleId>{5940675A-B579-460E-94D1-54222C63F5DA}</a:tableStyleId>
              </a:tblPr>
              <a:tblGrid>
                <a:gridCol w="777240"/>
                <a:gridCol w="548640"/>
                <a:gridCol w="1234440"/>
                <a:gridCol w="640080"/>
                <a:gridCol w="502920"/>
                <a:gridCol w="502920"/>
              </a:tblGrid>
              <a:tr h="310896">
                <a:tc>
                  <a:txBody>
                    <a:bodyPr wrap="square"/>
                    <a:lstStyle/>
                    <a:p>
                      <a:pPr algn="l"/>
                      <a:r>
                        <a:rPr sz="850" b="1" i="0">
                          <a:solidFill>
                            <a:srgbClr val="FFFFFF"/>
                          </a:solidFill>
                          <a:latin typeface="맑은 고딕"/>
                          <a:ea typeface="맑은 고딕"/>
                        </a:rPr>
                        <a:t>경로</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완주</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오차 평균±편차</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최대</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시간</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전환</a:t>
                      </a:r>
                    </a:p>
                  </a:txBody>
                  <a:tcPr marL="45720" marR="45720" marT="13716" marB="13716" anchor="ctr">
                    <a:solidFill>
                      <a:srgbClr val="203864"/>
                    </a:solidFill>
                  </a:tcPr>
                </a:tc>
              </a:tr>
              <a:tr h="310896">
                <a:tc>
                  <a:txBody>
                    <a:bodyPr wrap="square"/>
                    <a:lstStyle/>
                    <a:p>
                      <a:pPr algn="l"/>
                      <a:r>
                        <a:rPr sz="800" b="0" i="0">
                          <a:solidFill>
                            <a:srgbClr val="262626"/>
                          </a:solidFill>
                          <a:latin typeface="맑은 고딕"/>
                          <a:ea typeface="맑은 고딕"/>
                        </a:rPr>
                        <a:t>네모</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0.158±0.040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0.42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22초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8회</a:t>
                      </a:r>
                    </a:p>
                  </a:txBody>
                  <a:tcPr marL="45720" marR="45720" marT="13716" marB="13716" anchor="ctr">
                    <a:solidFill>
                      <a:srgbClr val="FFFFFF"/>
                    </a:solidFill>
                  </a:tcPr>
                </a:tc>
              </a:tr>
              <a:tr h="310896">
                <a:tc>
                  <a:txBody>
                    <a:bodyPr wrap="square"/>
                    <a:lstStyle/>
                    <a:p>
                      <a:pPr algn="l"/>
                      <a:r>
                        <a:rPr sz="800" b="0" i="0">
                          <a:solidFill>
                            <a:srgbClr val="262626"/>
                          </a:solidFill>
                          <a:latin typeface="맑은 고딕"/>
                          <a:ea typeface="맑은 고딕"/>
                        </a:rPr>
                        <a:t>별</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0.159±0.033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0.62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62초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27회</a:t>
                      </a:r>
                    </a:p>
                  </a:txBody>
                  <a:tcPr marL="45720" marR="45720" marT="13716" marB="13716" anchor="ctr">
                    <a:solidFill>
                      <a:srgbClr val="EEF3FA"/>
                    </a:solidFill>
                  </a:tcPr>
                </a:tc>
              </a:tr>
              <a:tr h="310896">
                <a:tc>
                  <a:txBody>
                    <a:bodyPr wrap="square"/>
                    <a:lstStyle/>
                    <a:p>
                      <a:pPr algn="l"/>
                      <a:r>
                        <a:rPr sz="800" b="0" i="0">
                          <a:solidFill>
                            <a:srgbClr val="262626"/>
                          </a:solidFill>
                          <a:latin typeface="맑은 고딕"/>
                          <a:ea typeface="맑은 고딕"/>
                        </a:rPr>
                        <a:t>장애물</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0.157±0.036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0.49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45초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13회</a:t>
                      </a:r>
                    </a:p>
                  </a:txBody>
                  <a:tcPr marL="45720" marR="45720" marT="13716" marB="13716" anchor="ctr">
                    <a:solidFill>
                      <a:srgbClr val="FFFFFF"/>
                    </a:solidFill>
                  </a:tcPr>
                </a:tc>
              </a:tr>
              <a:tr h="310896">
                <a:tc>
                  <a:txBody>
                    <a:bodyPr wrap="square"/>
                    <a:lstStyle/>
                    <a:p>
                      <a:pPr algn="l"/>
                      <a:r>
                        <a:rPr sz="800" b="0" i="0">
                          <a:solidFill>
                            <a:srgbClr val="262626"/>
                          </a:solidFill>
                          <a:latin typeface="맑은 고딕"/>
                          <a:ea typeface="맑은 고딕"/>
                        </a:rPr>
                        <a:t>지그재그</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0.232±0.111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0.68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32초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15회</a:t>
                      </a:r>
                    </a:p>
                  </a:txBody>
                  <a:tcPr marL="45720" marR="45720" marT="13716" marB="13716" anchor="ctr">
                    <a:solidFill>
                      <a:srgbClr val="EEF3FA"/>
                    </a:solidFill>
                  </a:tcPr>
                </a:tc>
              </a:tr>
              <a:tr h="310896">
                <a:tc>
                  <a:txBody>
                    <a:bodyPr wrap="square"/>
                    <a:lstStyle/>
                    <a:p>
                      <a:pPr algn="l"/>
                      <a:r>
                        <a:rPr sz="800" b="0" i="0">
                          <a:solidFill>
                            <a:srgbClr val="262626"/>
                          </a:solidFill>
                          <a:latin typeface="맑은 고딕"/>
                          <a:ea typeface="맑은 고딕"/>
                        </a:rPr>
                        <a:t>S자</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0.183±0.074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0.53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35초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16회</a:t>
                      </a:r>
                    </a:p>
                  </a:txBody>
                  <a:tcPr marL="45720" marR="45720" marT="13716" marB="13716" anchor="ctr">
                    <a:solidFill>
                      <a:srgbClr val="FFFFFF"/>
                    </a:solidFill>
                  </a:tcPr>
                </a:tc>
              </a:tr>
              <a:tr h="310896">
                <a:tc>
                  <a:txBody>
                    <a:bodyPr wrap="square"/>
                    <a:lstStyle/>
                    <a:p>
                      <a:pPr algn="l"/>
                      <a:r>
                        <a:rPr sz="800" b="0" i="0">
                          <a:solidFill>
                            <a:srgbClr val="262626"/>
                          </a:solidFill>
                          <a:latin typeface="맑은 고딕"/>
                          <a:ea typeface="맑은 고딕"/>
                        </a:rPr>
                        <a:t>팔각형</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0.165±0.062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0.58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46초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15회</a:t>
                      </a:r>
                    </a:p>
                  </a:txBody>
                  <a:tcPr marL="45720" marR="45720" marT="13716" marB="13716" anchor="ctr">
                    <a:solidFill>
                      <a:srgbClr val="EEF3FA"/>
                    </a:solidFill>
                  </a:tcPr>
                </a:tc>
              </a:tr>
              <a:tr h="310896">
                <a:tc>
                  <a:txBody>
                    <a:bodyPr wrap="square"/>
                    <a:lstStyle/>
                    <a:p>
                      <a:pPr algn="l"/>
                      <a:r>
                        <a:rPr sz="800" b="0" i="0">
                          <a:solidFill>
                            <a:srgbClr val="262626"/>
                          </a:solidFill>
                          <a:latin typeface="맑은 고딕"/>
                          <a:ea typeface="맑은 고딕"/>
                        </a:rPr>
                        <a:t>굽이길</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0.130±0.036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0.36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21초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9회</a:t>
                      </a:r>
                    </a:p>
                  </a:txBody>
                  <a:tcPr marL="45720" marR="45720" marT="13716" marB="13716" anchor="ctr">
                    <a:solidFill>
                      <a:srgbClr val="FFFFFF"/>
                    </a:solidFill>
                  </a:tcPr>
                </a:tc>
              </a:tr>
              <a:tr h="310896">
                <a:tc>
                  <a:txBody>
                    <a:bodyPr wrap="square"/>
                    <a:lstStyle/>
                    <a:p>
                      <a:pPr algn="l"/>
                      <a:r>
                        <a:rPr sz="800" b="0" i="0">
                          <a:solidFill>
                            <a:srgbClr val="262626"/>
                          </a:solidFill>
                          <a:latin typeface="맑은 고딕"/>
                          <a:ea typeface="맑은 고딕"/>
                        </a:rPr>
                        <a:t>유턴</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0.141±0.036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0.40 m</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26초</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10회</a:t>
                      </a:r>
                    </a:p>
                  </a:txBody>
                  <a:tcPr marL="45720" marR="45720" marT="13716" marB="13716" anchor="ctr">
                    <a:solidFill>
                      <a:srgbClr val="EEF3FA"/>
                    </a:solidFill>
                  </a:tcPr>
                </a:tc>
              </a:tr>
              <a:tr h="310896">
                <a:tc>
                  <a:txBody>
                    <a:bodyPr wrap="square"/>
                    <a:lstStyle/>
                    <a:p>
                      <a:pPr algn="l"/>
                      <a:r>
                        <a:rPr sz="800" b="0" i="0">
                          <a:solidFill>
                            <a:srgbClr val="262626"/>
                          </a:solidFill>
                          <a:latin typeface="맑은 고딕"/>
                          <a:ea typeface="맑은 고딕"/>
                        </a:rPr>
                        <a:t>무작위</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10/10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0.168±0.028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0.47 m</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40초</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15회</a:t>
                      </a:r>
                    </a:p>
                  </a:txBody>
                  <a:tcPr marL="45720" marR="45720" marT="13716" marB="13716" anchor="ctr">
                    <a:solidFill>
                      <a:srgbClr val="FFFFFF"/>
                    </a:solidFill>
                  </a:tcPr>
                </a:tc>
              </a:tr>
            </a:tbl>
          </a:graphicData>
        </a:graphic>
      </p:graphicFrame>
      <p:sp>
        <p:nvSpPr>
          <p:cNvPr id="6" name="TextBox 5"/>
          <p:cNvSpPr txBox="1"/>
          <p:nvPr/>
        </p:nvSpPr>
        <p:spPr>
          <a:xfrm>
            <a:off x="4617720" y="4983480"/>
            <a:ext cx="4023359" cy="1097280"/>
          </a:xfrm>
          <a:prstGeom prst="rect">
            <a:avLst/>
          </a:prstGeom>
          <a:noFill/>
        </p:spPr>
        <p:txBody>
          <a:bodyPr wrap="square" lIns="0" rIns="0" tIns="18288" bIns="18288" anchor="t">
            <a:spAutoFit/>
          </a:bodyPr>
          <a:lstStyle/>
          <a:p>
            <a:pPr algn="l">
              <a:lnSpc>
                <a:spcPct val="106000"/>
              </a:lnSpc>
              <a:spcAft>
                <a:spcPts val="200"/>
              </a:spcAft>
            </a:pPr>
            <a:r>
              <a:rPr sz="800" b="0" i="0">
                <a:solidFill>
                  <a:srgbClr val="595959"/>
                </a:solidFill>
                <a:latin typeface="맑은 고딕"/>
                <a:ea typeface="맑은 고딕"/>
              </a:rPr>
              <a:t>합친 정책(셋째 단계 마지막 모델)에 새 규칙과 커맨더 새 기본값(갱신 0.25초, 수직면 판정, 동결 0.45미터)을 쓴 결과입니다. 경로마다 시드 열 개, 모두 90번이고 모두 끝까지 갔습니다. 다만 도착 판정은 웨이포인트 옆을 지나가도 인정하는 방식이고, 90번 중 2번은 웨이포인트를 0.35미터 밖으로 지나쳤습니다. 오차는 매 스텝 경로까지 거리의 평균이고, 최대는 열 번의 최대 오차 평균입니다. 개별 주행의 평균 오차는 0.06미터에서 0.46미터까지 벌어집니다.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경로 검증 ② 정책과 규칙</a:t>
            </a:r>
          </a:p>
        </p:txBody>
      </p:sp>
      <p:sp>
        <p:nvSpPr>
          <p:cNvPr id="3" name="TextBox 2"/>
          <p:cNvSpPr txBox="1"/>
          <p:nvPr/>
        </p:nvSpPr>
        <p:spPr>
          <a:xfrm>
            <a:off x="502920" y="1188720"/>
            <a:ext cx="8138159" cy="45720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같은 커맨더 기본값에서 정책과 규칙만 바꿔 같은 시드끼리 90쌍을 짝지었습니다. 칸은 앞 조합이 이긴 횟수 / 비김 / 진 횟수, 평균 오차 차이, 부호 검정 p입니다.</a:t>
            </a:r>
          </a:p>
        </p:txBody>
      </p:sp>
      <p:graphicFrame>
        <p:nvGraphicFramePr>
          <p:cNvPr id="4" name="Table 3"/>
          <p:cNvGraphicFramePr>
            <a:graphicFrameLocks noGrp="1"/>
          </p:cNvGraphicFramePr>
          <p:nvPr/>
        </p:nvGraphicFramePr>
        <p:xfrm>
          <a:off x="502920" y="1691640"/>
          <a:ext cx="8138160" cy="1143000"/>
        </p:xfrm>
        <a:graphic>
          <a:graphicData uri="http://schemas.openxmlformats.org/drawingml/2006/table">
            <a:tbl>
              <a:tblPr firstRow="1" bandRow="0">
                <a:tableStyleId>{5940675A-B579-460E-94D1-54222C63F5DA}</a:tableStyleId>
              </a:tblPr>
              <a:tblGrid>
                <a:gridCol w="2377440"/>
                <a:gridCol w="1417320"/>
                <a:gridCol w="1417320"/>
                <a:gridCol w="1417320"/>
                <a:gridCol w="777240"/>
                <a:gridCol w="731520"/>
              </a:tblGrid>
              <a:tr h="381000">
                <a:tc>
                  <a:txBody>
                    <a:bodyPr wrap="square"/>
                    <a:lstStyle/>
                    <a:p>
                      <a:pPr algn="l"/>
                      <a:r>
                        <a:rPr sz="850" b="1" i="0">
                          <a:solidFill>
                            <a:srgbClr val="FFFFFF"/>
                          </a:solidFill>
                          <a:latin typeface="맑은 고딕"/>
                          <a:ea typeface="맑은 고딕"/>
                        </a:rPr>
                        <a:t>비교 (앞 조합 기준)</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90쌍 전체</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네모·별·장애물 30쌍</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새 경로 여섯 60쌍</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경로별 +/=/−</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완주</a:t>
                      </a:r>
                    </a:p>
                  </a:txBody>
                  <a:tcPr marL="45720" marR="45720" marT="13716" marB="13716" anchor="ctr">
                    <a:solidFill>
                      <a:srgbClr val="203864"/>
                    </a:solidFill>
                  </a:tcPr>
                </a:tc>
              </a:tr>
              <a:tr h="381000">
                <a:tc>
                  <a:txBody>
                    <a:bodyPr wrap="square"/>
                    <a:lstStyle/>
                    <a:p>
                      <a:pPr algn="l"/>
                      <a:r>
                        <a:rPr sz="800" b="0" i="0">
                          <a:solidFill>
                            <a:srgbClr val="262626"/>
                          </a:solidFill>
                          <a:latin typeface="맑은 고딕"/>
                          <a:ea typeface="맑은 고딕"/>
                        </a:rPr>
                        <a:t>합친 정책 새 규칙 vs 합친 정책 지금 규칙</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44/1/45, -0.004 m, p=1.000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12/0/18, -0.007 m, p=0.362</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32/1/27, -0.002 m, p=0.603</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5/1/3</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90/90 대 90/90</a:t>
                      </a:r>
                    </a:p>
                  </a:txBody>
                  <a:tcPr marL="45720" marR="45720" marT="13716" marB="13716" anchor="ctr">
                    <a:solidFill>
                      <a:srgbClr val="FFFFFF"/>
                    </a:solidFill>
                  </a:tcPr>
                </a:tc>
              </a:tr>
              <a:tr h="381000">
                <a:tc>
                  <a:txBody>
                    <a:bodyPr wrap="square"/>
                    <a:lstStyle/>
                    <a:p>
                      <a:pPr algn="l"/>
                      <a:r>
                        <a:rPr sz="800" b="0" i="0">
                          <a:solidFill>
                            <a:srgbClr val="262626"/>
                          </a:solidFill>
                          <a:latin typeface="맑은 고딕"/>
                          <a:ea typeface="맑은 고딕"/>
                        </a:rPr>
                        <a:t>합친 정책 새 규칙 vs 원본 전문가 새 규칙 전부</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56/0/34, -0.069 m, p=0.026</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21/0/9, -0.115 m, p=0.043</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35/0/25, -0.045 m, p=0.245</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8/0/1</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90/90 대 90/90</a:t>
                      </a:r>
                    </a:p>
                  </a:txBody>
                  <a:tcPr marL="45720" marR="45720" marT="13716" marB="13716" anchor="ctr">
                    <a:solidFill>
                      <a:srgbClr val="EEF3FA"/>
                    </a:solidFill>
                  </a:tcPr>
                </a:tc>
              </a:tr>
            </a:tbl>
          </a:graphicData>
        </a:graphic>
      </p:graphicFrame>
      <p:graphicFrame>
        <p:nvGraphicFramePr>
          <p:cNvPr id="5" name="Table 4"/>
          <p:cNvGraphicFramePr>
            <a:graphicFrameLocks noGrp="1"/>
          </p:cNvGraphicFramePr>
          <p:nvPr/>
        </p:nvGraphicFramePr>
        <p:xfrm>
          <a:off x="502920" y="2926080"/>
          <a:ext cx="8138160" cy="1828800"/>
        </p:xfrm>
        <a:graphic>
          <a:graphicData uri="http://schemas.openxmlformats.org/drawingml/2006/table">
            <a:tbl>
              <a:tblPr firstRow="1" bandRow="0">
                <a:tableStyleId>{5940675A-B579-460E-94D1-54222C63F5DA}</a:tableStyleId>
              </a:tblPr>
              <a:tblGrid>
                <a:gridCol w="1005840"/>
                <a:gridCol w="2377440"/>
                <a:gridCol w="2377440"/>
                <a:gridCol w="2377440"/>
              </a:tblGrid>
              <a:tr h="182880">
                <a:tc>
                  <a:txBody>
                    <a:bodyPr wrap="square"/>
                    <a:lstStyle/>
                    <a:p>
                      <a:pPr algn="l"/>
                      <a:r>
                        <a:rPr sz="750" b="1" i="0">
                          <a:solidFill>
                            <a:srgbClr val="FFFFFF"/>
                          </a:solidFill>
                          <a:latin typeface="맑은 고딕"/>
                          <a:ea typeface="맑은 고딕"/>
                        </a:rPr>
                        <a:t>경로</a:t>
                      </a:r>
                    </a:p>
                  </a:txBody>
                  <a:tcPr marL="45720" marR="45720" marT="13716" marB="13716" anchor="ctr">
                    <a:solidFill>
                      <a:srgbClr val="203864"/>
                    </a:solidFill>
                  </a:tcPr>
                </a:tc>
                <a:tc>
                  <a:txBody>
                    <a:bodyPr wrap="square"/>
                    <a:lstStyle/>
                    <a:p>
                      <a:pPr algn="ctr"/>
                      <a:r>
                        <a:rPr sz="750" b="1" i="0">
                          <a:solidFill>
                            <a:srgbClr val="FFFFFF"/>
                          </a:solidFill>
                          <a:latin typeface="맑은 고딕"/>
                          <a:ea typeface="맑은 고딕"/>
                        </a:rPr>
                        <a:t>합친 정책 새 규칙</a:t>
                      </a:r>
                    </a:p>
                  </a:txBody>
                  <a:tcPr marL="45720" marR="45720" marT="13716" marB="13716" anchor="ctr">
                    <a:solidFill>
                      <a:srgbClr val="203864"/>
                    </a:solidFill>
                  </a:tcPr>
                </a:tc>
                <a:tc>
                  <a:txBody>
                    <a:bodyPr wrap="square"/>
                    <a:lstStyle/>
                    <a:p>
                      <a:pPr algn="ctr"/>
                      <a:r>
                        <a:rPr sz="750" b="1" i="0">
                          <a:solidFill>
                            <a:srgbClr val="FFFFFF"/>
                          </a:solidFill>
                          <a:latin typeface="맑은 고딕"/>
                          <a:ea typeface="맑은 고딕"/>
                        </a:rPr>
                        <a:t>합친 정책 지금 규칙</a:t>
                      </a:r>
                    </a:p>
                  </a:txBody>
                  <a:tcPr marL="45720" marR="45720" marT="13716" marB="13716" anchor="ctr">
                    <a:solidFill>
                      <a:srgbClr val="203864"/>
                    </a:solidFill>
                  </a:tcPr>
                </a:tc>
                <a:tc>
                  <a:txBody>
                    <a:bodyPr wrap="square"/>
                    <a:lstStyle/>
                    <a:p>
                      <a:pPr algn="ctr"/>
                      <a:r>
                        <a:rPr sz="750" b="1" i="0">
                          <a:solidFill>
                            <a:srgbClr val="FFFFFF"/>
                          </a:solidFill>
                          <a:latin typeface="맑은 고딕"/>
                          <a:ea typeface="맑은 고딕"/>
                        </a:rPr>
                        <a:t>원본 전문가 새 규칙 전부</a:t>
                      </a:r>
                    </a:p>
                  </a:txBody>
                  <a:tcPr marL="45720" marR="45720" marT="13716" marB="13716" anchor="ctr">
                    <a:solidFill>
                      <a:srgbClr val="203864"/>
                    </a:solidFill>
                  </a:tcPr>
                </a:tc>
              </a:tr>
              <a:tr h="182880">
                <a:tc>
                  <a:txBody>
                    <a:bodyPr wrap="square"/>
                    <a:lstStyle/>
                    <a:p>
                      <a:pPr algn="l"/>
                      <a:r>
                        <a:rPr sz="700" b="0" i="0">
                          <a:solidFill>
                            <a:srgbClr val="262626"/>
                          </a:solidFill>
                          <a:latin typeface="맑은 고딕"/>
                          <a:ea typeface="맑은 고딕"/>
                        </a:rPr>
                        <a:t>네모</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0.158 m, 22초, 전환 8회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0.170 m, 25초, 전환 10회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0.230 m, 35초, 전환 18회</a:t>
                      </a:r>
                    </a:p>
                  </a:txBody>
                  <a:tcPr marL="45720" marR="45720" marT="13716" marB="13716" anchor="ctr">
                    <a:solidFill>
                      <a:srgbClr val="FFFFFF"/>
                    </a:solidFill>
                  </a:tcPr>
                </a:tc>
              </a:tr>
              <a:tr h="182880">
                <a:tc>
                  <a:txBody>
                    <a:bodyPr wrap="square"/>
                    <a:lstStyle/>
                    <a:p>
                      <a:pPr algn="l"/>
                      <a:r>
                        <a:rPr sz="700" b="0" i="0">
                          <a:solidFill>
                            <a:srgbClr val="262626"/>
                          </a:solidFill>
                          <a:latin typeface="맑은 고딕"/>
                          <a:ea typeface="맑은 고딕"/>
                        </a:rPr>
                        <a:t>별</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0.159 m, 62초, 전환 27회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0.149 m, 63초, 전환 24회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0.326 m, 71초, 전환 32회</a:t>
                      </a:r>
                    </a:p>
                  </a:txBody>
                  <a:tcPr marL="45720" marR="45720" marT="13716" marB="13716" anchor="ctr">
                    <a:solidFill>
                      <a:srgbClr val="EEF3FA"/>
                    </a:solidFill>
                  </a:tcPr>
                </a:tc>
              </a:tr>
              <a:tr h="182880">
                <a:tc>
                  <a:txBody>
                    <a:bodyPr wrap="square"/>
                    <a:lstStyle/>
                    <a:p>
                      <a:pPr algn="l"/>
                      <a:r>
                        <a:rPr sz="700" b="0" i="0">
                          <a:solidFill>
                            <a:srgbClr val="262626"/>
                          </a:solidFill>
                          <a:latin typeface="맑은 고딕"/>
                          <a:ea typeface="맑은 고딕"/>
                        </a:rPr>
                        <a:t>장애물</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0.157 m, 45초, 전환 13회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0.177 m, 62초, 전환 25회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0.264 m, 85초, 전환 38회</a:t>
                      </a:r>
                    </a:p>
                  </a:txBody>
                  <a:tcPr marL="45720" marR="45720" marT="13716" marB="13716" anchor="ctr">
                    <a:solidFill>
                      <a:srgbClr val="FFFFFF"/>
                    </a:solidFill>
                  </a:tcPr>
                </a:tc>
              </a:tr>
              <a:tr h="182880">
                <a:tc>
                  <a:txBody>
                    <a:bodyPr wrap="square"/>
                    <a:lstStyle/>
                    <a:p>
                      <a:pPr algn="l"/>
                      <a:r>
                        <a:rPr sz="700" b="0" i="0">
                          <a:solidFill>
                            <a:srgbClr val="262626"/>
                          </a:solidFill>
                          <a:latin typeface="맑은 고딕"/>
                          <a:ea typeface="맑은 고딕"/>
                        </a:rPr>
                        <a:t>지그재그</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0.232 m, 32초, 전환 15회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0.194 m, 34초, 전환 15회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0.299 m, 58초, 전환 31회</a:t>
                      </a:r>
                    </a:p>
                  </a:txBody>
                  <a:tcPr marL="45720" marR="45720" marT="13716" marB="13716" anchor="ctr">
                    <a:solidFill>
                      <a:srgbClr val="EEF3FA"/>
                    </a:solidFill>
                  </a:tcPr>
                </a:tc>
              </a:tr>
              <a:tr h="182880">
                <a:tc>
                  <a:txBody>
                    <a:bodyPr wrap="square"/>
                    <a:lstStyle/>
                    <a:p>
                      <a:pPr algn="l"/>
                      <a:r>
                        <a:rPr sz="700" b="0" i="0">
                          <a:solidFill>
                            <a:srgbClr val="262626"/>
                          </a:solidFill>
                          <a:latin typeface="맑은 고딕"/>
                          <a:ea typeface="맑은 고딕"/>
                        </a:rPr>
                        <a:t>S자</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0.183 m, 35초, 전환 16회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0.184 m, 39초, 전환 16회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0.235 m, 46초, 전환 22회</a:t>
                      </a:r>
                    </a:p>
                  </a:txBody>
                  <a:tcPr marL="45720" marR="45720" marT="13716" marB="13716" anchor="ctr">
                    <a:solidFill>
                      <a:srgbClr val="FFFFFF"/>
                    </a:solidFill>
                  </a:tcPr>
                </a:tc>
              </a:tr>
              <a:tr h="182880">
                <a:tc>
                  <a:txBody>
                    <a:bodyPr wrap="square"/>
                    <a:lstStyle/>
                    <a:p>
                      <a:pPr algn="l"/>
                      <a:r>
                        <a:rPr sz="700" b="0" i="0">
                          <a:solidFill>
                            <a:srgbClr val="262626"/>
                          </a:solidFill>
                          <a:latin typeface="맑은 고딕"/>
                          <a:ea typeface="맑은 고딕"/>
                        </a:rPr>
                        <a:t>팔각형</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0.165 m, 46초, 전환 15회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0.198 m, 63초, 전환 26회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0.245 m, 59초, 전환 25회</a:t>
                      </a:r>
                    </a:p>
                  </a:txBody>
                  <a:tcPr marL="45720" marR="45720" marT="13716" marB="13716" anchor="ctr">
                    <a:solidFill>
                      <a:srgbClr val="EEF3FA"/>
                    </a:solidFill>
                  </a:tcPr>
                </a:tc>
              </a:tr>
              <a:tr h="182880">
                <a:tc>
                  <a:txBody>
                    <a:bodyPr wrap="square"/>
                    <a:lstStyle/>
                    <a:p>
                      <a:pPr algn="l"/>
                      <a:r>
                        <a:rPr sz="700" b="0" i="0">
                          <a:solidFill>
                            <a:srgbClr val="262626"/>
                          </a:solidFill>
                          <a:latin typeface="맑은 고딕"/>
                          <a:ea typeface="맑은 고딕"/>
                        </a:rPr>
                        <a:t>굽이길</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0.130 m, 21초, 전환 9회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0.145 m, 25초, 전환 10회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0.153 m, 23초, 전환 10회</a:t>
                      </a:r>
                    </a:p>
                  </a:txBody>
                  <a:tcPr marL="45720" marR="45720" marT="13716" marB="13716" anchor="ctr">
                    <a:solidFill>
                      <a:srgbClr val="FFFFFF"/>
                    </a:solidFill>
                  </a:tcPr>
                </a:tc>
              </a:tr>
              <a:tr h="182880">
                <a:tc>
                  <a:txBody>
                    <a:bodyPr wrap="square"/>
                    <a:lstStyle/>
                    <a:p>
                      <a:pPr algn="l"/>
                      <a:r>
                        <a:rPr sz="700" b="0" i="0">
                          <a:solidFill>
                            <a:srgbClr val="262626"/>
                          </a:solidFill>
                          <a:latin typeface="맑은 고딕"/>
                          <a:ea typeface="맑은 고딕"/>
                        </a:rPr>
                        <a:t>유턴</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0.141 m, 26초, 전환 10회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0.113 m, 26초, 전환 10회</a:t>
                      </a:r>
                    </a:p>
                  </a:txBody>
                  <a:tcPr marL="45720" marR="45720" marT="13716" marB="13716" anchor="ctr">
                    <a:solidFill>
                      <a:srgbClr val="EEF3FA"/>
                    </a:solidFill>
                  </a:tcPr>
                </a:tc>
                <a:tc>
                  <a:txBody>
                    <a:bodyPr wrap="square"/>
                    <a:lstStyle/>
                    <a:p>
                      <a:pPr algn="ctr"/>
                      <a:r>
                        <a:rPr sz="700" b="0" i="0">
                          <a:solidFill>
                            <a:srgbClr val="262626"/>
                          </a:solidFill>
                          <a:latin typeface="맑은 고딕"/>
                          <a:ea typeface="맑은 고딕"/>
                        </a:rPr>
                        <a:t>10/10 완주, 0.120 m, 21초, 전환 7회</a:t>
                      </a:r>
                    </a:p>
                  </a:txBody>
                  <a:tcPr marL="45720" marR="45720" marT="13716" marB="13716" anchor="ctr">
                    <a:solidFill>
                      <a:srgbClr val="EEF3FA"/>
                    </a:solidFill>
                  </a:tcPr>
                </a:tc>
              </a:tr>
              <a:tr h="182880">
                <a:tc>
                  <a:txBody>
                    <a:bodyPr wrap="square"/>
                    <a:lstStyle/>
                    <a:p>
                      <a:pPr algn="l"/>
                      <a:r>
                        <a:rPr sz="700" b="0" i="0">
                          <a:solidFill>
                            <a:srgbClr val="262626"/>
                          </a:solidFill>
                          <a:latin typeface="맑은 고딕"/>
                          <a:ea typeface="맑은 고딕"/>
                        </a:rPr>
                        <a:t>무작위</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0.168 m, 40초, 전환 15회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0.200 m, 53초, 전환 22회</a:t>
                      </a:r>
                    </a:p>
                  </a:txBody>
                  <a:tcPr marL="45720" marR="45720" marT="13716" marB="13716" anchor="ctr">
                    <a:solidFill>
                      <a:srgbClr val="FFFFFF"/>
                    </a:solidFill>
                  </a:tcPr>
                </a:tc>
                <a:tc>
                  <a:txBody>
                    <a:bodyPr wrap="square"/>
                    <a:lstStyle/>
                    <a:p>
                      <a:pPr algn="ctr"/>
                      <a:r>
                        <a:rPr sz="700" b="0" i="0">
                          <a:solidFill>
                            <a:srgbClr val="262626"/>
                          </a:solidFill>
                          <a:latin typeface="맑은 고딕"/>
                          <a:ea typeface="맑은 고딕"/>
                        </a:rPr>
                        <a:t>10/10 완주, 0.240 m, 51초, 전환 22회</a:t>
                      </a:r>
                    </a:p>
                  </a:txBody>
                  <a:tcPr marL="45720" marR="45720" marT="13716" marB="13716" anchor="ctr">
                    <a:solidFill>
                      <a:srgbClr val="FFFFFF"/>
                    </a:solidFill>
                  </a:tcPr>
                </a:tc>
              </a:tr>
            </a:tbl>
          </a:graphicData>
        </a:graphic>
      </p:graphicFrame>
      <p:sp>
        <p:nvSpPr>
          <p:cNvPr id="6" name="Rounded Rectangle 5"/>
          <p:cNvSpPr/>
          <p:nvPr/>
        </p:nvSpPr>
        <p:spPr>
          <a:xfrm>
            <a:off x="502920" y="4846320"/>
            <a:ext cx="8138159" cy="141732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491032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판정 (검토 에이전트의 확인을 거친 문장)</a:t>
            </a:r>
          </a:p>
        </p:txBody>
      </p:sp>
      <p:sp>
        <p:nvSpPr>
          <p:cNvPr id="8" name="TextBox 7"/>
          <p:cNvSpPr txBox="1"/>
          <p:nvPr/>
        </p:nvSpPr>
        <p:spPr>
          <a:xfrm>
            <a:off x="612648" y="5175504"/>
            <a:ext cx="7918703" cy="10515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750" b="0" i="0">
                <a:solidFill>
                  <a:srgbClr val="262626"/>
                </a:solidFill>
                <a:latin typeface="맑은 고딕"/>
                <a:ea typeface="맑은 고딕"/>
              </a:rPr>
              <a:t>새 규칙은 합친 정책의 오차를 줄이지 않았습니다. 90쌍 중 44 이김, 1 비김, 45 짐이고 최대 오차도 40 대 45입니다. 대신 주행 시간이 16퍼센트 짧습니다. 전환 수도 19퍼센트 적지만 대부분은 주행이 짧아져 판단 기회가 줄어든 결과입니다. 새 규칙에서 로봇은 주행 내내 8퍼센트 빠르게 움직이고 덜 헤맵니다. 왜 그런지는 아직 모릅니다.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어제 옛 커맨더에서 경로 세 개로 얻은 0.08미터 차이는 새 조건에서 재현되지 않았습니다. 그 결과는 처음부터 약했고, 조건이 한꺼번에 여럿 바뀌어 어느 변화 때문인지는 가릴 수 없습니다.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합친 정책은 원본 전문가 열 개보다 오차가 작습니다. 56 이김, 34 짐이고 보통 주행에서는 0.02미터쯤, 평균으로는 0.07미터 줄었습니다. 평균이 큰 것은 전문가 쪽의 큰 실패 때문입니다. 최대 오차 0.8미터 초과가 6번 대 28번입니다. 유턴 한 경로는 오히려 18퍼센트 나빠졌습니다. 오차 차이의 p 0.026은 여러 조합을 함께 비교한 보정을 넘지 못합니다. 완주는 둘 다 90번 모두입니다.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커맨더 최적화 ① 동결 반지름</a:t>
            </a:r>
          </a:p>
        </p:txBody>
      </p:sp>
      <p:sp>
        <p:nvSpPr>
          <p:cNvPr id="3" name="TextBox 2"/>
          <p:cNvSpPr txBox="1"/>
          <p:nvPr/>
        </p:nvSpPr>
        <p:spPr>
          <a:xfrm>
            <a:off x="502920" y="1188720"/>
            <a:ext cx="8138159" cy="548640"/>
          </a:xfrm>
          <a:prstGeom prst="rect">
            <a:avLst/>
          </a:prstGeom>
          <a:noFill/>
        </p:spPr>
        <p:txBody>
          <a:bodyPr wrap="square" lIns="0" rIns="0" tIns="18288" bIns="18288" anchor="t">
            <a:spAutoFit/>
          </a:bodyPr>
          <a:lstStyle/>
          <a:p>
            <a:pPr algn="l">
              <a:lnSpc>
                <a:spcPct val="106000"/>
              </a:lnSpc>
              <a:spcAft>
                <a:spcPts val="200"/>
              </a:spcAft>
            </a:pPr>
            <a:r>
              <a:rPr sz="900" b="0" i="0">
                <a:solidFill>
                  <a:srgbClr val="595959"/>
                </a:solidFill>
                <a:latin typeface="맑은 고딕"/>
                <a:ea typeface="맑은 고딕"/>
              </a:rPr>
              <a:t>합친 정책과 새 규칙, 갱신 0.25초, 수직면 판정으로 고정하고 근접 동결 반지름과 히스테리시스 각도를 바꿔 아홉 경로, 시드 열 개로 90쌍씩 기준(동결 0.85미터, 히스테리시스 34도)과 짝지었습니다.</a:t>
            </a:r>
          </a:p>
        </p:txBody>
      </p:sp>
      <p:graphicFrame>
        <p:nvGraphicFramePr>
          <p:cNvPr id="4" name="Table 3"/>
          <p:cNvGraphicFramePr>
            <a:graphicFrameLocks noGrp="1"/>
          </p:cNvGraphicFramePr>
          <p:nvPr/>
        </p:nvGraphicFramePr>
        <p:xfrm>
          <a:off x="502920" y="1783080"/>
          <a:ext cx="8138160" cy="2468880"/>
        </p:xfrm>
        <a:graphic>
          <a:graphicData uri="http://schemas.openxmlformats.org/drawingml/2006/table">
            <a:tbl>
              <a:tblPr firstRow="1" bandRow="0">
                <a:tableStyleId>{5940675A-B579-460E-94D1-54222C63F5DA}</a:tableStyleId>
              </a:tblPr>
              <a:tblGrid>
                <a:gridCol w="1554480"/>
                <a:gridCol w="2377440"/>
                <a:gridCol w="914400"/>
                <a:gridCol w="822960"/>
                <a:gridCol w="1554480"/>
                <a:gridCol w="914400"/>
              </a:tblGrid>
              <a:tr h="308610">
                <a:tc>
                  <a:txBody>
                    <a:bodyPr wrap="square"/>
                    <a:lstStyle/>
                    <a:p>
                      <a:pPr algn="l"/>
                      <a:r>
                        <a:rPr sz="850" b="1" i="0">
                          <a:solidFill>
                            <a:srgbClr val="FFFFFF"/>
                          </a:solidFill>
                          <a:latin typeface="맑은 고딕"/>
                          <a:ea typeface="맑은 고딕"/>
                        </a:rPr>
                        <a:t>변형</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평균 오차 (이김/비김/짐, 차이, p)</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최대 오차</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시간</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경로별 나아짐/비슷/나빠짐</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완주</a:t>
                      </a:r>
                    </a:p>
                  </a:txBody>
                  <a:tcPr marL="45720" marR="45720" marT="13716" marB="13716" anchor="ctr">
                    <a:solidFill>
                      <a:srgbClr val="203864"/>
                    </a:solidFill>
                  </a:tcPr>
                </a:tc>
              </a:tr>
              <a:tr h="308610">
                <a:tc>
                  <a:txBody>
                    <a:bodyPr wrap="square"/>
                    <a:lstStyle/>
                    <a:p>
                      <a:pPr algn="l"/>
                      <a:r>
                        <a:rPr sz="800" b="0" i="0">
                          <a:solidFill>
                            <a:srgbClr val="262626"/>
                          </a:solidFill>
                          <a:latin typeface="맑은 고딕"/>
                          <a:ea typeface="맑은 고딕"/>
                        </a:rPr>
                        <a:t>동결 0.60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37/38/15, -0.015 m, p=0.003</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34/45/11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22/39/29</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8/0/1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90/90</a:t>
                      </a:r>
                    </a:p>
                  </a:txBody>
                  <a:tcPr marL="45720" marR="45720" marT="13716" marB="13716" anchor="ctr">
                    <a:solidFill>
                      <a:srgbClr val="FFFFFF"/>
                    </a:solidFill>
                  </a:tcPr>
                </a:tc>
              </a:tr>
              <a:tr h="308610">
                <a:tc>
                  <a:txBody>
                    <a:bodyPr wrap="square"/>
                    <a:lstStyle/>
                    <a:p>
                      <a:pPr algn="l"/>
                      <a:r>
                        <a:rPr sz="800" b="0" i="0">
                          <a:solidFill>
                            <a:srgbClr val="262626"/>
                          </a:solidFill>
                          <a:latin typeface="맑은 고딕"/>
                          <a:ea typeface="맑은 고딕"/>
                        </a:rPr>
                        <a:t>동결 0.45 (채택)</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50/20/20, -0.024 m, p&lt;.001</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47/32/11</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30/22/38</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8/0/1</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90/90</a:t>
                      </a:r>
                    </a:p>
                  </a:txBody>
                  <a:tcPr marL="45720" marR="45720" marT="13716" marB="13716" anchor="ctr">
                    <a:solidFill>
                      <a:srgbClr val="EEF3FA"/>
                    </a:solidFill>
                  </a:tcPr>
                </a:tc>
              </a:tr>
              <a:tr h="308610">
                <a:tc>
                  <a:txBody>
                    <a:bodyPr wrap="square"/>
                    <a:lstStyle/>
                    <a:p>
                      <a:pPr algn="l"/>
                      <a:r>
                        <a:rPr sz="800" b="0" i="0">
                          <a:solidFill>
                            <a:srgbClr val="262626"/>
                          </a:solidFill>
                          <a:latin typeface="맑은 고딕"/>
                          <a:ea typeface="맑은 고딕"/>
                        </a:rPr>
                        <a:t>동결 0.35</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54/13/23, -0.026 m, p&lt;.001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48/23/19</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32/15/43</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9/0/0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90/90</a:t>
                      </a:r>
                    </a:p>
                  </a:txBody>
                  <a:tcPr marL="45720" marR="45720" marT="13716" marB="13716" anchor="ctr">
                    <a:solidFill>
                      <a:srgbClr val="FFFFFF"/>
                    </a:solidFill>
                  </a:tcPr>
                </a:tc>
              </a:tr>
              <a:tr h="308610">
                <a:tc>
                  <a:txBody>
                    <a:bodyPr wrap="square"/>
                    <a:lstStyle/>
                    <a:p>
                      <a:pPr algn="l"/>
                      <a:r>
                        <a:rPr sz="800" b="0" i="0">
                          <a:solidFill>
                            <a:srgbClr val="262626"/>
                          </a:solidFill>
                          <a:latin typeface="맑은 고딕"/>
                          <a:ea typeface="맑은 고딕"/>
                        </a:rPr>
                        <a:t>히스테리시스 25도</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48/3/39, -0.013 m, p=0.391</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51/3/36</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29/4/57</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5/0/4</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90/90</a:t>
                      </a:r>
                    </a:p>
                  </a:txBody>
                  <a:tcPr marL="45720" marR="45720" marT="13716" marB="13716" anchor="ctr">
                    <a:solidFill>
                      <a:srgbClr val="EEF3FA"/>
                    </a:solidFill>
                  </a:tcPr>
                </a:tc>
              </a:tr>
              <a:tr h="308610">
                <a:tc>
                  <a:txBody>
                    <a:bodyPr wrap="square"/>
                    <a:lstStyle/>
                    <a:p>
                      <a:pPr algn="l"/>
                      <a:r>
                        <a:rPr sz="800" b="0" i="0">
                          <a:solidFill>
                            <a:srgbClr val="262626"/>
                          </a:solidFill>
                          <a:latin typeface="맑은 고딕"/>
                          <a:ea typeface="맑은 고딕"/>
                        </a:rPr>
                        <a:t>히스테리시스 45도</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23/5/62, +0.039 m, p&lt;.001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31/9/50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45/9/36</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0/1/8</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90/90</a:t>
                      </a:r>
                    </a:p>
                  </a:txBody>
                  <a:tcPr marL="45720" marR="45720" marT="13716" marB="13716" anchor="ctr">
                    <a:solidFill>
                      <a:srgbClr val="FFFFFF"/>
                    </a:solidFill>
                  </a:tcPr>
                </a:tc>
              </a:tr>
              <a:tr h="308610">
                <a:tc>
                  <a:txBody>
                    <a:bodyPr wrap="square"/>
                    <a:lstStyle/>
                    <a:p>
                      <a:pPr algn="l"/>
                      <a:r>
                        <a:rPr sz="800" b="0" i="0">
                          <a:solidFill>
                            <a:srgbClr val="262626"/>
                          </a:solidFill>
                          <a:latin typeface="맑은 고딕"/>
                          <a:ea typeface="맑은 고딕"/>
                        </a:rPr>
                        <a:t>동결 0.60 + 25도</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57/2/31, -0.033 m, p=0.007</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60/1/29</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26/2/62</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7/0/2</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90/90</a:t>
                      </a:r>
                    </a:p>
                  </a:txBody>
                  <a:tcPr marL="45720" marR="45720" marT="13716" marB="13716" anchor="ctr">
                    <a:solidFill>
                      <a:srgbClr val="EEF3FA"/>
                    </a:solidFill>
                  </a:tcPr>
                </a:tc>
              </a:tr>
              <a:tr h="308610">
                <a:tc>
                  <a:txBody>
                    <a:bodyPr wrap="square"/>
                    <a:lstStyle/>
                    <a:p>
                      <a:pPr algn="l"/>
                      <a:r>
                        <a:rPr sz="800" b="0" i="0">
                          <a:solidFill>
                            <a:srgbClr val="262626"/>
                          </a:solidFill>
                          <a:latin typeface="맑은 고딕"/>
                          <a:ea typeface="맑은 고딕"/>
                        </a:rPr>
                        <a:t>동결 0.45 + 30도</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60/6/24, -0.030 m, p&lt;.001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63/7/20</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35/4/51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8/0/1</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90/90</a:t>
                      </a:r>
                    </a:p>
                  </a:txBody>
                  <a:tcPr marL="45720" marR="45720" marT="13716" marB="13716" anchor="ctr">
                    <a:solidFill>
                      <a:srgbClr val="FFFFFF"/>
                    </a:solidFill>
                  </a:tcPr>
                </a:tc>
              </a:tr>
            </a:tbl>
          </a:graphicData>
        </a:graphic>
      </p:graphicFrame>
      <p:sp>
        <p:nvSpPr>
          <p:cNvPr id="5" name="Rounded Rectangle 4"/>
          <p:cNvSpPr/>
          <p:nvPr/>
        </p:nvSpPr>
        <p:spPr>
          <a:xfrm>
            <a:off x="502920" y="4389120"/>
            <a:ext cx="8138159" cy="1874519"/>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45312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판정 (검토 에이전트의 확인을 거친 문장)</a:t>
            </a:r>
          </a:p>
        </p:txBody>
      </p:sp>
      <p:sp>
        <p:nvSpPr>
          <p:cNvPr id="7" name="TextBox 6"/>
          <p:cNvSpPr txBox="1"/>
          <p:nvPr/>
        </p:nvSpPr>
        <p:spPr>
          <a:xfrm>
            <a:off x="612648" y="4718304"/>
            <a:ext cx="7918703" cy="150876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50" b="0" i="0">
                <a:solidFill>
                  <a:srgbClr val="262626"/>
                </a:solidFill>
                <a:latin typeface="맑은 고딕"/>
                <a:ea typeface="맑은 고딕"/>
              </a:rPr>
              <a:t>동결 반지름을 0.85에서 0.45미터로 줄이면 평균 오차가 90쌍 중 50쌍에서 줄고 20쌍은 같고 20쌍은 늘었습니다. 평균 0.024미터 개선이고 p는 0.001보다 작습니다. 아홉 경로 중 일곱이 나아지고 나빠진 경로는 없으며 시간은 달라지지 않았습니다. 미리 정한 채택 기준을 채워 기본값으로 삼았습니다.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0.35는 0.45와 차이가 없었습니다. 히스테리시스를 25도나 30도로 줄이면 전환이 늘어 시간이 나빠지고, 45도로 늘리면 오차가 나빠집니다.</a:t>
            </a:r>
          </a:p>
          <a:p>
            <a:pPr algn="l" marL="146304" indent="-146304">
              <a:lnSpc>
                <a:spcPct val="106000"/>
              </a:lnSpc>
              <a:spcAft>
                <a:spcPts val="300"/>
              </a:spcAft>
              <a:buClr>
                <a:srgbClr val="2E75B6"/>
              </a:buClr>
              <a:buChar char="▪"/>
            </a:pPr>
            <a:r>
              <a:rPr sz="850" b="0" i="0">
                <a:solidFill>
                  <a:srgbClr val="262626"/>
                </a:solidFill>
                <a:latin typeface="맑은 고딕"/>
                <a:ea typeface="맑은 고딕"/>
              </a:rPr>
              <a:t>이 표는 정책 하나(합친 정책)와 경로 크기 2미터에서 얻은 것입니다. 다른 정책이나 더 큰 경로에서는 다시 확인해야 합니다.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250" b="1" i="0">
                <a:solidFill>
                  <a:srgbClr val="203864"/>
                </a:solidFill>
                <a:latin typeface="맑은 고딕"/>
                <a:ea typeface="맑은 고딕"/>
              </a:rPr>
              <a:t>gait 전환 학습 (20260911) ― 커맨더 최적화 ② 앞보기 점</a:t>
            </a:r>
          </a:p>
        </p:txBody>
      </p:sp>
      <p:sp>
        <p:nvSpPr>
          <p:cNvPr id="3" name="TextBox 2"/>
          <p:cNvSpPr txBox="1"/>
          <p:nvPr/>
        </p:nvSpPr>
        <p:spPr>
          <a:xfrm>
            <a:off x="502920" y="1188720"/>
            <a:ext cx="8138159" cy="64008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남은 큰 오차가 어디서 나는지 90번의 궤적을 다시 봤습니다. 최대 오차가 0.6미터를 넘은 22번 중 20번이 마지막 코너를 지나고 3초 넘게 흐른 뒤, 구간 중간에서 났습니다. 웨이포인트를 겨냥하면 34도 히스테리시스가 남은 거리에 비례한 옆 오차를 허용하므로, 선분 위 가까운 점을 겨냥하는 앞보기를 시험했습니다. 다만 실제 옆 오차는 이 허용치보다 두세 배 크고, 로봇이 명령한 방향에서 34도 넘게 벗어나 움직인 시간이 전체의 15퍼센트입니다. 남은 오차는 겨냥 방식과 보행의 방향 오차가 함께 만든 것입니다.</a:t>
            </a:r>
          </a:p>
        </p:txBody>
      </p:sp>
      <p:pic>
        <p:nvPicPr>
          <p:cNvPr id="4" name="Picture 3" descr="trajectory.png"/>
          <p:cNvPicPr>
            <a:picLocks noChangeAspect="1"/>
          </p:cNvPicPr>
          <p:nvPr/>
        </p:nvPicPr>
        <p:blipFill>
          <a:blip r:embed="rId2"/>
          <a:stretch>
            <a:fillRect/>
          </a:stretch>
        </p:blipFill>
        <p:spPr>
          <a:xfrm>
            <a:off x="1353094" y="1874519"/>
            <a:ext cx="2277291" cy="1417320"/>
          </a:xfrm>
          <a:prstGeom prst="rect">
            <a:avLst/>
          </a:prstGeom>
        </p:spPr>
      </p:pic>
      <p:pic>
        <p:nvPicPr>
          <p:cNvPr id="5" name="Picture 4" descr="trajectory.png"/>
          <p:cNvPicPr>
            <a:picLocks noChangeAspect="1"/>
          </p:cNvPicPr>
          <p:nvPr/>
        </p:nvPicPr>
        <p:blipFill>
          <a:blip r:embed="rId3"/>
          <a:stretch>
            <a:fillRect/>
          </a:stretch>
        </p:blipFill>
        <p:spPr>
          <a:xfrm>
            <a:off x="5513614" y="1874519"/>
            <a:ext cx="2277291" cy="1417320"/>
          </a:xfrm>
          <a:prstGeom prst="rect">
            <a:avLst/>
          </a:prstGeom>
        </p:spPr>
      </p:pic>
      <p:sp>
        <p:nvSpPr>
          <p:cNvPr id="6" name="TextBox 5"/>
          <p:cNvSpPr txBox="1"/>
          <p:nvPr/>
        </p:nvSpPr>
        <p:spPr>
          <a:xfrm>
            <a:off x="502920" y="3310128"/>
            <a:ext cx="8138159" cy="256032"/>
          </a:xfrm>
          <a:prstGeom prst="rect">
            <a:avLst/>
          </a:prstGeom>
          <a:noFill/>
        </p:spPr>
        <p:txBody>
          <a:bodyPr wrap="square" lIns="0" rIns="0" tIns="18288" bIns="18288" anchor="t">
            <a:spAutoFit/>
          </a:bodyPr>
          <a:lstStyle/>
          <a:p>
            <a:pPr algn="l">
              <a:lnSpc>
                <a:spcPct val="106000"/>
              </a:lnSpc>
              <a:spcAft>
                <a:spcPts val="200"/>
              </a:spcAft>
            </a:pPr>
            <a:r>
              <a:rPr sz="850" b="0" i="0">
                <a:solidFill>
                  <a:srgbClr val="8A8A8A"/>
                </a:solidFill>
                <a:latin typeface="맑은 고딕"/>
                <a:ea typeface="맑은 고딕"/>
              </a:rPr>
              <a:t>지그재그 시드 7. 왼쪽은 웨이포인트 겨냥(최대 오차 1.48미터, 56초), 오른쪽은 앞보기 0.5미터(최대 0.27미터, 29초)입니다. 불감대는 옆 오차가 문턱을 넘을 때만 앞보기 점을 겨냥하는 변형입니다. 큰 실패는 최대 오차 0.8미터 초과 횟수(변형 대 기준)입니다.</a:t>
            </a:r>
          </a:p>
        </p:txBody>
      </p:sp>
      <p:graphicFrame>
        <p:nvGraphicFramePr>
          <p:cNvPr id="7" name="Table 6"/>
          <p:cNvGraphicFramePr>
            <a:graphicFrameLocks noGrp="1"/>
          </p:cNvGraphicFramePr>
          <p:nvPr/>
        </p:nvGraphicFramePr>
        <p:xfrm>
          <a:off x="502920" y="3639312"/>
          <a:ext cx="8138159" cy="1188720"/>
        </p:xfrm>
        <a:graphic>
          <a:graphicData uri="http://schemas.openxmlformats.org/drawingml/2006/table">
            <a:tbl>
              <a:tblPr firstRow="1" bandRow="0">
                <a:tableStyleId>{5940675A-B579-460E-94D1-54222C63F5DA}</a:tableStyleId>
              </a:tblPr>
              <a:tblGrid>
                <a:gridCol w="1920240"/>
                <a:gridCol w="1874519"/>
                <a:gridCol w="777240"/>
                <a:gridCol w="685800"/>
                <a:gridCol w="685800"/>
                <a:gridCol w="777240"/>
                <a:gridCol w="914400"/>
                <a:gridCol w="502920"/>
              </a:tblGrid>
              <a:tr h="198120">
                <a:tc>
                  <a:txBody>
                    <a:bodyPr wrap="square"/>
                    <a:lstStyle/>
                    <a:p>
                      <a:pPr algn="l"/>
                      <a:r>
                        <a:rPr sz="800" b="1" i="0">
                          <a:solidFill>
                            <a:srgbClr val="FFFFFF"/>
                          </a:solidFill>
                          <a:latin typeface="맑은 고딕"/>
                          <a:ea typeface="맑은 고딕"/>
                        </a:rPr>
                        <a:t>변형 (기준: 웨이포인트 겨냥, 90쌍)</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평균 오차 (이김/비김/짐, 차이, p)</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최대 오차</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시간</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전환 수</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경로별 +/=/−</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큰 실패</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완주</a:t>
                      </a:r>
                    </a:p>
                  </a:txBody>
                  <a:tcPr marL="45720" marR="45720" marT="13716" marB="13716" anchor="ctr">
                    <a:solidFill>
                      <a:srgbClr val="203864"/>
                    </a:solidFill>
                  </a:tcPr>
                </a:tc>
              </a:tr>
              <a:tr h="198120">
                <a:tc>
                  <a:txBody>
                    <a:bodyPr wrap="square"/>
                    <a:lstStyle/>
                    <a:p>
                      <a:pPr algn="l"/>
                      <a:r>
                        <a:rPr sz="750" b="0" i="0">
                          <a:solidFill>
                            <a:srgbClr val="262626"/>
                          </a:solidFill>
                          <a:latin typeface="맑은 고딕"/>
                          <a:ea typeface="맑은 고딕"/>
                        </a:rPr>
                        <a:t>앞보기 0.35 m</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72/1/17, -0.051 m, p&lt;.001</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64/0/26</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22/0/68</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16/3/71</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9/0/0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0 대 6</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90/90</a:t>
                      </a:r>
                    </a:p>
                  </a:txBody>
                  <a:tcPr marL="45720" marR="45720" marT="13716" marB="13716" anchor="ctr">
                    <a:solidFill>
                      <a:srgbClr val="FFFFFF"/>
                    </a:solidFill>
                  </a:tcPr>
                </a:tc>
              </a:tr>
              <a:tr h="198120">
                <a:tc>
                  <a:txBody>
                    <a:bodyPr wrap="square"/>
                    <a:lstStyle/>
                    <a:p>
                      <a:pPr algn="l"/>
                      <a:r>
                        <a:rPr sz="750" b="0" i="0">
                          <a:solidFill>
                            <a:srgbClr val="262626"/>
                          </a:solidFill>
                          <a:latin typeface="맑은 고딕"/>
                          <a:ea typeface="맑은 고딕"/>
                        </a:rPr>
                        <a:t>앞보기 0.5 m</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66/1/23, -0.036 m, p&lt;.001</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56/2/32</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30/2/58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20/6/64</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8/0/1</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1 대 6</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90/90</a:t>
                      </a:r>
                    </a:p>
                  </a:txBody>
                  <a:tcPr marL="45720" marR="45720" marT="13716" marB="13716" anchor="ctr">
                    <a:solidFill>
                      <a:srgbClr val="EEF3FA"/>
                    </a:solidFill>
                  </a:tcPr>
                </a:tc>
              </a:tr>
              <a:tr h="198120">
                <a:tc>
                  <a:txBody>
                    <a:bodyPr wrap="square"/>
                    <a:lstStyle/>
                    <a:p>
                      <a:pPr algn="l"/>
                      <a:r>
                        <a:rPr sz="750" b="0" i="0">
                          <a:solidFill>
                            <a:srgbClr val="262626"/>
                          </a:solidFill>
                          <a:latin typeface="맑은 고딕"/>
                          <a:ea typeface="맑은 고딕"/>
                        </a:rPr>
                        <a:t>앞보기 0.65 m</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56/3/31, -0.024 m, p=0.010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62/5/23</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35/4/51</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29/4/57</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7/1/1</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2 대 6</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90/90</a:t>
                      </a:r>
                    </a:p>
                  </a:txBody>
                  <a:tcPr marL="45720" marR="45720" marT="13716" marB="13716" anchor="ctr">
                    <a:solidFill>
                      <a:srgbClr val="FFFFFF"/>
                    </a:solidFill>
                  </a:tcPr>
                </a:tc>
              </a:tr>
              <a:tr h="198120">
                <a:tc>
                  <a:txBody>
                    <a:bodyPr wrap="square"/>
                    <a:lstStyle/>
                    <a:p>
                      <a:pPr algn="l"/>
                      <a:r>
                        <a:rPr sz="750" b="0" i="0">
                          <a:solidFill>
                            <a:srgbClr val="262626"/>
                          </a:solidFill>
                          <a:latin typeface="맑은 고딕"/>
                          <a:ea typeface="맑은 고딕"/>
                        </a:rPr>
                        <a:t>앞보기 0.8 m</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48/7/35, -0.018 m, p=0.187</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48/10/32</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36/8/46</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30/12/48</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6/1/2</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3 대 6</a:t>
                      </a:r>
                    </a:p>
                  </a:txBody>
                  <a:tcPr marL="45720" marR="45720" marT="13716" marB="13716" anchor="ctr">
                    <a:solidFill>
                      <a:srgbClr val="EEF3FA"/>
                    </a:solidFill>
                  </a:tcPr>
                </a:tc>
                <a:tc>
                  <a:txBody>
                    <a:bodyPr wrap="square"/>
                    <a:lstStyle/>
                    <a:p>
                      <a:pPr algn="ctr"/>
                      <a:r>
                        <a:rPr sz="750" b="0" i="0">
                          <a:solidFill>
                            <a:srgbClr val="262626"/>
                          </a:solidFill>
                          <a:latin typeface="맑은 고딕"/>
                          <a:ea typeface="맑은 고딕"/>
                        </a:rPr>
                        <a:t>90/90</a:t>
                      </a:r>
                    </a:p>
                  </a:txBody>
                  <a:tcPr marL="45720" marR="45720" marT="13716" marB="13716" anchor="ctr">
                    <a:solidFill>
                      <a:srgbClr val="EEF3FA"/>
                    </a:solidFill>
                  </a:tcPr>
                </a:tc>
              </a:tr>
              <a:tr h="198120">
                <a:tc>
                  <a:txBody>
                    <a:bodyPr wrap="square"/>
                    <a:lstStyle/>
                    <a:p>
                      <a:pPr algn="l"/>
                      <a:r>
                        <a:rPr sz="750" b="0" i="0">
                          <a:solidFill>
                            <a:srgbClr val="262626"/>
                          </a:solidFill>
                          <a:latin typeface="맑은 고딕"/>
                          <a:ea typeface="맑은 고딕"/>
                        </a:rPr>
                        <a:t>앞보기 0.5 m + 불감대 0.25 m</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62/4/24, -0.029 m, p&lt;.001</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61/5/24</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38/6/46</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32/11/47</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9/0/0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2 대 6</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90/90</a:t>
                      </a:r>
                    </a:p>
                  </a:txBody>
                  <a:tcPr marL="45720" marR="45720" marT="13716" marB="13716" anchor="ctr">
                    <a:solidFill>
                      <a:srgbClr val="FFFFFF"/>
                    </a:solidFill>
                  </a:tcPr>
                </a:tc>
              </a:tr>
            </a:tbl>
          </a:graphicData>
        </a:graphic>
      </p:graphicFrame>
      <p:sp>
        <p:nvSpPr>
          <p:cNvPr id="8" name="Rounded Rectangle 7"/>
          <p:cNvSpPr/>
          <p:nvPr/>
        </p:nvSpPr>
        <p:spPr>
          <a:xfrm>
            <a:off x="502920" y="4873752"/>
            <a:ext cx="8138159" cy="1389888"/>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4937760"/>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판정 (검토 에이전트의 확인을 거친 문장)</a:t>
            </a:r>
          </a:p>
        </p:txBody>
      </p:sp>
      <p:sp>
        <p:nvSpPr>
          <p:cNvPr id="10" name="TextBox 9"/>
          <p:cNvSpPr txBox="1"/>
          <p:nvPr/>
        </p:nvSpPr>
        <p:spPr>
          <a:xfrm>
            <a:off x="612648" y="5202936"/>
            <a:ext cx="7918703" cy="1024128"/>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750" b="0" i="0">
                <a:solidFill>
                  <a:srgbClr val="262626"/>
                </a:solidFill>
                <a:latin typeface="맑은 고딕"/>
                <a:ea typeface="맑은 고딕"/>
              </a:rPr>
              <a:t>앞보기 점을 겨냥하면 오차가 줄고 시간이 늘어나는 맞바꿈이 생깁니다. 시험한 0.35미터부터 0.8미터 사이에서는 거리를 줄일수록 오차가 더 줄고 시간이 더 늘었습니다. 큰 실패도 6번에서 3, 2, 1, 0번으로 함께 줄었습니다. 그림의 극적인 개선은 앞보기 0.5미터 단독의 사례입니다.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불감대 변형은 오차 17퍼센트, 최대 오차 18퍼센트가 줄고 큰 실패가 6번에서 2번이며 아홉 경로 모두 오차가 줄었습니다. 시간은 평균 3.8초, 10퍼센트 늘었습니다. 부호 검정으로는 확정하지 못했지만 비용이 없다는 뜻은 아닙니다. 장애물은 18초, 굽이길은 10초 늘었습니다. 앞보기 0.65미터와는 어느 지표로도 차이를 찾지 못했습니다.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기본값은 바꾸지 않았습니다. 사전 규칙에는 시간 조건이 없어서 불감대 변형은 규칙을 채우지만, 시간이 느는 변형이라 사용자 결정으로 남겼습니다. 정확도를 가장 앞에 두면 앞보기 0.35미터가 제일 좋습니다. 중간을 고르면 0.65미터입니다.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한계입니다. 앞보기라는 생각을 이 90번 주행의 큰 오차를 보고 만들었고 같은 경로와 시드로 채점했으므로 이득이 실제보다 좋게 나왔을 수 있습니다. 홀름 보정을 하면 0.35, 0.5, 불감대 변형만 남고 0.65는 탈락합니다. 정책 하나, 경로 크기 2미터, 갱신 주기 0.25초에서만 시험했습니다.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합친 정책 넷째 단계</a:t>
            </a:r>
          </a:p>
        </p:txBody>
      </p:sp>
      <p:sp>
        <p:nvSpPr>
          <p:cNvPr id="3" name="TextBox 2"/>
          <p:cNvSpPr txBox="1"/>
          <p:nvPr/>
        </p:nvSpPr>
        <p:spPr>
          <a:xfrm>
            <a:off x="502920" y="1188720"/>
            <a:ext cx="8138159" cy="54864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셋째 단계 마지막 모델에서 이어서, 전환 시작 위상 규칙만 새 규칙(가로 먼저)으로 바꾸고 4천만 스텝을 더 학습했습니다. 학습률 2e-4, 에포크 3, KL 한도 0.04은 셋째 단계와 같습니다. 셋째 단계는 지금 규칙으로 학습했고 새 규칙으로 잰 벤치마크가 조금 나빠 보였기 때문에, 그 틈이 메워지는지를 판정 항목으로 삼았습니다. 검토 결과 그 틈 자체가 40판 잡음 안이었습니다. 학습 중 잰 전환 뒤 실패율(확률 정책)은 0.061에서 0.049로 내려갔고, 그 하락은 학습의 마지막 30퍼센트에서만 났습니다.</a:t>
            </a:r>
          </a:p>
        </p:txBody>
      </p:sp>
      <p:graphicFrame>
        <p:nvGraphicFramePr>
          <p:cNvPr id="4" name="Table 3"/>
          <p:cNvGraphicFramePr>
            <a:graphicFrameLocks noGrp="1"/>
          </p:cNvGraphicFramePr>
          <p:nvPr/>
        </p:nvGraphicFramePr>
        <p:xfrm>
          <a:off x="502920" y="1828800"/>
          <a:ext cx="8138160" cy="1645920"/>
        </p:xfrm>
        <a:graphic>
          <a:graphicData uri="http://schemas.openxmlformats.org/drawingml/2006/table">
            <a:tbl>
              <a:tblPr firstRow="1" bandRow="0">
                <a:tableStyleId>{5940675A-B579-460E-94D1-54222C63F5DA}</a:tableStyleId>
              </a:tblPr>
              <a:tblGrid>
                <a:gridCol w="1097280"/>
                <a:gridCol w="822960"/>
                <a:gridCol w="1463040"/>
                <a:gridCol w="822960"/>
                <a:gridCol w="1645920"/>
                <a:gridCol w="2286000"/>
              </a:tblGrid>
              <a:tr h="329184">
                <a:tc>
                  <a:txBody>
                    <a:bodyPr wrap="square"/>
                    <a:lstStyle/>
                    <a:p>
                      <a:pPr algn="l"/>
                      <a:r>
                        <a:rPr sz="850" b="1" i="0">
                          <a:solidFill>
                            <a:srgbClr val="FFFFFF"/>
                          </a:solidFill>
                          <a:latin typeface="맑은 고딕"/>
                          <a:ea typeface="맑은 고딕"/>
                        </a:rPr>
                        <a:t>고정 시드 40판</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규칙</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점수 평균 ± 편차</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완주 비율</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전환 뒤 100스텝 안 낙상</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대각 두 방향(diag_fr, diag_bl)으로 바꾼 직후 낙상</a:t>
                      </a:r>
                    </a:p>
                  </a:txBody>
                  <a:tcPr marL="45720" marR="45720" marT="13716" marB="13716" anchor="ctr">
                    <a:solidFill>
                      <a:srgbClr val="203864"/>
                    </a:solidFill>
                  </a:tcPr>
                </a:tc>
              </a:tr>
              <a:tr h="329184">
                <a:tc>
                  <a:txBody>
                    <a:bodyPr wrap="square"/>
                    <a:lstStyle/>
                    <a:p>
                      <a:pPr algn="l"/>
                      <a:r>
                        <a:rPr sz="800" b="0" i="0">
                          <a:solidFill>
                            <a:srgbClr val="262626"/>
                          </a:solidFill>
                          <a:latin typeface="맑은 고딕"/>
                          <a:ea typeface="맑은 고딕"/>
                        </a:rPr>
                        <a:t>S3 final</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지금 규칙</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16,414 ± 17,063</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0.75</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0.066 (76회 중)</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0.06 (17회 중)</a:t>
                      </a:r>
                    </a:p>
                  </a:txBody>
                  <a:tcPr marL="45720" marR="45720" marT="13716" marB="13716" anchor="ctr">
                    <a:solidFill>
                      <a:srgbClr val="FFFFFF"/>
                    </a:solidFill>
                  </a:tcPr>
                </a:tc>
              </a:tr>
              <a:tr h="329184">
                <a:tc>
                  <a:txBody>
                    <a:bodyPr wrap="square"/>
                    <a:lstStyle/>
                    <a:p>
                      <a:pPr algn="l"/>
                      <a:r>
                        <a:rPr sz="800" b="0" i="0">
                          <a:solidFill>
                            <a:srgbClr val="262626"/>
                          </a:solidFill>
                          <a:latin typeface="맑은 고딕"/>
                          <a:ea typeface="맑은 고딕"/>
                        </a:rPr>
                        <a:t>S4 final</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지금 규칙</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15,750 ± 16,417</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0.75</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0.105 (76회 중)</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0.22 (18회 중)</a:t>
                      </a:r>
                    </a:p>
                  </a:txBody>
                  <a:tcPr marL="45720" marR="45720" marT="13716" marB="13716" anchor="ctr">
                    <a:solidFill>
                      <a:srgbClr val="EEF3FA"/>
                    </a:solidFill>
                  </a:tcPr>
                </a:tc>
              </a:tr>
              <a:tr h="329184">
                <a:tc>
                  <a:txBody>
                    <a:bodyPr wrap="square"/>
                    <a:lstStyle/>
                    <a:p>
                      <a:pPr algn="l"/>
                      <a:r>
                        <a:rPr sz="800" b="0" i="0">
                          <a:solidFill>
                            <a:srgbClr val="262626"/>
                          </a:solidFill>
                          <a:latin typeface="맑은 고딕"/>
                          <a:ea typeface="맑은 고딕"/>
                        </a:rPr>
                        <a:t>S3 final</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새 규칙</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14,635 ± 17,506</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0.72</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0.096 (73회 중)</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0.22 (18회 중)</a:t>
                      </a:r>
                    </a:p>
                  </a:txBody>
                  <a:tcPr marL="45720" marR="45720" marT="13716" marB="13716" anchor="ctr">
                    <a:solidFill>
                      <a:srgbClr val="FFFFFF"/>
                    </a:solidFill>
                  </a:tcPr>
                </a:tc>
              </a:tr>
              <a:tr h="329184">
                <a:tc>
                  <a:txBody>
                    <a:bodyPr wrap="square"/>
                    <a:lstStyle/>
                    <a:p>
                      <a:pPr algn="l"/>
                      <a:r>
                        <a:rPr sz="800" b="0" i="0">
                          <a:solidFill>
                            <a:srgbClr val="262626"/>
                          </a:solidFill>
                          <a:latin typeface="맑은 고딕"/>
                          <a:ea typeface="맑은 고딕"/>
                        </a:rPr>
                        <a:t>S4 final</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새 규칙</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17,610 ± 11,559</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0.80</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0.082 (73회 중)</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0.18 (17회 중)</a:t>
                      </a:r>
                    </a:p>
                  </a:txBody>
                  <a:tcPr marL="45720" marR="45720" marT="13716" marB="13716" anchor="ctr">
                    <a:solidFill>
                      <a:srgbClr val="EEF3FA"/>
                    </a:solidFill>
                  </a:tcPr>
                </a:tc>
              </a:tr>
            </a:tbl>
          </a:graphicData>
        </a:graphic>
      </p:graphicFrame>
      <p:graphicFrame>
        <p:nvGraphicFramePr>
          <p:cNvPr id="5" name="Table 4"/>
          <p:cNvGraphicFramePr>
            <a:graphicFrameLocks noGrp="1"/>
          </p:cNvGraphicFramePr>
          <p:nvPr/>
        </p:nvGraphicFramePr>
        <p:xfrm>
          <a:off x="502920" y="3566160"/>
          <a:ext cx="8138160" cy="777240"/>
        </p:xfrm>
        <a:graphic>
          <a:graphicData uri="http://schemas.openxmlformats.org/drawingml/2006/table">
            <a:tbl>
              <a:tblPr firstRow="1" bandRow="0">
                <a:tableStyleId>{5940675A-B579-460E-94D1-54222C63F5DA}</a:tableStyleId>
              </a:tblPr>
              <a:tblGrid>
                <a:gridCol w="2103120"/>
                <a:gridCol w="1188720"/>
                <a:gridCol w="1097280"/>
                <a:gridCol w="1097280"/>
                <a:gridCol w="640080"/>
                <a:gridCol w="548640"/>
                <a:gridCol w="640080"/>
                <a:gridCol w="822960"/>
              </a:tblGrid>
              <a:tr h="388620">
                <a:tc>
                  <a:txBody>
                    <a:bodyPr wrap="square"/>
                    <a:lstStyle/>
                    <a:p>
                      <a:pPr algn="l"/>
                      <a:r>
                        <a:rPr sz="800" b="1" i="0">
                          <a:solidFill>
                            <a:srgbClr val="FFFFFF"/>
                          </a:solidFill>
                          <a:latin typeface="맑은 고딕"/>
                          <a:ea typeface="맑은 고딕"/>
                        </a:rPr>
                        <a:t>경로 추종 (같은 시드 짝지음)</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90쌍 전체</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네모·별·장애물</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새 경로 여섯</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최대 오차</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시간</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경로별</a:t>
                      </a:r>
                    </a:p>
                  </a:txBody>
                  <a:tcPr marL="45720" marR="45720" marT="13716" marB="13716" anchor="ctr">
                    <a:solidFill>
                      <a:srgbClr val="203864"/>
                    </a:solidFill>
                  </a:tcPr>
                </a:tc>
                <a:tc>
                  <a:txBody>
                    <a:bodyPr wrap="square"/>
                    <a:lstStyle/>
                    <a:p>
                      <a:pPr algn="ctr"/>
                      <a:r>
                        <a:rPr sz="800" b="1" i="0">
                          <a:solidFill>
                            <a:srgbClr val="FFFFFF"/>
                          </a:solidFill>
                          <a:latin typeface="맑은 고딕"/>
                          <a:ea typeface="맑은 고딕"/>
                        </a:rPr>
                        <a:t>완주</a:t>
                      </a:r>
                    </a:p>
                  </a:txBody>
                  <a:tcPr marL="45720" marR="45720" marT="13716" marB="13716" anchor="ctr">
                    <a:solidFill>
                      <a:srgbClr val="203864"/>
                    </a:solidFill>
                  </a:tcPr>
                </a:tc>
              </a:tr>
              <a:tr h="388620">
                <a:tc>
                  <a:txBody>
                    <a:bodyPr wrap="square"/>
                    <a:lstStyle/>
                    <a:p>
                      <a:pPr algn="l"/>
                      <a:r>
                        <a:rPr sz="750" b="0" i="0">
                          <a:solidFill>
                            <a:srgbClr val="262626"/>
                          </a:solidFill>
                          <a:latin typeface="맑은 고딕"/>
                          <a:ea typeface="맑은 고딕"/>
                        </a:rPr>
                        <a:t>넷째 단계 vs 셋째 단계 (둘 다 새 규칙, 새 기본값)</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41/2/47, +0.007 m, p=0.594</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14/1/15, +0.002 m, p=1.000</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27/1/32, +0.010 m, p=0.603</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46/0/44</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44/0/46</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5/0/4</a:t>
                      </a:r>
                    </a:p>
                  </a:txBody>
                  <a:tcPr marL="45720" marR="45720" marT="13716" marB="13716" anchor="ctr">
                    <a:solidFill>
                      <a:srgbClr val="FFFFFF"/>
                    </a:solidFill>
                  </a:tcPr>
                </a:tc>
                <a:tc>
                  <a:txBody>
                    <a:bodyPr wrap="square"/>
                    <a:lstStyle/>
                    <a:p>
                      <a:pPr algn="ctr"/>
                      <a:r>
                        <a:rPr sz="750" b="0" i="0">
                          <a:solidFill>
                            <a:srgbClr val="262626"/>
                          </a:solidFill>
                          <a:latin typeface="맑은 고딕"/>
                          <a:ea typeface="맑은 고딕"/>
                        </a:rPr>
                        <a:t>90/90 대 90/90</a:t>
                      </a:r>
                    </a:p>
                  </a:txBody>
                  <a:tcPr marL="45720" marR="45720" marT="13716" marB="13716" anchor="ctr">
                    <a:solidFill>
                      <a:srgbClr val="FFFFFF"/>
                    </a:solidFill>
                  </a:tcPr>
                </a:tc>
              </a:tr>
            </a:tbl>
          </a:graphicData>
        </a:graphic>
      </p:graphicFrame>
      <p:sp>
        <p:nvSpPr>
          <p:cNvPr id="6" name="Rounded Rectangle 5"/>
          <p:cNvSpPr/>
          <p:nvPr/>
        </p:nvSpPr>
        <p:spPr>
          <a:xfrm>
            <a:off x="502920" y="4434840"/>
            <a:ext cx="8138159" cy="18288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449884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판정 (검토 에이전트의 확인을 거친 문장)</a:t>
            </a:r>
          </a:p>
        </p:txBody>
      </p:sp>
      <p:sp>
        <p:nvSpPr>
          <p:cNvPr id="8" name="TextBox 7"/>
          <p:cNvSpPr txBox="1"/>
          <p:nvPr/>
        </p:nvSpPr>
        <p:spPr>
          <a:xfrm>
            <a:off x="612648" y="4764024"/>
            <a:ext cx="7918703" cy="14630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750" b="0" i="0">
                <a:solidFill>
                  <a:srgbClr val="262626"/>
                </a:solidFill>
                <a:latin typeface="맑은 고딕"/>
                <a:ea typeface="맑은 고딕"/>
              </a:rPr>
              <a:t>넷째 단계의 이득도 손해도 확인되지 않았습니다. 새 규칙에서는 넷째 단계가 모든 집계에서 조금 앞서지만, 같은 시드끼리 짝지으면 어느 항목도 우연과 구분되지 않습니다. 점수는 22판 이김 18판 짐이고, 평균 점수 차이의 절반 이상은 시드 하나에서 나왔습니다.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지금 규칙에서는 넘어진 판이 40판 중 10판으로 둘이 같고 완주율도 같습니다. 다만 전환 직후 낙상이 76번 중 8번 대 5번으로 조금 늘었고, 늘어난 몫은 모두 전진 오른쪽 대각과 후진 왼쪽 대각으로 바꾼 직후입니다. 새 규칙에 맞춰진 탓인지는 이 표본으로 판단할 수 없습니다.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경로 추종에서는 차이를 확인하지 못했습니다. 90쌍에서 41 이김 47 짐이고, 시간과 전환 횟수도 같고, 완주는 둘 다 90번 모두입니다. 셋째 단계 쪽은 넷째 단계와 같은 스크립트로 다시 돌려 확인했습니다.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셋째 단계에 새 규칙을 쓰면 벤치마크가 나빠진다는 출발 전제도 확인된 것이 아닙니다. 짝지으면 새 규칙만 넘어진 판 6, 지금 규칙만 넘어진 판 4입니다. 40판으로는 실패율 0.03 차이를 가릴 힘이 없고, 잡으려면 약 700판이 필요합니다.</a:t>
            </a:r>
          </a:p>
          <a:p>
            <a:pPr algn="l" marL="146304" indent="-146304">
              <a:lnSpc>
                <a:spcPct val="106000"/>
              </a:lnSpc>
              <a:spcAft>
                <a:spcPts val="300"/>
              </a:spcAft>
              <a:buClr>
                <a:srgbClr val="2E75B6"/>
              </a:buClr>
              <a:buChar char="▪"/>
            </a:pPr>
            <a:r>
              <a:rPr sz="750" b="0" i="0">
                <a:solidFill>
                  <a:srgbClr val="262626"/>
                </a:solidFill>
                <a:latin typeface="맑은 고딕"/>
                <a:ea typeface="맑은 고딕"/>
              </a:rPr>
              <a:t>바꿀 근거가 없으므로 대표 모델은 셋째 단계 마지막 모델을 그대로 둡니다. 함께 쓸 규칙은 정해야 합니다. 경로 추종이 목적이면 새 규칙(시간 16퍼센트 단축), 벤치마크 재현이면 지금 규칙입니다. 넷째 단계 결과는 runs 폴더에 두고 정리는 승인 뒤에 합니다.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600" b="1" i="0">
                <a:solidFill>
                  <a:srgbClr val="203864"/>
                </a:solidFill>
                <a:latin typeface="맑은 고딕"/>
                <a:ea typeface="맑은 고딕"/>
              </a:rPr>
              <a:t>gait 전환 학습 (20260911) ― 다음 단계</a:t>
            </a:r>
          </a:p>
        </p:txBody>
      </p:sp>
      <p:sp>
        <p:nvSpPr>
          <p:cNvPr id="3" name="Rounded Rectangle 2"/>
          <p:cNvSpPr/>
          <p:nvPr/>
        </p:nvSpPr>
        <p:spPr>
          <a:xfrm>
            <a:off x="502920" y="1188720"/>
            <a:ext cx="8138159" cy="877824"/>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12648" y="1472184"/>
            <a:ext cx="310896" cy="31089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1</a:t>
            </a:r>
          </a:p>
        </p:txBody>
      </p:sp>
      <p:sp>
        <p:nvSpPr>
          <p:cNvPr id="5" name="TextBox 4"/>
          <p:cNvSpPr txBox="1"/>
          <p:nvPr/>
        </p:nvSpPr>
        <p:spPr>
          <a:xfrm>
            <a:off x="1051560" y="1261872"/>
            <a:ext cx="2377440" cy="731520"/>
          </a:xfrm>
          <a:prstGeom prst="rect">
            <a:avLst/>
          </a:prstGeom>
          <a:noFill/>
        </p:spPr>
        <p:txBody>
          <a:bodyPr wrap="square" lIns="0" rIns="0" tIns="18288" bIns="18288" anchor="ctr">
            <a:spAutoFit/>
          </a:bodyPr>
          <a:lstStyle/>
          <a:p>
            <a:pPr algn="l">
              <a:lnSpc>
                <a:spcPct val="106000"/>
              </a:lnSpc>
              <a:spcAft>
                <a:spcPts val="200"/>
              </a:spcAft>
            </a:pPr>
            <a:r>
              <a:rPr sz="1000" b="1" i="0">
                <a:solidFill>
                  <a:srgbClr val="203864"/>
                </a:solidFill>
                <a:latin typeface="맑은 고딕"/>
                <a:ea typeface="맑은 고딕"/>
              </a:rPr>
              <a:t>경로 추종 커맨더</a:t>
            </a:r>
          </a:p>
        </p:txBody>
      </p:sp>
      <p:sp>
        <p:nvSpPr>
          <p:cNvPr id="6" name="TextBox 5"/>
          <p:cNvSpPr txBox="1"/>
          <p:nvPr/>
        </p:nvSpPr>
        <p:spPr>
          <a:xfrm>
            <a:off x="3474720" y="1261872"/>
            <a:ext cx="5029199" cy="731520"/>
          </a:xfrm>
          <a:prstGeom prst="rect">
            <a:avLst/>
          </a:prstGeom>
          <a:noFill/>
        </p:spPr>
        <p:txBody>
          <a:bodyPr wrap="square" lIns="0" rIns="0" tIns="18288" bIns="18288" anchor="ctr">
            <a:spAutoFit/>
          </a:bodyPr>
          <a:lstStyle/>
          <a:p>
            <a:pPr algn="l">
              <a:lnSpc>
                <a:spcPct val="106000"/>
              </a:lnSpc>
              <a:spcAft>
                <a:spcPts val="200"/>
              </a:spcAft>
            </a:pPr>
            <a:r>
              <a:rPr sz="900" b="0" i="0">
                <a:solidFill>
                  <a:srgbClr val="262626"/>
                </a:solidFill>
                <a:latin typeface="맑은 고딕"/>
                <a:ea typeface="맑은 고딕"/>
              </a:rPr>
              <a:t>기본값은 갱신 0.25초, 수직면 판정, 동결 반지름 0.45미터입니다. 선분 위 앞보기 점은 오차와 시간의 맞바꿈이라 사용자 결정을 기다립니다. 정확도를 앞에 두면 0.35미터, 중간이면 0.65미터입니다. 남겨 둔 경로와 시드로 다시 채점하고, 경로 크기 1미터와 3미터에서도 확인해야 합니다.</a:t>
            </a:r>
          </a:p>
        </p:txBody>
      </p:sp>
      <p:sp>
        <p:nvSpPr>
          <p:cNvPr id="7" name="Rounded Rectangle 6"/>
          <p:cNvSpPr/>
          <p:nvPr/>
        </p:nvSpPr>
        <p:spPr>
          <a:xfrm>
            <a:off x="502920" y="2176272"/>
            <a:ext cx="8138159" cy="877824"/>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8" y="2459736"/>
            <a:ext cx="310896" cy="31089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2</a:t>
            </a:r>
          </a:p>
        </p:txBody>
      </p:sp>
      <p:sp>
        <p:nvSpPr>
          <p:cNvPr id="9" name="TextBox 8"/>
          <p:cNvSpPr txBox="1"/>
          <p:nvPr/>
        </p:nvSpPr>
        <p:spPr>
          <a:xfrm>
            <a:off x="1051560" y="2249424"/>
            <a:ext cx="2377440" cy="731520"/>
          </a:xfrm>
          <a:prstGeom prst="rect">
            <a:avLst/>
          </a:prstGeom>
          <a:noFill/>
        </p:spPr>
        <p:txBody>
          <a:bodyPr wrap="square" lIns="0" rIns="0" tIns="18288" bIns="18288" anchor="ctr">
            <a:spAutoFit/>
          </a:bodyPr>
          <a:lstStyle/>
          <a:p>
            <a:pPr algn="l">
              <a:lnSpc>
                <a:spcPct val="106000"/>
              </a:lnSpc>
              <a:spcAft>
                <a:spcPts val="200"/>
              </a:spcAft>
            </a:pPr>
            <a:r>
              <a:rPr sz="1000" b="1" i="0">
                <a:solidFill>
                  <a:srgbClr val="203864"/>
                </a:solidFill>
                <a:latin typeface="맑은 고딕"/>
                <a:ea typeface="맑은 고딕"/>
              </a:rPr>
              <a:t>대표 모델과 함께 쓸 규칙</a:t>
            </a:r>
          </a:p>
        </p:txBody>
      </p:sp>
      <p:sp>
        <p:nvSpPr>
          <p:cNvPr id="10" name="TextBox 9"/>
          <p:cNvSpPr txBox="1"/>
          <p:nvPr/>
        </p:nvSpPr>
        <p:spPr>
          <a:xfrm>
            <a:off x="3474720" y="2249424"/>
            <a:ext cx="5029199" cy="731520"/>
          </a:xfrm>
          <a:prstGeom prst="rect">
            <a:avLst/>
          </a:prstGeom>
          <a:noFill/>
        </p:spPr>
        <p:txBody>
          <a:bodyPr wrap="square" lIns="0" rIns="0" tIns="18288" bIns="18288" anchor="ctr">
            <a:spAutoFit/>
          </a:bodyPr>
          <a:lstStyle/>
          <a:p>
            <a:pPr algn="l">
              <a:lnSpc>
                <a:spcPct val="106000"/>
              </a:lnSpc>
              <a:spcAft>
                <a:spcPts val="200"/>
              </a:spcAft>
            </a:pPr>
            <a:r>
              <a:rPr sz="900" b="0" i="0">
                <a:solidFill>
                  <a:srgbClr val="262626"/>
                </a:solidFill>
                <a:latin typeface="맑은 고딕"/>
                <a:ea typeface="맑은 고딕"/>
              </a:rPr>
              <a:t>대표 모델은 셋째 단계 마지막 모델입니다. 넷째 단계는 이득도 손해도 확인되지 않아 runs 폴더에 둡니다. 함께 쓸 전환 규칙은 정해야 합니다. 경로 추종이 목적이면 새 규칙이 시간을 16퍼센트 줄이고, 벤치마크 재현이 목적이면 지금 규칙입니다.</a:t>
            </a:r>
          </a:p>
        </p:txBody>
      </p:sp>
      <p:sp>
        <p:nvSpPr>
          <p:cNvPr id="11" name="Rounded Rectangle 10"/>
          <p:cNvSpPr/>
          <p:nvPr/>
        </p:nvSpPr>
        <p:spPr>
          <a:xfrm>
            <a:off x="502920" y="3163824"/>
            <a:ext cx="8138159" cy="877824"/>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8" y="3447288"/>
            <a:ext cx="310896" cy="31089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3</a:t>
            </a:r>
          </a:p>
        </p:txBody>
      </p:sp>
      <p:sp>
        <p:nvSpPr>
          <p:cNvPr id="13" name="TextBox 12"/>
          <p:cNvSpPr txBox="1"/>
          <p:nvPr/>
        </p:nvSpPr>
        <p:spPr>
          <a:xfrm>
            <a:off x="1051560" y="3236976"/>
            <a:ext cx="2377440" cy="731520"/>
          </a:xfrm>
          <a:prstGeom prst="rect">
            <a:avLst/>
          </a:prstGeom>
          <a:noFill/>
        </p:spPr>
        <p:txBody>
          <a:bodyPr wrap="square" lIns="0" rIns="0" tIns="18288" bIns="18288" anchor="ctr">
            <a:spAutoFit/>
          </a:bodyPr>
          <a:lstStyle/>
          <a:p>
            <a:pPr algn="l">
              <a:lnSpc>
                <a:spcPct val="106000"/>
              </a:lnSpc>
              <a:spcAft>
                <a:spcPts val="200"/>
              </a:spcAft>
            </a:pPr>
            <a:r>
              <a:rPr sz="1000" b="1" i="0">
                <a:solidFill>
                  <a:srgbClr val="203864"/>
                </a:solidFill>
                <a:latin typeface="맑은 고딕"/>
                <a:ea typeface="맑은 고딕"/>
              </a:rPr>
              <a:t>새 규칙이 왜 빠른지 찾기</a:t>
            </a:r>
          </a:p>
        </p:txBody>
      </p:sp>
      <p:sp>
        <p:nvSpPr>
          <p:cNvPr id="14" name="TextBox 13"/>
          <p:cNvSpPr txBox="1"/>
          <p:nvPr/>
        </p:nvSpPr>
        <p:spPr>
          <a:xfrm>
            <a:off x="3474720" y="3236976"/>
            <a:ext cx="5029199" cy="731520"/>
          </a:xfrm>
          <a:prstGeom prst="rect">
            <a:avLst/>
          </a:prstGeom>
          <a:noFill/>
        </p:spPr>
        <p:txBody>
          <a:bodyPr wrap="square" lIns="0" rIns="0" tIns="18288" bIns="18288" anchor="ctr">
            <a:spAutoFit/>
          </a:bodyPr>
          <a:lstStyle/>
          <a:p>
            <a:pPr algn="l">
              <a:lnSpc>
                <a:spcPct val="106000"/>
              </a:lnSpc>
              <a:spcAft>
                <a:spcPts val="200"/>
              </a:spcAft>
            </a:pPr>
            <a:r>
              <a:rPr sz="900" b="0" i="0">
                <a:solidFill>
                  <a:srgbClr val="262626"/>
                </a:solidFill>
                <a:latin typeface="맑은 고딕"/>
                <a:ea typeface="맑은 고딕"/>
              </a:rPr>
              <a:t>새 규칙에서 로봇은 주행 내내 8퍼센트 빠르고 덜 헤맵니다. 원인은 모릅니다. 전환 시점의 위상과 몸통 자세를 기록해 비교하고, 규칙의 두 변화(가로 먼저, 가운데 열 고르기)를 따로 켜 봅니다. 벤치마크는 전환 단위 기록을 남기고 판 수를 늘려야 합니다.</a:t>
            </a:r>
          </a:p>
        </p:txBody>
      </p:sp>
      <p:sp>
        <p:nvSpPr>
          <p:cNvPr id="15" name="Rounded Rectangle 14"/>
          <p:cNvSpPr/>
          <p:nvPr/>
        </p:nvSpPr>
        <p:spPr>
          <a:xfrm>
            <a:off x="502920" y="4151376"/>
            <a:ext cx="8138159" cy="877824"/>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12648" y="4434840"/>
            <a:ext cx="310896" cy="31089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4</a:t>
            </a:r>
          </a:p>
        </p:txBody>
      </p:sp>
      <p:sp>
        <p:nvSpPr>
          <p:cNvPr id="17" name="TextBox 16"/>
          <p:cNvSpPr txBox="1"/>
          <p:nvPr/>
        </p:nvSpPr>
        <p:spPr>
          <a:xfrm>
            <a:off x="1051560" y="4224528"/>
            <a:ext cx="2377440" cy="731520"/>
          </a:xfrm>
          <a:prstGeom prst="rect">
            <a:avLst/>
          </a:prstGeom>
          <a:noFill/>
        </p:spPr>
        <p:txBody>
          <a:bodyPr wrap="square" lIns="0" rIns="0" tIns="18288" bIns="18288" anchor="ctr">
            <a:spAutoFit/>
          </a:bodyPr>
          <a:lstStyle/>
          <a:p>
            <a:pPr algn="l">
              <a:lnSpc>
                <a:spcPct val="106000"/>
              </a:lnSpc>
              <a:spcAft>
                <a:spcPts val="200"/>
              </a:spcAft>
            </a:pPr>
            <a:r>
              <a:rPr sz="1000" b="1" i="0">
                <a:solidFill>
                  <a:srgbClr val="203864"/>
                </a:solidFill>
                <a:latin typeface="맑은 고딕"/>
                <a:ea typeface="맑은 고딕"/>
              </a:rPr>
              <a:t>회전에서 선형으로 바뀌는 전환</a:t>
            </a:r>
          </a:p>
        </p:txBody>
      </p:sp>
      <p:sp>
        <p:nvSpPr>
          <p:cNvPr id="18" name="TextBox 17"/>
          <p:cNvSpPr txBox="1"/>
          <p:nvPr/>
        </p:nvSpPr>
        <p:spPr>
          <a:xfrm>
            <a:off x="3474720" y="4224528"/>
            <a:ext cx="5029199" cy="731520"/>
          </a:xfrm>
          <a:prstGeom prst="rect">
            <a:avLst/>
          </a:prstGeom>
          <a:noFill/>
        </p:spPr>
        <p:txBody>
          <a:bodyPr wrap="square" lIns="0" rIns="0" tIns="18288" bIns="18288" anchor="ctr">
            <a:spAutoFit/>
          </a:bodyPr>
          <a:lstStyle/>
          <a:p>
            <a:pPr algn="l">
              <a:lnSpc>
                <a:spcPct val="106000"/>
              </a:lnSpc>
              <a:spcAft>
                <a:spcPts val="200"/>
              </a:spcAft>
            </a:pPr>
            <a:r>
              <a:rPr sz="900" b="0" i="0">
                <a:solidFill>
                  <a:srgbClr val="262626"/>
                </a:solidFill>
                <a:latin typeface="맑은 고딕"/>
                <a:ea typeface="맑은 고딕"/>
              </a:rPr>
              <a:t>남은 실패는 대부분 회전 출발입니다. 회전 중에는 몸이 돌고 있으니, 짧게 힘을 빼서 회전을 죽인 뒤 바꾸는 규칙을 평가 스크립트에서 먼저 시험합니다. 전문가 이어 학습은 네 번의 파일럿에서 이득이 작아 멈췄습니다.</a:t>
            </a:r>
          </a:p>
        </p:txBody>
      </p:sp>
      <p:sp>
        <p:nvSpPr>
          <p:cNvPr id="19" name="Rounded Rectangle 18"/>
          <p:cNvSpPr/>
          <p:nvPr/>
        </p:nvSpPr>
        <p:spPr>
          <a:xfrm>
            <a:off x="502920" y="5138928"/>
            <a:ext cx="8138159" cy="877824"/>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12648" y="5422392"/>
            <a:ext cx="310896" cy="31089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맑은 고딕"/>
                <a:ea typeface="맑은 고딕"/>
              </a:rPr>
              <a:t>5</a:t>
            </a:r>
          </a:p>
        </p:txBody>
      </p:sp>
      <p:sp>
        <p:nvSpPr>
          <p:cNvPr id="21" name="TextBox 20"/>
          <p:cNvSpPr txBox="1"/>
          <p:nvPr/>
        </p:nvSpPr>
        <p:spPr>
          <a:xfrm>
            <a:off x="1051560" y="5212080"/>
            <a:ext cx="2377440" cy="731520"/>
          </a:xfrm>
          <a:prstGeom prst="rect">
            <a:avLst/>
          </a:prstGeom>
          <a:noFill/>
        </p:spPr>
        <p:txBody>
          <a:bodyPr wrap="square" lIns="0" rIns="0" tIns="18288" bIns="18288" anchor="ctr">
            <a:spAutoFit/>
          </a:bodyPr>
          <a:lstStyle/>
          <a:p>
            <a:pPr algn="l">
              <a:lnSpc>
                <a:spcPct val="106000"/>
              </a:lnSpc>
              <a:spcAft>
                <a:spcPts val="200"/>
              </a:spcAft>
            </a:pPr>
            <a:r>
              <a:rPr sz="1000" b="1" i="0">
                <a:solidFill>
                  <a:srgbClr val="203864"/>
                </a:solidFill>
                <a:latin typeface="맑은 고딕"/>
                <a:ea typeface="맑은 고딕"/>
              </a:rPr>
              <a:t>실제 로봇을 향한 준비</a:t>
            </a:r>
          </a:p>
        </p:txBody>
      </p:sp>
      <p:sp>
        <p:nvSpPr>
          <p:cNvPr id="22" name="TextBox 21"/>
          <p:cNvSpPr txBox="1"/>
          <p:nvPr/>
        </p:nvSpPr>
        <p:spPr>
          <a:xfrm>
            <a:off x="3474720" y="5212080"/>
            <a:ext cx="5029199" cy="731520"/>
          </a:xfrm>
          <a:prstGeom prst="rect">
            <a:avLst/>
          </a:prstGeom>
          <a:noFill/>
        </p:spPr>
        <p:txBody>
          <a:bodyPr wrap="square" lIns="0" rIns="0" tIns="18288" bIns="18288" anchor="ctr">
            <a:spAutoFit/>
          </a:bodyPr>
          <a:lstStyle/>
          <a:p>
            <a:pPr algn="l">
              <a:lnSpc>
                <a:spcPct val="106000"/>
              </a:lnSpc>
              <a:spcAft>
                <a:spcPts val="200"/>
              </a:spcAft>
            </a:pPr>
            <a:r>
              <a:rPr sz="900" b="0" i="0">
                <a:solidFill>
                  <a:srgbClr val="262626"/>
                </a:solidFill>
                <a:latin typeface="맑은 고딕"/>
                <a:ea typeface="맑은 고딕"/>
              </a:rPr>
              <a:t>마찰을 무작위로 바꾸고, 센서 지연과 노이즈에 강하게 만들고, 굴곡진 바닥에서도 시험합니다. 궤적 기록에 몸통 방향을 넣어 남은 오차 중 커맨더 몫과 보행 몫을 나눕니다.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참고문헌과 결과물 위치</a:t>
            </a:r>
          </a:p>
        </p:txBody>
      </p:sp>
      <p:graphicFrame>
        <p:nvGraphicFramePr>
          <p:cNvPr id="3" name="Table 2"/>
          <p:cNvGraphicFramePr>
            <a:graphicFrameLocks noGrp="1"/>
          </p:cNvGraphicFramePr>
          <p:nvPr/>
        </p:nvGraphicFramePr>
        <p:xfrm>
          <a:off x="502920" y="1188720"/>
          <a:ext cx="8138160" cy="2926077"/>
        </p:xfrm>
        <a:graphic>
          <a:graphicData uri="http://schemas.openxmlformats.org/drawingml/2006/table">
            <a:tbl>
              <a:tblPr firstRow="1" bandRow="0">
                <a:tableStyleId>{5940675A-B579-460E-94D1-54222C63F5DA}</a:tableStyleId>
              </a:tblPr>
              <a:tblGrid>
                <a:gridCol w="1463040"/>
                <a:gridCol w="4206240"/>
                <a:gridCol w="2468880"/>
              </a:tblGrid>
              <a:tr h="418011">
                <a:tc>
                  <a:txBody>
                    <a:bodyPr wrap="square"/>
                    <a:lstStyle/>
                    <a:p>
                      <a:pPr algn="l"/>
                      <a:r>
                        <a:rPr sz="850" b="1" i="0">
                          <a:solidFill>
                            <a:srgbClr val="FFFFFF"/>
                          </a:solidFill>
                          <a:latin typeface="맑은 고딕"/>
                          <a:ea typeface="맑은 고딕"/>
                        </a:rPr>
                        <a:t>주제</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대표 논문</a:t>
                      </a:r>
                    </a:p>
                  </a:txBody>
                  <a:tcPr marL="45720" marR="45720" marT="13716" marB="13716" anchor="ctr">
                    <a:solidFill>
                      <a:srgbClr val="203864"/>
                    </a:solidFill>
                  </a:tcPr>
                </a:tc>
                <a:tc>
                  <a:txBody>
                    <a:bodyPr wrap="square"/>
                    <a:lstStyle/>
                    <a:p>
                      <a:pPr algn="ctr"/>
                      <a:r>
                        <a:rPr sz="850" b="1" i="0">
                          <a:solidFill>
                            <a:srgbClr val="FFFFFF"/>
                          </a:solidFill>
                          <a:latin typeface="맑은 고딕"/>
                          <a:ea typeface="맑은 고딕"/>
                        </a:rPr>
                        <a:t>우리 연구와 어떻게 이어지나</a:t>
                      </a:r>
                    </a:p>
                  </a:txBody>
                  <a:tcPr marL="45720" marR="45720" marT="13716" marB="13716" anchor="ctr">
                    <a:solidFill>
                      <a:srgbClr val="203864"/>
                    </a:solidFill>
                  </a:tcPr>
                </a:tc>
              </a:tr>
              <a:tr h="418011">
                <a:tc>
                  <a:txBody>
                    <a:bodyPr wrap="square"/>
                    <a:lstStyle/>
                    <a:p>
                      <a:pPr algn="l"/>
                      <a:r>
                        <a:rPr sz="800" b="0" i="0">
                          <a:solidFill>
                            <a:srgbClr val="262626"/>
                          </a:solidFill>
                          <a:latin typeface="맑은 고딕"/>
                          <a:ea typeface="맑은 고딕"/>
                        </a:rPr>
                        <a:t>정책 합치기</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Rusu 외, Policy Distillation (ICLR 2016) / Parisotto 외, Actor-Mimic (ICLR 2016)</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전문가 열 개를 정책 하나로 옮기는 방법입니다.</a:t>
                      </a:r>
                    </a:p>
                  </a:txBody>
                  <a:tcPr marL="45720" marR="45720" marT="13716" marB="13716" anchor="ctr">
                    <a:solidFill>
                      <a:srgbClr val="FFFFFF"/>
                    </a:solidFill>
                  </a:tcPr>
                </a:tc>
              </a:tr>
              <a:tr h="418011">
                <a:tc>
                  <a:txBody>
                    <a:bodyPr wrap="square"/>
                    <a:lstStyle/>
                    <a:p>
                      <a:pPr algn="l"/>
                      <a:r>
                        <a:rPr sz="800" b="0" i="0">
                          <a:solidFill>
                            <a:srgbClr val="262626"/>
                          </a:solidFill>
                          <a:latin typeface="맑은 고딕"/>
                          <a:ea typeface="맑은 고딕"/>
                        </a:rPr>
                        <a:t>따라 하기 학습의 보정</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Ross 외, DAgger (AISTATS 2011) / Laskey 외, DART (CoRL 2017)</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노이즈를 섞고, 학생이 간 상태에 라벨을 붙이는 방법입니다.</a:t>
                      </a:r>
                    </a:p>
                  </a:txBody>
                  <a:tcPr marL="45720" marR="45720" marT="13716" marB="13716" anchor="ctr">
                    <a:solidFill>
                      <a:srgbClr val="EEF3FA"/>
                    </a:solidFill>
                  </a:tcPr>
                </a:tc>
              </a:tr>
              <a:tr h="418011">
                <a:tc>
                  <a:txBody>
                    <a:bodyPr wrap="square"/>
                    <a:lstStyle/>
                    <a:p>
                      <a:pPr algn="l"/>
                      <a:r>
                        <a:rPr sz="800" b="0" i="0">
                          <a:solidFill>
                            <a:srgbClr val="262626"/>
                          </a:solidFill>
                          <a:latin typeface="맑은 고딕"/>
                          <a:ea typeface="맑은 고딕"/>
                        </a:rPr>
                        <a:t>따라 하기에서 강화학습으로</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Rajeswaran 외, DAPG (RSS 2018) / Uchendu 외, JSRL (ICML 2023)</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가치 함수를 미리 맞추고 조심스럽게 시작하는 이유입니다.</a:t>
                      </a:r>
                    </a:p>
                  </a:txBody>
                  <a:tcPr marL="45720" marR="45720" marT="13716" marB="13716" anchor="ctr">
                    <a:solidFill>
                      <a:srgbClr val="FFFFFF"/>
                    </a:solidFill>
                  </a:tcPr>
                </a:tc>
              </a:tr>
              <a:tr h="418011">
                <a:tc>
                  <a:txBody>
                    <a:bodyPr wrap="square"/>
                    <a:lstStyle/>
                    <a:p>
                      <a:pPr algn="l"/>
                      <a:r>
                        <a:rPr sz="800" b="0" i="0">
                          <a:solidFill>
                            <a:srgbClr val="262626"/>
                          </a:solidFill>
                          <a:latin typeface="맑은 고딕"/>
                          <a:ea typeface="맑은 고딕"/>
                        </a:rPr>
                        <a:t>여러 보행을 다루는 다리 로봇</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Yang 외, MELA (Science Robotics 2020) / Margolis &amp; Agrawal (CoRL 2022)</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보행 조건부 정책과 전환 커리큘럼의 근거입니다.</a:t>
                      </a:r>
                    </a:p>
                  </a:txBody>
                  <a:tcPr marL="45720" marR="45720" marT="13716" marB="13716" anchor="ctr">
                    <a:solidFill>
                      <a:srgbClr val="EEF3FA"/>
                    </a:solidFill>
                  </a:tcPr>
                </a:tc>
              </a:tr>
              <a:tr h="418011">
                <a:tc>
                  <a:txBody>
                    <a:bodyPr wrap="square"/>
                    <a:lstStyle/>
                    <a:p>
                      <a:pPr algn="l"/>
                      <a:r>
                        <a:rPr sz="800" b="0" i="0">
                          <a:solidFill>
                            <a:srgbClr val="262626"/>
                          </a:solidFill>
                          <a:latin typeface="맑은 고딕"/>
                          <a:ea typeface="맑은 고딕"/>
                        </a:rPr>
                        <a:t>뱀 로봇과 진동 위상</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Hirose (1993) / Tesch 외 (2009) / Ijspeert (2008) / Song 외, ICAE 2025</a:t>
                      </a:r>
                    </a:p>
                  </a:txBody>
                  <a:tcPr marL="45720" marR="45720" marT="13716" marB="13716" anchor="ctr">
                    <a:solidFill>
                      <a:srgbClr val="FFFFFF"/>
                    </a:solidFill>
                  </a:tcPr>
                </a:tc>
                <a:tc>
                  <a:txBody>
                    <a:bodyPr wrap="square"/>
                    <a:lstStyle/>
                    <a:p>
                      <a:pPr algn="ctr"/>
                      <a:r>
                        <a:rPr sz="800" b="0" i="0">
                          <a:solidFill>
                            <a:srgbClr val="262626"/>
                          </a:solidFill>
                          <a:latin typeface="맑은 고딕"/>
                          <a:ea typeface="맑은 고딕"/>
                        </a:rPr>
                        <a:t>serpenoid gait와 위상 정렬의 배경입니다.</a:t>
                      </a:r>
                    </a:p>
                  </a:txBody>
                  <a:tcPr marL="45720" marR="45720" marT="13716" marB="13716" anchor="ctr">
                    <a:solidFill>
                      <a:srgbClr val="FFFFFF"/>
                    </a:solidFill>
                  </a:tcPr>
                </a:tc>
              </a:tr>
              <a:tr h="418011">
                <a:tc>
                  <a:txBody>
                    <a:bodyPr wrap="square"/>
                    <a:lstStyle/>
                    <a:p>
                      <a:pPr algn="l"/>
                      <a:r>
                        <a:rPr sz="800" b="0" i="0">
                          <a:solidFill>
                            <a:srgbClr val="262626"/>
                          </a:solidFill>
                          <a:latin typeface="맑은 고딕"/>
                          <a:ea typeface="맑은 고딕"/>
                        </a:rPr>
                        <a:t>잊지 않는 학습</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Kirkpatrick 외, EWC (PNAS 2017) / Schwarz 외, Progress &amp; Compress (ICML 2018)</a:t>
                      </a:r>
                    </a:p>
                  </a:txBody>
                  <a:tcPr marL="45720" marR="45720" marT="13716" marB="13716" anchor="ctr">
                    <a:solidFill>
                      <a:srgbClr val="EEF3FA"/>
                    </a:solidFill>
                  </a:tcPr>
                </a:tc>
                <a:tc>
                  <a:txBody>
                    <a:bodyPr wrap="square"/>
                    <a:lstStyle/>
                    <a:p>
                      <a:pPr algn="ctr"/>
                      <a:r>
                        <a:rPr sz="800" b="0" i="0">
                          <a:solidFill>
                            <a:srgbClr val="262626"/>
                          </a:solidFill>
                          <a:latin typeface="맑은 고딕"/>
                          <a:ea typeface="맑은 고딕"/>
                        </a:rPr>
                        <a:t>새 작업을 더할 때 옛 실력을 지키는 방법입니다.</a:t>
                      </a:r>
                    </a:p>
                  </a:txBody>
                  <a:tcPr marL="45720" marR="45720" marT="13716" marB="13716" anchor="ctr">
                    <a:solidFill>
                      <a:srgbClr val="EEF3FA"/>
                    </a:solidFill>
                  </a:tcPr>
                </a:tc>
              </a:tr>
            </a:tbl>
          </a:graphicData>
        </a:graphic>
      </p:graphicFrame>
      <p:sp>
        <p:nvSpPr>
          <p:cNvPr id="4" name="TextBox 3"/>
          <p:cNvSpPr txBox="1"/>
          <p:nvPr/>
        </p:nvSpPr>
        <p:spPr>
          <a:xfrm>
            <a:off x="502920" y="4160520"/>
            <a:ext cx="8138159" cy="411480"/>
          </a:xfrm>
          <a:prstGeom prst="rect">
            <a:avLst/>
          </a:prstGeom>
          <a:noFill/>
        </p:spPr>
        <p:txBody>
          <a:bodyPr wrap="square" lIns="0" rIns="0" tIns="18288" bIns="18288" anchor="t">
            <a:spAutoFit/>
          </a:bodyPr>
          <a:lstStyle/>
          <a:p>
            <a:pPr algn="l">
              <a:lnSpc>
                <a:spcPct val="106000"/>
              </a:lnSpc>
              <a:spcAft>
                <a:spcPts val="200"/>
              </a:spcAft>
            </a:pPr>
            <a:r>
              <a:rPr sz="850" b="0" i="0">
                <a:solidFill>
                  <a:srgbClr val="595959"/>
                </a:solidFill>
                <a:latin typeface="맑은 고딕"/>
                <a:ea typeface="맑은 고딕"/>
              </a:rPr>
              <a:t>문헌 목록은 docs/references_transition_learning.md에 있습니다. 48편 모두 서지 정보를 확인했습니다.</a:t>
            </a:r>
          </a:p>
        </p:txBody>
      </p:sp>
      <p:sp>
        <p:nvSpPr>
          <p:cNvPr id="5" name="Rounded Rectangle 4"/>
          <p:cNvSpPr/>
          <p:nvPr/>
        </p:nvSpPr>
        <p:spPr>
          <a:xfrm>
            <a:off x="502920" y="4617720"/>
            <a:ext cx="8138159" cy="1600200"/>
          </a:xfrm>
          <a:prstGeom prst="roundRect">
            <a:avLst>
              <a:gd name="adj" fmla="val 5000"/>
            </a:avLst>
          </a:prstGeom>
          <a:solidFill>
            <a:srgbClr val="EEF3FA"/>
          </a:solidFill>
          <a:ln w="9525">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4681728"/>
            <a:ext cx="7918703" cy="274320"/>
          </a:xfrm>
          <a:prstGeom prst="rect">
            <a:avLst/>
          </a:prstGeom>
          <a:noFill/>
        </p:spPr>
        <p:txBody>
          <a:bodyPr wrap="square" lIns="0" rIns="0" tIns="18288" bIns="18288" anchor="t">
            <a:spAutoFit/>
          </a:bodyPr>
          <a:lstStyle/>
          <a:p>
            <a:pPr algn="l">
              <a:lnSpc>
                <a:spcPct val="106000"/>
              </a:lnSpc>
              <a:spcAft>
                <a:spcPts val="200"/>
              </a:spcAft>
            </a:pPr>
            <a:r>
              <a:rPr sz="1100" b="1" i="0">
                <a:solidFill>
                  <a:srgbClr val="203864"/>
                </a:solidFill>
                <a:latin typeface="맑은 고딕"/>
                <a:ea typeface="맑은 고딕"/>
              </a:rPr>
              <a:t>결과물은 여기에 있습니다</a:t>
            </a:r>
          </a:p>
        </p:txBody>
      </p:sp>
      <p:sp>
        <p:nvSpPr>
          <p:cNvPr id="7" name="TextBox 6"/>
          <p:cNvSpPr txBox="1"/>
          <p:nvPr/>
        </p:nvSpPr>
        <p:spPr>
          <a:xfrm>
            <a:off x="612648" y="4946904"/>
            <a:ext cx="7918703" cy="1234440"/>
          </a:xfrm>
          <a:prstGeom prst="rect">
            <a:avLst/>
          </a:prstGeom>
          <a:noFill/>
        </p:spPr>
        <p:txBody>
          <a:bodyPr wrap="square" lIns="0" rIns="0" tIns="18288" bIns="18288" anchor="t">
            <a:spAutoFit/>
          </a:bodyPr>
          <a:lstStyle/>
          <a:p>
            <a:pPr algn="l" marL="146304" indent="-146304">
              <a:lnSpc>
                <a:spcPct val="106000"/>
              </a:lnSpc>
              <a:spcAft>
                <a:spcPts val="300"/>
              </a:spcAft>
              <a:buClr>
                <a:srgbClr val="2E75B6"/>
              </a:buClr>
              <a:buChar char="▪"/>
            </a:pPr>
            <a:r>
              <a:rPr sz="800" b="0" i="0">
                <a:solidFill>
                  <a:srgbClr val="262626"/>
                </a:solidFill>
                <a:latin typeface="맑은 고딕"/>
                <a:ea typeface="맑은 고딕"/>
              </a:rPr>
              <a:t>합친 정책 계보는 policies/unified 폴더에 있습니다. 대표 모델은 03_transition_stage3의 final_model.zip과 vecnormalize.pkl입니다.</a:t>
            </a:r>
          </a:p>
          <a:p>
            <a:pPr algn="l" marL="146304" indent="-146304">
              <a:lnSpc>
                <a:spcPct val="106000"/>
              </a:lnSpc>
              <a:spcAft>
                <a:spcPts val="300"/>
              </a:spcAft>
              <a:buClr>
                <a:srgbClr val="2E75B6"/>
              </a:buClr>
              <a:buChar char="▪"/>
            </a:pPr>
            <a:r>
              <a:rPr sz="800" b="0" i="0">
                <a:solidFill>
                  <a:srgbClr val="262626"/>
                </a:solidFill>
                <a:latin typeface="맑은 고딕"/>
                <a:ea typeface="맑은 고딕"/>
              </a:rPr>
              <a:t>전문가 이어 학습 결과는 runs 폴더의 ppo_plane_*_moving_init_iter1부터 iter4에 있고, 정리하면 policies/path_tracking 아래 04_부터 07_로 옮깁니다.</a:t>
            </a:r>
          </a:p>
          <a:p>
            <a:pPr algn="l" marL="146304" indent="-146304">
              <a:lnSpc>
                <a:spcPct val="106000"/>
              </a:lnSpc>
              <a:spcAft>
                <a:spcPts val="300"/>
              </a:spcAft>
              <a:buClr>
                <a:srgbClr val="2E75B6"/>
              </a:buClr>
              <a:buChar char="▪"/>
            </a:pPr>
            <a:r>
              <a:rPr sz="800" b="0" i="0">
                <a:solidFill>
                  <a:srgbClr val="262626"/>
                </a:solidFill>
                <a:latin typeface="맑은 고딕"/>
                <a:ea typeface="맑은 고딕"/>
              </a:rPr>
              <a:t>시작 위상 규칙 함수는 horcrux_env/envs/phase_align.py에 있고, 수학 근거는 docs/Horcrux_phase_selection_math_2026-09.pptx에 있습니다.</a:t>
            </a:r>
          </a:p>
          <a:p>
            <a:pPr algn="l" marL="146304" indent="-146304">
              <a:lnSpc>
                <a:spcPct val="106000"/>
              </a:lnSpc>
              <a:spcAft>
                <a:spcPts val="300"/>
              </a:spcAft>
              <a:buClr>
                <a:srgbClr val="2E75B6"/>
              </a:buClr>
              <a:buChar char="▪"/>
            </a:pPr>
            <a:r>
              <a:rPr sz="800" b="0" i="0">
                <a:solidFill>
                  <a:srgbClr val="262626"/>
                </a:solidFill>
                <a:latin typeface="맑은 고딕"/>
                <a:ea typeface="맑은 고딕"/>
              </a:rPr>
              <a:t>넷째 단계 run은 runs/ppo_unified_transition_stage4에 있고, 정리하면 policies/unified/04_transition_stage4로 옮깁니다. 경로 검증 결과는 runs/path_validation, 검증 드라이버는 training/validate_paths.py, 체크포인트 벤치마크는 training/bench_unified_ckpts.py입니다.</a:t>
            </a:r>
          </a:p>
          <a:p>
            <a:pPr algn="l" marL="146304" indent="-146304">
              <a:lnSpc>
                <a:spcPct val="106000"/>
              </a:lnSpc>
              <a:spcAft>
                <a:spcPts val="300"/>
              </a:spcAft>
              <a:buClr>
                <a:srgbClr val="2E75B6"/>
              </a:buClr>
              <a:buChar char="▪"/>
            </a:pPr>
            <a:r>
              <a:rPr sz="800" b="0" i="0">
                <a:solidFill>
                  <a:srgbClr val="262626"/>
                </a:solidFill>
                <a:latin typeface="맑은 고딕"/>
                <a:ea typeface="맑은 고딕"/>
              </a:rPr>
              <a:t>시연 영상은 runs/path_follow_demo와 runs/policy_showcase에 있습니다. 변경 이력은 CLAUDE_CHANGES.md입니다.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1" i="0">
                <a:solidFill>
                  <a:srgbClr val="203864"/>
                </a:solidFill>
                <a:latin typeface="맑은 고딕"/>
                <a:ea typeface="맑은 고딕"/>
              </a:rPr>
              <a:t>gait 전환 학습 (20260911) ― 부록 ① 학습 설정 요약</a:t>
            </a:r>
          </a:p>
        </p:txBody>
      </p:sp>
      <p:graphicFrame>
        <p:nvGraphicFramePr>
          <p:cNvPr id="3" name="Table 2"/>
          <p:cNvGraphicFramePr>
            <a:graphicFrameLocks noGrp="1"/>
          </p:cNvGraphicFramePr>
          <p:nvPr/>
        </p:nvGraphicFramePr>
        <p:xfrm>
          <a:off x="502920" y="1188720"/>
          <a:ext cx="8138160" cy="3931920"/>
        </p:xfrm>
        <a:graphic>
          <a:graphicData uri="http://schemas.openxmlformats.org/drawingml/2006/table">
            <a:tbl>
              <a:tblPr firstRow="1" bandRow="0">
                <a:tableStyleId>{5940675A-B579-460E-94D1-54222C63F5DA}</a:tableStyleId>
              </a:tblPr>
              <a:tblGrid>
                <a:gridCol w="1463040"/>
                <a:gridCol w="1371600"/>
                <a:gridCol w="5303520"/>
              </a:tblGrid>
              <a:tr h="393192">
                <a:tc>
                  <a:txBody>
                    <a:bodyPr wrap="square"/>
                    <a:lstStyle/>
                    <a:p>
                      <a:pPr algn="l"/>
                      <a:r>
                        <a:rPr sz="900" b="1" i="0">
                          <a:solidFill>
                            <a:srgbClr val="FFFFFF"/>
                          </a:solidFill>
                          <a:latin typeface="맑은 고딕"/>
                          <a:ea typeface="맑은 고딕"/>
                        </a:rPr>
                        <a:t>구분</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항목</a:t>
                      </a:r>
                    </a:p>
                  </a:txBody>
                  <a:tcPr marL="45720" marR="45720" marT="13716" marB="13716" anchor="ctr">
                    <a:solidFill>
                      <a:srgbClr val="203864"/>
                    </a:solidFill>
                  </a:tcPr>
                </a:tc>
                <a:tc>
                  <a:txBody>
                    <a:bodyPr wrap="square"/>
                    <a:lstStyle/>
                    <a:p>
                      <a:pPr algn="ctr"/>
                      <a:r>
                        <a:rPr sz="900" b="1" i="0">
                          <a:solidFill>
                            <a:srgbClr val="FFFFFF"/>
                          </a:solidFill>
                          <a:latin typeface="맑은 고딕"/>
                          <a:ea typeface="맑은 고딕"/>
                        </a:rPr>
                        <a:t>값</a:t>
                      </a:r>
                    </a:p>
                  </a:txBody>
                  <a:tcPr marL="45720" marR="45720" marT="13716" marB="13716" anchor="ctr">
                    <a:solidFill>
                      <a:srgbClr val="203864"/>
                    </a:solidFill>
                  </a:tcPr>
                </a:tc>
              </a:tr>
              <a:tr h="393192">
                <a:tc>
                  <a:txBody>
                    <a:bodyPr wrap="square"/>
                    <a:lstStyle/>
                    <a:p>
                      <a:pPr algn="l"/>
                      <a:r>
                        <a:rPr sz="850" b="0" i="0">
                          <a:solidFill>
                            <a:srgbClr val="262626"/>
                          </a:solidFill>
                          <a:latin typeface="맑은 고딕"/>
                          <a:ea typeface="맑은 고딕"/>
                        </a:rPr>
                        <a:t>환경</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보상 계수</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앞으로 가는 보상 60, 효율 3, 건강 2, 자세 흐트러짐 벌점 10</a:t>
                      </a:r>
                    </a:p>
                  </a:txBody>
                  <a:tcPr marL="45720" marR="45720" marT="13716" marB="13716" anchor="ctr">
                    <a:solidFill>
                      <a:srgbClr val="FFFFFF"/>
                    </a:solidFill>
                  </a:tcPr>
                </a:tc>
              </a:tr>
              <a:tr h="393192">
                <a:tc>
                  <a:txBody>
                    <a:bodyPr wrap="square"/>
                    <a:lstStyle/>
                    <a:p>
                      <a:pPr algn="l"/>
                      <a:r>
                        <a:rPr sz="850" b="0" i="0">
                          <a:solidFill>
                            <a:srgbClr val="262626"/>
                          </a:solidFill>
                          <a:latin typeface="맑은 고딕"/>
                          <a:ea typeface="맑은 고딕"/>
                        </a:rPr>
                        <a:t>환경</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실패 판정</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몸이 롤 방향으로 기울어진 상태가 걷기는 30스텝, 회전은 60스텝 이어지면 실패입니다.</a:t>
                      </a:r>
                    </a:p>
                  </a:txBody>
                  <a:tcPr marL="45720" marR="45720" marT="13716" marB="13716" anchor="ctr">
                    <a:solidFill>
                      <a:srgbClr val="EEF3FA"/>
                    </a:solidFill>
                  </a:tcPr>
                </a:tc>
              </a:tr>
              <a:tr h="393192">
                <a:tc>
                  <a:txBody>
                    <a:bodyPr wrap="square"/>
                    <a:lstStyle/>
                    <a:p>
                      <a:pPr algn="l"/>
                      <a:r>
                        <a:rPr sz="850" b="0" i="0">
                          <a:solidFill>
                            <a:srgbClr val="262626"/>
                          </a:solidFill>
                          <a:latin typeface="맑은 고딕"/>
                          <a:ea typeface="맑은 고딕"/>
                        </a:rPr>
                        <a:t>환경 (합친 정책)</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회전 기준점</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실패 판정 대신 가까이 있으면 점수를 줍니다. 최대 10점입니다.</a:t>
                      </a:r>
                    </a:p>
                  </a:txBody>
                  <a:tcPr marL="45720" marR="45720" marT="13716" marB="13716" anchor="ctr">
                    <a:solidFill>
                      <a:srgbClr val="FFFFFF"/>
                    </a:solidFill>
                  </a:tcPr>
                </a:tc>
              </a:tr>
              <a:tr h="393192">
                <a:tc>
                  <a:txBody>
                    <a:bodyPr wrap="square"/>
                    <a:lstStyle/>
                    <a:p>
                      <a:pPr algn="l"/>
                      <a:r>
                        <a:rPr sz="850" b="0" i="0">
                          <a:solidFill>
                            <a:srgbClr val="262626"/>
                          </a:solidFill>
                          <a:latin typeface="맑은 고딕"/>
                          <a:ea typeface="맑은 고딕"/>
                        </a:rPr>
                        <a:t>환경 (합친 정책)</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전환 커리큘럼</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한 에피소드에 1번에서 4번, 최소 100스텝 간격, 위상 정렬, 시작 위상 무작위, 1000스텝 절단</a:t>
                      </a:r>
                    </a:p>
                  </a:txBody>
                  <a:tcPr marL="45720" marR="45720" marT="13716" marB="13716" anchor="ctr">
                    <a:solidFill>
                      <a:srgbClr val="EEF3FA"/>
                    </a:solidFill>
                  </a:tcPr>
                </a:tc>
              </a:tr>
              <a:tr h="393192">
                <a:tc>
                  <a:txBody>
                    <a:bodyPr wrap="square"/>
                    <a:lstStyle/>
                    <a:p>
                      <a:pPr algn="l"/>
                      <a:r>
                        <a:rPr sz="850" b="0" i="0">
                          <a:solidFill>
                            <a:srgbClr val="262626"/>
                          </a:solidFill>
                          <a:latin typeface="맑은 고딕"/>
                          <a:ea typeface="맑은 고딕"/>
                        </a:rPr>
                        <a:t>환경 (전문가 이어 학습)</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인계 시작</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인계 시작 50퍼센트, 위상 정렬 80퍼센트, 인계 에피소드 1000스텝, 두 번째 파일럿부터 낙상 벌점 200</a:t>
                      </a:r>
                    </a:p>
                  </a:txBody>
                  <a:tcPr marL="45720" marR="45720" marT="13716" marB="13716" anchor="ctr">
                    <a:solidFill>
                      <a:srgbClr val="FFFFFF"/>
                    </a:solidFill>
                  </a:tcPr>
                </a:tc>
              </a:tr>
              <a:tr h="393192">
                <a:tc>
                  <a:txBody>
                    <a:bodyPr wrap="square"/>
                    <a:lstStyle/>
                    <a:p>
                      <a:pPr algn="l"/>
                      <a:r>
                        <a:rPr sz="850" b="0" i="0">
                          <a:solidFill>
                            <a:srgbClr val="262626"/>
                          </a:solidFill>
                          <a:latin typeface="맑은 고딕"/>
                          <a:ea typeface="맑은 고딕"/>
                        </a:rPr>
                        <a:t>환경 (전문가 이어 학습)</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세 번째와 네 번째 파일럿</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세 번째는 기울기 벌점 20과 기운 채로 세게 밀기 벌점 20을 인계 에피소드에만 더했습니다. 네 번째는 그 항을 빼고 시작 위상 규칙을 가로 먼저로 바꿨습니다.</a:t>
                      </a:r>
                    </a:p>
                  </a:txBody>
                  <a:tcPr marL="45720" marR="45720" marT="13716" marB="13716" anchor="ctr">
                    <a:solidFill>
                      <a:srgbClr val="EEF3FA"/>
                    </a:solidFill>
                  </a:tcPr>
                </a:tc>
              </a:tr>
              <a:tr h="393192">
                <a:tc>
                  <a:txBody>
                    <a:bodyPr wrap="square"/>
                    <a:lstStyle/>
                    <a:p>
                      <a:pPr algn="l"/>
                      <a:r>
                        <a:rPr sz="850" b="0" i="0">
                          <a:solidFill>
                            <a:srgbClr val="262626"/>
                          </a:solidFill>
                          <a:latin typeface="맑은 고딕"/>
                          <a:ea typeface="맑은 고딕"/>
                        </a:rPr>
                        <a:t>PPO</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합친 정책 세 단계</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학습률 1e-4, 1e-4, 2e-4. 에포크 2, 3, 3. KL 한도 0.04. 할인율 0.99. 각 4천만 스텝</a:t>
                      </a:r>
                    </a:p>
                  </a:txBody>
                  <a:tcPr marL="45720" marR="45720" marT="13716" marB="13716" anchor="ctr">
                    <a:solidFill>
                      <a:srgbClr val="FFFFFF"/>
                    </a:solidFill>
                  </a:tcPr>
                </a:tc>
              </a:tr>
              <a:tr h="393192">
                <a:tc>
                  <a:txBody>
                    <a:bodyPr wrap="square"/>
                    <a:lstStyle/>
                    <a:p>
                      <a:pPr algn="l"/>
                      <a:r>
                        <a:rPr sz="850" b="0" i="0">
                          <a:solidFill>
                            <a:srgbClr val="262626"/>
                          </a:solidFill>
                          <a:latin typeface="맑은 고딕"/>
                          <a:ea typeface="맑은 고딕"/>
                        </a:rPr>
                        <a:t>PPO</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전문가 파일럿</a:t>
                      </a:r>
                    </a:p>
                  </a:txBody>
                  <a:tcPr marL="45720" marR="45720" marT="13716" marB="13716" anchor="ctr">
                    <a:solidFill>
                      <a:srgbClr val="EEF3FA"/>
                    </a:solidFill>
                  </a:tcPr>
                </a:tc>
                <a:tc>
                  <a:txBody>
                    <a:bodyPr wrap="square"/>
                    <a:lstStyle/>
                    <a:p>
                      <a:pPr algn="ctr"/>
                      <a:r>
                        <a:rPr sz="850" b="0" i="0">
                          <a:solidFill>
                            <a:srgbClr val="262626"/>
                          </a:solidFill>
                          <a:latin typeface="맑은 고딕"/>
                          <a:ea typeface="맑은 고딕"/>
                        </a:rPr>
                        <a:t>학습률 1e-4 다음 5e-5. 에포크 2. 할인율 0.95. 각 2천8백만 스텝</a:t>
                      </a:r>
                    </a:p>
                  </a:txBody>
                  <a:tcPr marL="45720" marR="45720" marT="13716" marB="13716" anchor="ctr">
                    <a:solidFill>
                      <a:srgbClr val="EEF3FA"/>
                    </a:solidFill>
                  </a:tcPr>
                </a:tc>
              </a:tr>
              <a:tr h="393192">
                <a:tc>
                  <a:txBody>
                    <a:bodyPr wrap="square"/>
                    <a:lstStyle/>
                    <a:p>
                      <a:pPr algn="l"/>
                      <a:r>
                        <a:rPr sz="850" b="0" i="0">
                          <a:solidFill>
                            <a:srgbClr val="262626"/>
                          </a:solidFill>
                          <a:latin typeface="맑은 고딕"/>
                          <a:ea typeface="맑은 고딕"/>
                        </a:rPr>
                        <a:t>속도</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학습 속도</a:t>
                      </a:r>
                    </a:p>
                  </a:txBody>
                  <a:tcPr marL="45720" marR="45720" marT="13716" marB="13716" anchor="ctr">
                    <a:solidFill>
                      <a:srgbClr val="FFFFFF"/>
                    </a:solidFill>
                  </a:tcPr>
                </a:tc>
                <a:tc>
                  <a:txBody>
                    <a:bodyPr wrap="square"/>
                    <a:lstStyle/>
                    <a:p>
                      <a:pPr algn="ctr"/>
                      <a:r>
                        <a:rPr sz="850" b="0" i="0">
                          <a:solidFill>
                            <a:srgbClr val="262626"/>
                          </a:solidFill>
                          <a:latin typeface="맑은 고딕"/>
                          <a:ea typeface="맑은 고딕"/>
                        </a:rPr>
                        <a:t>혼자 돌리면 초당 약 2천2백 스텝, 셋을 같이 돌리면 각각 약 1천2백 스텝입니다.</a:t>
                      </a:r>
                    </a:p>
                  </a:txBody>
                  <a:tcPr marL="45720" marR="45720" marT="13716" marB="13716"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127</TotalTime>
  <Words>778</Words>
  <Application>Microsoft Office PowerPoint</Application>
  <PresentationFormat>화면 슬라이드 쇼(4:3)</PresentationFormat>
  <Paragraphs>102</Paragraphs>
  <Slides>5</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5</vt:i4>
      </vt:variant>
    </vt:vector>
  </HeadingPairs>
  <TitlesOfParts>
    <vt:vector size="11" baseType="lpstr">
      <vt:lpstr>나눔고딕 ExtraBold</vt:lpstr>
      <vt:lpstr>나눔바른고딕</vt:lpstr>
      <vt:lpstr>맑은 고딕</vt:lpstr>
      <vt:lpstr>Aptos</vt:lpstr>
      <vt:lpstr>Arial</vt:lpstr>
      <vt:lpstr>Office 테마</vt:lpstr>
      <vt:lpstr>PowerPoint 프레젠테이션</vt:lpstr>
      <vt:lpstr>마스터 디바이스 설계 (20260901) ― 참고 장치: ROBOTIS FFW-LG2 리더</vt:lpstr>
      <vt:lpstr>마스터 디바이스 설계 (20260901) ― 설계 방향(안): 하이브리드 리더 구조</vt:lpstr>
      <vt:lpstr>마스터 디바이스 설계 (20260901) ― 힘 피드백 모터 배치</vt:lpstr>
      <vt:lpstr>마스터 디바이스 설계 (20260901) ― 백팩형 프레임 구조·재료(안)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봉섭 송</dc:creator>
  <cp:lastModifiedBy>송봉섭</cp:lastModifiedBy>
  <cp:revision>1</cp:revision>
  <dcterms:created xsi:type="dcterms:W3CDTF">2025-07-25T03:05:58Z</dcterms:created>
  <dcterms:modified xsi:type="dcterms:W3CDTF">2026-09-01T05:59:19Z</dcterms:modified>
</cp:coreProperties>
</file>